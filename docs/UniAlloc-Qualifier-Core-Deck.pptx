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619283d2c64bba" /><Relationship Type="http://schemas.openxmlformats.org/officeDocument/2006/relationships/extended-properties" Target="/docProps/app.xml" Id="R6c4f57debed5463d" /><Relationship Type="http://schemas.openxmlformats.org/officeDocument/2006/relationships/officeDocument" Target="/ppt/presentation.xml" Id="R3de55be5d4974b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b7e46cf7ae481d"/>
  </p:sldMasterIdLst>
  <p:notesMasterIdLst>
    <p:notesMasterId xmlns:r="http://schemas.openxmlformats.org/officeDocument/2006/relationships" r:id="R096148ea23d34451"/>
  </p:notesMasterIdLst>
  <p:sldIdLst>
    <p:sldId xmlns:r="http://schemas.openxmlformats.org/officeDocument/2006/relationships" id="256" r:id="R63c196c3bca74251"/>
    <p:sldId xmlns:r="http://schemas.openxmlformats.org/officeDocument/2006/relationships" id="257" r:id="Rcd63a9d0b2904d91"/>
    <p:sldId xmlns:r="http://schemas.openxmlformats.org/officeDocument/2006/relationships" id="258" r:id="R2e3668cad2ec42dd"/>
    <p:sldId xmlns:r="http://schemas.openxmlformats.org/officeDocument/2006/relationships" id="259" r:id="R829632f077de4b5a"/>
    <p:sldId xmlns:r="http://schemas.openxmlformats.org/officeDocument/2006/relationships" id="260" r:id="R2038f12ab8bf4699"/>
    <p:sldId xmlns:r="http://schemas.openxmlformats.org/officeDocument/2006/relationships" id="261" r:id="R43cd6afaa2224493"/>
    <p:sldId xmlns:r="http://schemas.openxmlformats.org/officeDocument/2006/relationships" id="262" r:id="Rc190971dacdd4792"/>
    <p:sldId xmlns:r="http://schemas.openxmlformats.org/officeDocument/2006/relationships" id="263" r:id="R585a53b8740e4eb0"/>
    <p:sldId xmlns:r="http://schemas.openxmlformats.org/officeDocument/2006/relationships" id="264" r:id="R16e36625c5ba4da4"/>
    <p:sldId xmlns:r="http://schemas.openxmlformats.org/officeDocument/2006/relationships" id="265" r:id="Rbca4546809ad478c"/>
    <p:sldId xmlns:r="http://schemas.openxmlformats.org/officeDocument/2006/relationships" id="266" r:id="R4ee0e0f3580648b2"/>
    <p:sldId xmlns:r="http://schemas.openxmlformats.org/officeDocument/2006/relationships" id="267" r:id="Rdca38b6b2eb44ee0"/>
    <p:sldId xmlns:r="http://schemas.openxmlformats.org/officeDocument/2006/relationships" id="268" r:id="Rd9b86b031e8e4c64"/>
    <p:sldId xmlns:r="http://schemas.openxmlformats.org/officeDocument/2006/relationships" id="269" r:id="Re566fc5824e94385"/>
    <p:sldId xmlns:r="http://schemas.openxmlformats.org/officeDocument/2006/relationships" id="270" r:id="R8bc858a0423f4e37"/>
    <p:sldId xmlns:r="http://schemas.openxmlformats.org/officeDocument/2006/relationships" id="271" r:id="Re5258a5e150f44d5"/>
    <p:sldId xmlns:r="http://schemas.openxmlformats.org/officeDocument/2006/relationships" id="272" r:id="R5ba148865ef145ab"/>
    <p:sldId xmlns:r="http://schemas.openxmlformats.org/officeDocument/2006/relationships" id="273" r:id="Rd1c42f6e0d494f03"/>
    <p:sldId xmlns:r="http://schemas.openxmlformats.org/officeDocument/2006/relationships" id="274" r:id="Rc49f8f47dd984497"/>
    <p:sldId xmlns:r="http://schemas.openxmlformats.org/officeDocument/2006/relationships" id="275" r:id="R045a93e68c964035"/>
    <p:sldId xmlns:r="http://schemas.openxmlformats.org/officeDocument/2006/relationships" id="276" r:id="R4224af46de5b41ee"/>
    <p:sldId xmlns:r="http://schemas.openxmlformats.org/officeDocument/2006/relationships" id="277" r:id="R1a28070ae0814b6d"/>
    <p:sldId xmlns:r="http://schemas.openxmlformats.org/officeDocument/2006/relationships" id="278" r:id="R41339f6decc74beb"/>
    <p:sldId xmlns:r="http://schemas.openxmlformats.org/officeDocument/2006/relationships" id="279" r:id="R1246ff7312a7454d"/>
    <p:sldId xmlns:r="http://schemas.openxmlformats.org/officeDocument/2006/relationships" id="280" r:id="Rbf669c292ece49d0"/>
    <p:sldId xmlns:r="http://schemas.openxmlformats.org/officeDocument/2006/relationships" id="281" r:id="R870798f383844fd4"/>
    <p:sldId xmlns:r="http://schemas.openxmlformats.org/officeDocument/2006/relationships" id="282" r:id="Reb5696d6811a41a6"/>
    <p:sldId xmlns:r="http://schemas.openxmlformats.org/officeDocument/2006/relationships" id="283" r:id="R8ec0e12b580049fc"/>
    <p:sldId xmlns:r="http://schemas.openxmlformats.org/officeDocument/2006/relationships" id="284" r:id="Rc20cdb1d59774f37"/>
    <p:sldId xmlns:r="http://schemas.openxmlformats.org/officeDocument/2006/relationships" id="285" r:id="R75491b77a75545ce"/>
    <p:sldId xmlns:r="http://schemas.openxmlformats.org/officeDocument/2006/relationships" id="286" r:id="R474f781b0f62416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46f72bb6d644a0" /><Relationship Type="http://schemas.openxmlformats.org/officeDocument/2006/relationships/slideMaster" Target="/ppt/slideMasters/slideMaster1.xml" Id="Rfeb7e46cf7ae481d" /><Relationship Type="http://schemas.openxmlformats.org/officeDocument/2006/relationships/notesMaster" Target="/ppt/notesMasters/notesMaster1.xml" Id="R096148ea23d34451" /><Relationship Type="http://schemas.openxmlformats.org/officeDocument/2006/relationships/presProps" Target="/ppt/presProps.xml" Id="R3ea0603570884c09" /><Relationship Type="http://schemas.openxmlformats.org/officeDocument/2006/relationships/tableStyles" Target="/ppt/tableStyles.xml" Id="R04f1d075e00c443a" /><Relationship Type="http://schemas.openxmlformats.org/officeDocument/2006/relationships/slide" Target="/ppt/slides/slide1.xml" Id="R63c196c3bca74251" /><Relationship Type="http://schemas.openxmlformats.org/officeDocument/2006/relationships/slide" Target="/ppt/slides/slide2.xml" Id="Rcd63a9d0b2904d91" /><Relationship Type="http://schemas.openxmlformats.org/officeDocument/2006/relationships/slide" Target="/ppt/slides/slide3.xml" Id="R2e3668cad2ec42dd" /><Relationship Type="http://schemas.openxmlformats.org/officeDocument/2006/relationships/slide" Target="/ppt/slides/slide4.xml" Id="R829632f077de4b5a" /><Relationship Type="http://schemas.openxmlformats.org/officeDocument/2006/relationships/slide" Target="/ppt/slides/slide5.xml" Id="R2038f12ab8bf4699" /><Relationship Type="http://schemas.openxmlformats.org/officeDocument/2006/relationships/slide" Target="/ppt/slides/slide6.xml" Id="R43cd6afaa2224493" /><Relationship Type="http://schemas.openxmlformats.org/officeDocument/2006/relationships/slide" Target="/ppt/slides/slide7.xml" Id="Rc190971dacdd4792" /><Relationship Type="http://schemas.openxmlformats.org/officeDocument/2006/relationships/slide" Target="/ppt/slides/slide8.xml" Id="R585a53b8740e4eb0" /><Relationship Type="http://schemas.openxmlformats.org/officeDocument/2006/relationships/slide" Target="/ppt/slides/slide9.xml" Id="R16e36625c5ba4da4" /><Relationship Type="http://schemas.openxmlformats.org/officeDocument/2006/relationships/slide" Target="/ppt/slides/slide10.xml" Id="Rbca4546809ad478c" /><Relationship Type="http://schemas.openxmlformats.org/officeDocument/2006/relationships/slide" Target="/ppt/slides/slide11.xml" Id="R4ee0e0f3580648b2" /><Relationship Type="http://schemas.openxmlformats.org/officeDocument/2006/relationships/slide" Target="/ppt/slides/slide12.xml" Id="Rdca38b6b2eb44ee0" /><Relationship Type="http://schemas.openxmlformats.org/officeDocument/2006/relationships/slide" Target="/ppt/slides/slide13.xml" Id="Rd9b86b031e8e4c64" /><Relationship Type="http://schemas.openxmlformats.org/officeDocument/2006/relationships/slide" Target="/ppt/slides/slide14.xml" Id="Re566fc5824e94385" /><Relationship Type="http://schemas.openxmlformats.org/officeDocument/2006/relationships/slide" Target="/ppt/slides/slide15.xml" Id="R8bc858a0423f4e37" /><Relationship Type="http://schemas.openxmlformats.org/officeDocument/2006/relationships/slide" Target="/ppt/slides/slide16.xml" Id="Re5258a5e150f44d5" /><Relationship Type="http://schemas.openxmlformats.org/officeDocument/2006/relationships/slide" Target="/ppt/slides/slide17.xml" Id="R5ba148865ef145ab" /><Relationship Type="http://schemas.openxmlformats.org/officeDocument/2006/relationships/slide" Target="/ppt/slides/slide18.xml" Id="Rd1c42f6e0d494f03" /><Relationship Type="http://schemas.openxmlformats.org/officeDocument/2006/relationships/slide" Target="/ppt/slides/slide19.xml" Id="Rc49f8f47dd984497" /><Relationship Type="http://schemas.openxmlformats.org/officeDocument/2006/relationships/slide" Target="/ppt/slides/slide20.xml" Id="R045a93e68c964035" /><Relationship Type="http://schemas.openxmlformats.org/officeDocument/2006/relationships/slide" Target="/ppt/slides/slide21.xml" Id="R4224af46de5b41ee" /><Relationship Type="http://schemas.openxmlformats.org/officeDocument/2006/relationships/slide" Target="/ppt/slides/slide22.xml" Id="R1a28070ae0814b6d" /><Relationship Type="http://schemas.openxmlformats.org/officeDocument/2006/relationships/slide" Target="/ppt/slides/slide23.xml" Id="R41339f6decc74beb" /><Relationship Type="http://schemas.openxmlformats.org/officeDocument/2006/relationships/slide" Target="/ppt/slides/slide24.xml" Id="R1246ff7312a7454d" /><Relationship Type="http://schemas.openxmlformats.org/officeDocument/2006/relationships/slide" Target="/ppt/slides/slide25.xml" Id="Rbf669c292ece49d0" /><Relationship Type="http://schemas.openxmlformats.org/officeDocument/2006/relationships/slide" Target="/ppt/slides/slide26.xml" Id="R870798f383844fd4" /><Relationship Type="http://schemas.openxmlformats.org/officeDocument/2006/relationships/slide" Target="/ppt/slides/slide27.xml" Id="Reb5696d6811a41a6" /><Relationship Type="http://schemas.openxmlformats.org/officeDocument/2006/relationships/slide" Target="/ppt/slides/slide28.xml" Id="R8ec0e12b580049fc" /><Relationship Type="http://schemas.openxmlformats.org/officeDocument/2006/relationships/slide" Target="/ppt/slides/slide29.xml" Id="Rc20cdb1d59774f37" /><Relationship Type="http://schemas.openxmlformats.org/officeDocument/2006/relationships/slide" Target="/ppt/slides/slide30.xml" Id="R75491b77a75545ce" /><Relationship Type="http://schemas.openxmlformats.org/officeDocument/2006/relationships/slide" Target="/ppt/slides/slide31.xml" Id="R474f781b0f6241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44520912c742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e7fe3035f74ab5" /><Relationship Type="http://schemas.openxmlformats.org/officeDocument/2006/relationships/notesMaster" Target="/ppt/notesMasters/notesMaster1.xml" Id="R93aca9937a63434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c21a3819bd409e" /><Relationship Type="http://schemas.openxmlformats.org/officeDocument/2006/relationships/notesMaster" Target="/ppt/notesMasters/notesMaster1.xml" Id="R89541d2c3caf40e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65e69c3d9e4fa1" /><Relationship Type="http://schemas.openxmlformats.org/officeDocument/2006/relationships/notesMaster" Target="/ppt/notesMasters/notesMaster1.xml" Id="Rf30bfbfc3a48484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043bdd5e5b464b" /><Relationship Type="http://schemas.openxmlformats.org/officeDocument/2006/relationships/notesMaster" Target="/ppt/notesMasters/notesMaster1.xml" Id="R813afca1e7ac48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c075993e544cf7" /><Relationship Type="http://schemas.openxmlformats.org/officeDocument/2006/relationships/notesMaster" Target="/ppt/notesMasters/notesMaster1.xml" Id="R3ecbd77e15fc4ea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42427a8957041c4" /><Relationship Type="http://schemas.openxmlformats.org/officeDocument/2006/relationships/notesMaster" Target="/ppt/notesMasters/notesMaster1.xml" Id="R62d7abf36cca48c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58d08d39f55450c" /><Relationship Type="http://schemas.openxmlformats.org/officeDocument/2006/relationships/notesMaster" Target="/ppt/notesMasters/notesMaster1.xml" Id="R65b766e88e204c3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412425b09cb41fd" /><Relationship Type="http://schemas.openxmlformats.org/officeDocument/2006/relationships/notesMaster" Target="/ppt/notesMasters/notesMaster1.xml" Id="R17357f6c547548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1d810666d2a46c1" /><Relationship Type="http://schemas.openxmlformats.org/officeDocument/2006/relationships/notesMaster" Target="/ppt/notesMasters/notesMaster1.xml" Id="Rd936d16d08b7460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296e1af359c4da2" /><Relationship Type="http://schemas.openxmlformats.org/officeDocument/2006/relationships/notesMaster" Target="/ppt/notesMasters/notesMaster1.xml" Id="R16a255df4fe04c0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b58c5b7907e42ac" /><Relationship Type="http://schemas.openxmlformats.org/officeDocument/2006/relationships/notesMaster" Target="/ppt/notesMasters/notesMaster1.xml" Id="Ra58c1eff9dfe4e5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558ba06bb174661" /><Relationship Type="http://schemas.openxmlformats.org/officeDocument/2006/relationships/notesMaster" Target="/ppt/notesMasters/notesMaster1.xml" Id="R08cc3a6d12e34fb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cbbb961983a4fbf" /><Relationship Type="http://schemas.openxmlformats.org/officeDocument/2006/relationships/notesMaster" Target="/ppt/notesMasters/notesMaster1.xml" Id="Re57f412a9937490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a2deeda9c3b4eae" /><Relationship Type="http://schemas.openxmlformats.org/officeDocument/2006/relationships/notesMaster" Target="/ppt/notesMasters/notesMaster1.xml" Id="R405e045e5256439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42de62bf2574f29" /><Relationship Type="http://schemas.openxmlformats.org/officeDocument/2006/relationships/notesMaster" Target="/ppt/notesMasters/notesMaster1.xml" Id="Rf8172a6e62974ff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ccc4b2c556a4b47" /><Relationship Type="http://schemas.openxmlformats.org/officeDocument/2006/relationships/notesMaster" Target="/ppt/notesMasters/notesMaster1.xml" Id="R7e1acc44855f494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db7724438ad4ebd" /><Relationship Type="http://schemas.openxmlformats.org/officeDocument/2006/relationships/notesMaster" Target="/ppt/notesMasters/notesMaster1.xml" Id="Rce55d40b76a7454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8de089d05cb4967" /><Relationship Type="http://schemas.openxmlformats.org/officeDocument/2006/relationships/notesMaster" Target="/ppt/notesMasters/notesMaster1.xml" Id="R9646f37fc363489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25b7eb4c34a438d" /><Relationship Type="http://schemas.openxmlformats.org/officeDocument/2006/relationships/notesMaster" Target="/ppt/notesMasters/notesMaster1.xml" Id="R13cb29d6a68c47a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463c09385ad4256" /><Relationship Type="http://schemas.openxmlformats.org/officeDocument/2006/relationships/notesMaster" Target="/ppt/notesMasters/notesMaster1.xml" Id="Rc27ac80280ae4b7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6aec266897647b0" /><Relationship Type="http://schemas.openxmlformats.org/officeDocument/2006/relationships/notesMaster" Target="/ppt/notesMasters/notesMaster1.xml" Id="R6600cf1fa8f94df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899670f12984a54" /><Relationship Type="http://schemas.openxmlformats.org/officeDocument/2006/relationships/notesMaster" Target="/ppt/notesMasters/notesMaster1.xml" Id="R6af1dc1207ba434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607dfa8428f4b5c" /><Relationship Type="http://schemas.openxmlformats.org/officeDocument/2006/relationships/notesMaster" Target="/ppt/notesMasters/notesMaster1.xml" Id="Rd307e9c9314c4b5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fa585ee508044ba" /><Relationship Type="http://schemas.openxmlformats.org/officeDocument/2006/relationships/notesMaster" Target="/ppt/notesMasters/notesMaster1.xml" Id="R92045378913e46a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5f98855c4b941fe" /><Relationship Type="http://schemas.openxmlformats.org/officeDocument/2006/relationships/notesMaster" Target="/ppt/notesMasters/notesMaster1.xml" Id="R4299db808a454ce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c1a4a7b411349dc" /><Relationship Type="http://schemas.openxmlformats.org/officeDocument/2006/relationships/notesMaster" Target="/ppt/notesMasters/notesMaster1.xml" Id="R5ee2fe86e3514e6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c2be9083bd54400" /><Relationship Type="http://schemas.openxmlformats.org/officeDocument/2006/relationships/notesMaster" Target="/ppt/notesMasters/notesMaster1.xml" Id="Ref95065219b5454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c5561863da14f5c" /><Relationship Type="http://schemas.openxmlformats.org/officeDocument/2006/relationships/notesMaster" Target="/ppt/notesMasters/notesMaster1.xml" Id="R5f2ffdebffa040d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dafb1de17924240" /><Relationship Type="http://schemas.openxmlformats.org/officeDocument/2006/relationships/notesMaster" Target="/ppt/notesMasters/notesMaster1.xml" Id="R7b5dbeaf080f448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8e0376d46194eec" /><Relationship Type="http://schemas.openxmlformats.org/officeDocument/2006/relationships/notesMaster" Target="/ppt/notesMasters/notesMaster1.xml" Id="R56c41aea6b1046d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93b79ab39734c26" /><Relationship Type="http://schemas.openxmlformats.org/officeDocument/2006/relationships/notesMaster" Target="/ppt/notesMasters/notesMaster1.xml" Id="R6bf65c4cc6dd45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Allocators observe layout and runtime state, but the conventional Rust allocation API does not expose language-level information such as type or module context.</a:t>
            </a:r>
          </a:p>
          <a:p xmlns:a="http://schemas.openxmlformats.org/drawingml/2006/main">
            <a:r>
              <a:t>Thesis: UniAlloc carries trusted compiler-derived semantics through an optional channel, uses them for a representative policy, and separates that policy from platform-specific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the three contributions; do not present individual optional features as separate theses.</a:t>
            </a:r>
          </a:p>
          <a:p xmlns:a="http://schemas.openxmlformats.org/drawingml/2006/main">
            <a:r>
              <a:t>Transition: The bottleneck is not another free-list optimization; it is the information boundary.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Running example: use-after-free remains possible, but cross-class reuse can convert it into type confusion.</a:t>
            </a:r>
          </a:p>
          <a:p xmlns:a="http://schemas.openxmlformats.org/drawingml/2006/main">
            <a:r>
              <a:t>Be explicit: UniAlloc does not claim to prevent all UAF or prove Rust memory safety.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Name examples verbally: snmalloc/mimalloc/Temeraire; Slitter; hardened_malloc/Scudo.</a:t>
            </a:r>
          </a:p>
          <a:p xmlns:a="http://schemas.openxmlformats.org/drawingml/2006/main">
            <a:r>
              <a:t>Novelty claim: compiler-derived semantic input plus retargetable policy/mechanism separation—not merely another hardened allocator.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the TCB before presenting the mechanism.</a:t>
            </a:r>
          </a:p>
          <a:p xmlns:a="http://schemas.openxmlformats.org/drawingml/2006/main">
            <a:r>
              <a:t>Do not say collision-free, unforgeable, prevents UAF, or proves Rust memory safety.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exact DefId/structural matching and fail-closed behavior for ambiguous custom aggregates.</a:t>
            </a:r>
          </a:p>
          <a:p xmlns:a="http://schemas.openxmlformats.org/drawingml/2006/main">
            <a:r>
              <a:t>Current and pinned toolchain probes exist for supported paths; arbitrary custom ADT returns remain audit-only without allocation provenance.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actual-rustc conversions as examples: Box slice -&gt; Vec, String -&gt; Vec, Vec -&gt; boxed slice/IntoIter, cross-thread transfer.</a:t>
            </a:r>
          </a:p>
          <a:p xmlns:a="http://schemas.openxmlformats.org/drawingml/2006/main">
            <a:r>
              <a:t>Ownership transfer must preserve pointer/payload and change only the live semantic owner when structurally valid.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bundle: oxipng-current-typeiso-41205d3-20260712a.</a:t>
            </a:r>
          </a:p>
          <a:p xmlns:a="http://schemas.openxmlformats.org/drawingml/2006/main">
            <a:r>
              <a:t>The mismatch status is recovery_corrected_non_exact; preserve it rather than claiming whole-run exact pairing.</a:t>
            </a:r>
          </a:p>
          <a:p xmlns:a="http://schemas.openxmlformats.org/drawingml/2006/main">
            <a:r>
              <a:t>C002 430/430 and 99.851437% is separate freeze-bound compiler functional evidence, not a current-source or performance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claim the 64-bit key is collision-free, unforgeable, or stable across compilers.</a:t>
            </a:r>
          </a:p>
          <a:p xmlns:a="http://schemas.openxmlformats.org/drawingml/2006/main">
            <a:r>
              <a:t>Inline and linked-cache collision plus probe-exhaustion regressions test fail-closed behavior for covered internal collisions.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Accounting repair 1228f71: one single-thread micro diagnostic, 24 identities, 2.4M typed operations, 72.338 -&gt; 54.808 ns/op.</a:t>
            </a:r>
          </a:p>
          <a:p xmlns:a="http://schemas.openxmlformats.org/drawingml/2006/main">
            <a:r>
              <a:t>No median/range; do not report a stable percentage or paper-level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Windows evidence is a bounded Wine 10 runtime path, not native universality.</a:t>
            </a:r>
          </a:p>
          <a:p xmlns:a="http://schemas.openxmlformats.org/drawingml/2006/main">
            <a:r>
              <a:t>Redox current source: build/codegen/ABI only. Historical runtime evidence lacks a captured source revision.</a:t>
            </a:r>
          </a:p>
          <a:p xmlns:a="http://schemas.openxmlformats.org/drawingml/2006/main">
            <a:r>
              <a:t>Rust-for-Linux and BlogOS local final-link contracts do not prove target runtime.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Historical freeze digest: 235549b228dec87334abc90c91c0b4cc8bbf6dfb1c2d5ebaed00d8a97746b451.</a:t>
            </a:r>
          </a:p>
          <a:p xmlns:a="http://schemas.openxmlformats.org/drawingml/2006/main">
            <a:r>
              <a:t>C002 is current-freeze functional/compiler PASS; C006 PAC functional PASS but cost deferred; C007 remains platform-functionality backlog.</a:t>
            </a:r>
          </a:p>
          <a:p xmlns:a="http://schemas.openxmlformats.org/drawingml/2006/main">
            <a:r>
              <a:t>C001/C003/C004/C005 and C006 performance percentage are deferred_by_explicit_user_scope_change.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Closing: heap semantics do not have to disappear at the allocator boundary.</a:t>
            </a:r>
          </a:p>
          <a:p xmlns:a="http://schemas.openxmlformats.org/drawingml/2006/main">
            <a:r>
              <a:t>The next scientific question is the smallest stable identity contract that remains useful under partial coverage, FFI, and adversarial conditions.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947eca77d941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032a062d1444f2" /><Relationship Type="http://schemas.openxmlformats.org/officeDocument/2006/relationships/slideLayout" Target="/ppt/slideLayouts/slideLayout1.xml" Id="R44b9179eacfe41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b9179eacfe41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7ec46c6ca140ab" /><Relationship Type="http://schemas.openxmlformats.org/officeDocument/2006/relationships/notesSlide" Target="/ppt/notesSlides/notesSlide1.xml" Id="R979348ad478641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fca9b648174a8d" /><Relationship Type="http://schemas.openxmlformats.org/officeDocument/2006/relationships/notesSlide" Target="/ppt/notesSlides/notesSlide2.xml" Id="Ree55d18f2eb744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b0b46269084cc2" /><Relationship Type="http://schemas.openxmlformats.org/officeDocument/2006/relationships/notesSlide" Target="/ppt/notesSlides/notesSlide3.xml" Id="Re46a3ca4b3164d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c81b18be4f4b70" /><Relationship Type="http://schemas.openxmlformats.org/officeDocument/2006/relationships/notesSlide" Target="/ppt/notesSlides/notesSlide4.xml" Id="R2f2ea1f031af43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d83182b0e74396" /><Relationship Type="http://schemas.openxmlformats.org/officeDocument/2006/relationships/notesSlide" Target="/ppt/notesSlides/notesSlide5.xml" Id="R8c73416ef872442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417989c17049ad" /><Relationship Type="http://schemas.openxmlformats.org/officeDocument/2006/relationships/notesSlide" Target="/ppt/notesSlides/notesSlide6.xml" Id="R0a9afe46db394e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942f9bf39d4419" /><Relationship Type="http://schemas.openxmlformats.org/officeDocument/2006/relationships/notesSlide" Target="/ppt/notesSlides/notesSlide7.xml" Id="Racca3ab41aa5411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78ecd321a648c3" /><Relationship Type="http://schemas.openxmlformats.org/officeDocument/2006/relationships/notesSlide" Target="/ppt/notesSlides/notesSlide8.xml" Id="R381791658f0240f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5324e9345641c4" /><Relationship Type="http://schemas.openxmlformats.org/officeDocument/2006/relationships/notesSlide" Target="/ppt/notesSlides/notesSlide9.xml" Id="R8fa60fab41864e0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4ce266f1f741a7" /><Relationship Type="http://schemas.openxmlformats.org/officeDocument/2006/relationships/notesSlide" Target="/ppt/notesSlides/notesSlide10.xml" Id="R51e518d3c98d4b0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96d2b1af0d4c99" /><Relationship Type="http://schemas.openxmlformats.org/officeDocument/2006/relationships/notesSlide" Target="/ppt/notesSlides/notesSlide11.xml" Id="R11634ca729a04a0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6919ecc06344bc" /><Relationship Type="http://schemas.openxmlformats.org/officeDocument/2006/relationships/notesSlide" Target="/ppt/notesSlides/notesSlide12.xml" Id="R787e7f61eb6b4b1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93cce2b0e04143" /><Relationship Type="http://schemas.openxmlformats.org/officeDocument/2006/relationships/notesSlide" Target="/ppt/notesSlides/notesSlide13.xml" Id="R39eada9a4275495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23705655f0415a" /><Relationship Type="http://schemas.openxmlformats.org/officeDocument/2006/relationships/notesSlide" Target="/ppt/notesSlides/notesSlide14.xml" Id="Ra457488256b54f9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a3b448a4a846ab" /><Relationship Type="http://schemas.openxmlformats.org/officeDocument/2006/relationships/notesSlide" Target="/ppt/notesSlides/notesSlide15.xml" Id="R39055f61dd8c4ac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c4cc75478141df" /><Relationship Type="http://schemas.openxmlformats.org/officeDocument/2006/relationships/notesSlide" Target="/ppt/notesSlides/notesSlide16.xml" Id="Ra3509f2eecf14ac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c6fccd95b74b4c" /><Relationship Type="http://schemas.openxmlformats.org/officeDocument/2006/relationships/notesSlide" Target="/ppt/notesSlides/notesSlide17.xml" Id="R2501da8b98bd425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a134a35e4542fe" /><Relationship Type="http://schemas.openxmlformats.org/officeDocument/2006/relationships/notesSlide" Target="/ppt/notesSlides/notesSlide18.xml" Id="R988612806dd7441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cc57e4bba64c8b" /><Relationship Type="http://schemas.openxmlformats.org/officeDocument/2006/relationships/notesSlide" Target="/ppt/notesSlides/notesSlide19.xml" Id="R0f1a342fbe43450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8f2467f9f44f2c" /><Relationship Type="http://schemas.openxmlformats.org/officeDocument/2006/relationships/notesSlide" Target="/ppt/notesSlides/notesSlide20.xml" Id="R5e4f79aa966e4b5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86b69492ac4c00" /><Relationship Type="http://schemas.openxmlformats.org/officeDocument/2006/relationships/notesSlide" Target="/ppt/notesSlides/notesSlide21.xml" Id="R7f892640db7848b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adbed44c144cc3" /><Relationship Type="http://schemas.openxmlformats.org/officeDocument/2006/relationships/notesSlide" Target="/ppt/notesSlides/notesSlide22.xml" Id="Rb6abf052885e457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0c964aa1f64bc6" /><Relationship Type="http://schemas.openxmlformats.org/officeDocument/2006/relationships/notesSlide" Target="/ppt/notesSlides/notesSlide23.xml" Id="R180d3e9ff946432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65990bd4f34e25" /><Relationship Type="http://schemas.openxmlformats.org/officeDocument/2006/relationships/notesSlide" Target="/ppt/notesSlides/notesSlide24.xml" Id="R7792d4e09540496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ba65de0a054bec" /><Relationship Type="http://schemas.openxmlformats.org/officeDocument/2006/relationships/notesSlide" Target="/ppt/notesSlides/notesSlide25.xml" Id="Rdeef20426ae049c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011d48651d4976" /><Relationship Type="http://schemas.openxmlformats.org/officeDocument/2006/relationships/notesSlide" Target="/ppt/notesSlides/notesSlide26.xml" Id="Ref7a1b17557649b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936bb0c0e4462d" /><Relationship Type="http://schemas.openxmlformats.org/officeDocument/2006/relationships/notesSlide" Target="/ppt/notesSlides/notesSlide27.xml" Id="Rc88ec11098a646a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6baff782114d11" /><Relationship Type="http://schemas.openxmlformats.org/officeDocument/2006/relationships/notesSlide" Target="/ppt/notesSlides/notesSlide28.xml" Id="R702e256338a84f7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85958640934938" /><Relationship Type="http://schemas.openxmlformats.org/officeDocument/2006/relationships/notesSlide" Target="/ppt/notesSlides/notesSlide29.xml" Id="R48ec98a899c8493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cece26a7a94056" /><Relationship Type="http://schemas.openxmlformats.org/officeDocument/2006/relationships/notesSlide" Target="/ppt/notesSlides/notesSlide30.xml" Id="R1b8d1920275b4c24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7bfce1523b4bd4" /><Relationship Type="http://schemas.openxmlformats.org/officeDocument/2006/relationships/notesSlide" Target="/ppt/notesSlides/notesSlide31.xml" Id="R72ffc3684a8d4a3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arrow-1-700-535">
            <a:extLst xmlns:a="http://schemas.openxmlformats.org/drawingml/2006/main">
              <a:ext uri="{FF2B5EF4-FFF2-40B4-BE49-F238E27FC236}">
                <a16:creationId xmlns:a16="http://schemas.microsoft.com/office/drawing/2014/main" id="{FA067022-EE02-4B80-9385-8326DD8E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95875"/>
            <a:ext cx="9048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" name="cover-arrow-2-932-535">
            <a:extLst xmlns:a="http://schemas.openxmlformats.org/drawingml/2006/main">
              <a:ext uri="{FF2B5EF4-FFF2-40B4-BE49-F238E27FC236}">
                <a16:creationId xmlns:a16="http://schemas.microsoft.com/office/drawing/2014/main" id="{F2EC5349-E6ED-4151-952E-C76EE5EDD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095875"/>
            <a:ext cx="9048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t-42-42-UNIALLOC • P">
            <a:extLst xmlns:a="http://schemas.openxmlformats.org/drawingml/2006/main">
              <a:ext uri="{FF2B5EF4-FFF2-40B4-BE49-F238E27FC236}">
                <a16:creationId xmlns:a16="http://schemas.microsoft.com/office/drawing/2014/main" id="{360ECE7D-8CC7-46EC-813F-800ACB7A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95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UNIALLOC • PhD QUALIFIER</a:t>
            </a:r>
          </a:p>
        </p:txBody>
      </p:sp>
      <p:sp>
        <p:nvSpPr>
          <p:cNvPr id="4" name="t-42-142-Beyond Size">
            <a:extLst xmlns:a="http://schemas.openxmlformats.org/drawingml/2006/main">
              <a:ext uri="{FF2B5EF4-FFF2-40B4-BE49-F238E27FC236}">
                <a16:creationId xmlns:a16="http://schemas.microsoft.com/office/drawing/2014/main" id="{8AC48370-0ADC-4B93-B7AE-3BE35AE6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71437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Beyond Size</a:t>
            </a:r>
          </a:p>
        </p:txBody>
      </p:sp>
      <p:sp>
        <p:nvSpPr>
          <p:cNvPr id="5" name="t-42-235-Compiler-Ass">
            <a:extLst xmlns:a="http://schemas.openxmlformats.org/drawingml/2006/main">
              <a:ext uri="{FF2B5EF4-FFF2-40B4-BE49-F238E27FC236}">
                <a16:creationId xmlns:a16="http://schemas.microsoft.com/office/drawing/2014/main" id="{E7CDFECE-F2A6-44CB-AFC1-478437AF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9906000" cy="1352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Compiler-Assisted, Retargetable
Memory Allocation for Rust</a:t>
            </a:r>
          </a:p>
        </p:txBody>
      </p:sp>
      <p:sp>
        <p:nvSpPr>
          <p:cNvPr id="6" name="t-42-400-UniAlloc as">
            <a:extLst xmlns:a="http://schemas.openxmlformats.org/drawingml/2006/main">
              <a:ext uri="{FF2B5EF4-FFF2-40B4-BE49-F238E27FC236}">
                <a16:creationId xmlns:a16="http://schemas.microsoft.com/office/drawing/2014/main" id="{D9FF4B8A-9C61-4C67-BE53-211E67A7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0"/>
            <a:ext cx="9239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UniAlloc as a semantic interface between compiler knowledge, allocation policy, and platform mechanism</a:t>
            </a:r>
          </a:p>
        </p:txBody>
      </p:sp>
      <p:sp>
        <p:nvSpPr>
          <p:cNvPr id="7" name="cover-node-565-500">
            <a:extLst xmlns:a="http://schemas.openxmlformats.org/drawingml/2006/main">
              <a:ext uri="{FF2B5EF4-FFF2-40B4-BE49-F238E27FC236}">
                <a16:creationId xmlns:a16="http://schemas.microsoft.com/office/drawing/2014/main" id="{3E5220EF-9771-46D1-BBE4-89046BFC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762500"/>
            <a:ext cx="1905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E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8" name="t-585-526-TYPE T">
            <a:extLst xmlns:a="http://schemas.openxmlformats.org/drawingml/2006/main">
              <a:ext uri="{FF2B5EF4-FFF2-40B4-BE49-F238E27FC236}">
                <a16:creationId xmlns:a16="http://schemas.microsoft.com/office/drawing/2014/main" id="{691D731E-333A-45D7-90AB-2427E227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010150"/>
            <a:ext cx="1524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TYPE T</a:t>
            </a:r>
          </a:p>
        </p:txBody>
      </p:sp>
      <p:sp>
        <p:nvSpPr>
          <p:cNvPr id="9" name="cover-node-795-500">
            <a:extLst xmlns:a="http://schemas.openxmlformats.org/drawingml/2006/main">
              <a:ext uri="{FF2B5EF4-FFF2-40B4-BE49-F238E27FC236}">
                <a16:creationId xmlns:a16="http://schemas.microsoft.com/office/drawing/2014/main" id="{3FC45CDB-040A-4B84-A99B-8B3BD487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762500"/>
            <a:ext cx="1905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t-815-526-METADATA">
            <a:extLst xmlns:a="http://schemas.openxmlformats.org/drawingml/2006/main">
              <a:ext uri="{FF2B5EF4-FFF2-40B4-BE49-F238E27FC236}">
                <a16:creationId xmlns:a16="http://schemas.microsoft.com/office/drawing/2014/main" id="{0F5A7E9D-B7D1-4D71-902B-49AFC324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010150"/>
            <a:ext cx="1524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METADATA</a:t>
            </a:r>
          </a:p>
        </p:txBody>
      </p:sp>
      <p:sp>
        <p:nvSpPr>
          <p:cNvPr id="11" name="cover-node-1025-500">
            <a:extLst xmlns:a="http://schemas.openxmlformats.org/drawingml/2006/main">
              <a:ext uri="{FF2B5EF4-FFF2-40B4-BE49-F238E27FC236}">
                <a16:creationId xmlns:a16="http://schemas.microsoft.com/office/drawing/2014/main" id="{64094203-9B9F-4D9F-BB32-66E06649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762500"/>
            <a:ext cx="20288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EF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12" name="t-1040-518-ALLOCATOR PO">
            <a:extLst xmlns:a="http://schemas.openxmlformats.org/drawingml/2006/main">
              <a:ext uri="{FF2B5EF4-FFF2-40B4-BE49-F238E27FC236}">
                <a16:creationId xmlns:a16="http://schemas.microsoft.com/office/drawing/2014/main" id="{B4B10B4F-F6F6-4857-BE1E-5E06FF12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33950"/>
            <a:ext cx="1743075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ALLOCATOR POLICY</a:t>
            </a:r>
          </a:p>
        </p:txBody>
      </p:sp>
      <p:sp>
        <p:nvSpPr>
          <p:cNvPr id="13" name="t-42-620-Semantic inf">
            <a:extLst xmlns:a="http://schemas.openxmlformats.org/drawingml/2006/main">
              <a:ext uri="{FF2B5EF4-FFF2-40B4-BE49-F238E27FC236}">
                <a16:creationId xmlns:a16="http://schemas.microsoft.com/office/drawing/2014/main" id="{57359B2E-0DD4-4625-BB23-0005001E8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857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Semantic information should not have to disappear at the allocation boundary.</a:t>
            </a:r>
          </a:p>
        </p:txBody>
      </p:sp>
      <p:sp>
        <p:nvSpPr>
          <p:cNvPr id="14" name="t-1190-681-01">
            <a:extLst xmlns:a="http://schemas.openxmlformats.org/drawingml/2006/main">
              <a:ext uri="{FF2B5EF4-FFF2-40B4-BE49-F238E27FC236}">
                <a16:creationId xmlns:a16="http://schemas.microsoft.com/office/drawing/2014/main" id="{5642CBF2-176B-4045-9C05-46258B2D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448989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-42-174-Rust already">
            <a:extLst xmlns:a="http://schemas.openxmlformats.org/drawingml/2006/main">
              <a:ext uri="{FF2B5EF4-FFF2-40B4-BE49-F238E27FC236}">
                <a16:creationId xmlns:a16="http://schemas.microsoft.com/office/drawing/2014/main" id="{DEABCD8C-9414-402C-B222-36598ED5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9334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2262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Rust already knows the object type. The allocator boundary usually receives only layout.</a:t>
            </a:r>
          </a:p>
        </p:txBody>
      </p:sp>
      <p:sp>
        <p:nvSpPr>
          <p:cNvPr id="2" name="label-block-42-276">
            <a:extLst xmlns:a="http://schemas.openxmlformats.org/drawingml/2006/main">
              <a:ext uri="{FF2B5EF4-FFF2-40B4-BE49-F238E27FC236}">
                <a16:creationId xmlns:a16="http://schemas.microsoft.com/office/drawing/2014/main" id="{23DCF521-29DD-460D-977B-8FDF9700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28900"/>
            <a:ext cx="11391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F"/>
          </a:solidFill>
          <a:ln xmlns:a="http://schemas.openxmlformats.org/drawingml/2006/main" w="0">
            <a:solidFill>
              <a:srgbClr val="E8F3FF"/>
            </a:solidFill>
            <a:prstDash val="solid"/>
          </a:ln>
        </p:spPr>
      </p:sp>
      <p:sp>
        <p:nvSpPr>
          <p:cNvPr id="3" name="accent-42-276">
            <a:extLst xmlns:a="http://schemas.openxmlformats.org/drawingml/2006/main">
              <a:ext uri="{FF2B5EF4-FFF2-40B4-BE49-F238E27FC236}">
                <a16:creationId xmlns:a16="http://schemas.microsoft.com/office/drawing/2014/main" id="{116B45F3-C9F0-47D9-B73F-CC39E4A7E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2890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t-66-294-1  COMPILER">
            <a:extLst xmlns:a="http://schemas.openxmlformats.org/drawingml/2006/main">
              <a:ext uri="{FF2B5EF4-FFF2-40B4-BE49-F238E27FC236}">
                <a16:creationId xmlns:a16="http://schemas.microsoft.com/office/drawing/2014/main" id="{2B38D60D-FB22-4286-829F-78A8DBD7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0350"/>
            <a:ext cx="10991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1  COMPILER SEMANTICS</a:t>
            </a:r>
          </a:p>
        </p:txBody>
      </p:sp>
      <p:sp>
        <p:nvSpPr>
          <p:cNvPr id="5" name="t-66-331-Extract trus">
            <a:extLst xmlns:a="http://schemas.openxmlformats.org/drawingml/2006/main">
              <a:ext uri="{FF2B5EF4-FFF2-40B4-BE49-F238E27FC236}">
                <a16:creationId xmlns:a16="http://schemas.microsoft.com/office/drawing/2014/main" id="{E250EE26-2675-4B0A-9872-C6852637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52775"/>
            <a:ext cx="10991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0175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Extract trusted type, module, lifetime, and placement context from supported allocation paths.</a:t>
            </a:r>
          </a:p>
        </p:txBody>
      </p:sp>
      <p:sp>
        <p:nvSpPr>
          <p:cNvPr id="6" name="label-block-42-378">
            <a:extLst xmlns:a="http://schemas.openxmlformats.org/drawingml/2006/main">
              <a:ext uri="{FF2B5EF4-FFF2-40B4-BE49-F238E27FC236}">
                <a16:creationId xmlns:a16="http://schemas.microsoft.com/office/drawing/2014/main" id="{27FE802E-9D36-42E3-8667-0874F870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0450"/>
            <a:ext cx="11391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EF"/>
          </a:solidFill>
          <a:ln xmlns:a="http://schemas.openxmlformats.org/drawingml/2006/main" w="0">
            <a:solidFill>
              <a:srgbClr val="E9F7EF"/>
            </a:solidFill>
            <a:prstDash val="solid"/>
          </a:ln>
        </p:spPr>
      </p:sp>
      <p:sp>
        <p:nvSpPr>
          <p:cNvPr id="7" name="accent-42-378">
            <a:extLst xmlns:a="http://schemas.openxmlformats.org/drawingml/2006/main">
              <a:ext uri="{FF2B5EF4-FFF2-40B4-BE49-F238E27FC236}">
                <a16:creationId xmlns:a16="http://schemas.microsoft.com/office/drawing/2014/main" id="{23F93C42-716A-4FCB-9499-F04D6708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045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8" name="t-66-396-2  ALLOCATIO">
            <a:extLst xmlns:a="http://schemas.openxmlformats.org/drawingml/2006/main">
              <a:ext uri="{FF2B5EF4-FFF2-40B4-BE49-F238E27FC236}">
                <a16:creationId xmlns:a16="http://schemas.microsoft.com/office/drawing/2014/main" id="{A56BE218-4C4B-4B06-959D-90BB980E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71900"/>
            <a:ext cx="10991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803D"/>
                </a:solidFill>
                <a:latin typeface="Helvetica Neue"/>
                <a:ea typeface="Helvetica Neue"/>
                <a:cs typeface="Helvetica Neue"/>
              </a:defRPr>
            </a:pPr>
            <a:r>
              <a:t>2  ALLOCATION POLICY</a:t>
            </a:r>
          </a:p>
        </p:txBody>
      </p:sp>
      <p:sp>
        <p:nvSpPr>
          <p:cNvPr id="9" name="t-66-433-Use semantic">
            <a:extLst xmlns:a="http://schemas.openxmlformats.org/drawingml/2006/main">
              <a:ext uri="{FF2B5EF4-FFF2-40B4-BE49-F238E27FC236}">
                <a16:creationId xmlns:a16="http://schemas.microsoft.com/office/drawing/2014/main" id="{5173AC25-96A4-4075-A9B4-00FF3E2C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24325"/>
            <a:ext cx="10991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0175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Use semantic identity to change reuse, routing, metadata, and hardware-assisted checks.</a:t>
            </a:r>
          </a:p>
        </p:txBody>
      </p:sp>
      <p:sp>
        <p:nvSpPr>
          <p:cNvPr id="10" name="label-block-42-480">
            <a:extLst xmlns:a="http://schemas.openxmlformats.org/drawingml/2006/main">
              <a:ext uri="{FF2B5EF4-FFF2-40B4-BE49-F238E27FC236}">
                <a16:creationId xmlns:a16="http://schemas.microsoft.com/office/drawing/2014/main" id="{36C71F52-2AC4-47BA-9B44-DEE06420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0"/>
            <a:ext cx="11391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5"/>
          </a:solidFill>
          <a:ln xmlns:a="http://schemas.openxmlformats.org/drawingml/2006/main" w="0">
            <a:solidFill>
              <a:srgbClr val="FFF6E5"/>
            </a:solidFill>
            <a:prstDash val="solid"/>
          </a:ln>
        </p:spPr>
      </p:sp>
      <p:sp>
        <p:nvSpPr>
          <p:cNvPr id="11" name="accent-42-480">
            <a:extLst xmlns:a="http://schemas.openxmlformats.org/drawingml/2006/main">
              <a:ext uri="{FF2B5EF4-FFF2-40B4-BE49-F238E27FC236}">
                <a16:creationId xmlns:a16="http://schemas.microsoft.com/office/drawing/2014/main" id="{B5BDE0E2-B85C-4182-85A6-8B903927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2" name="t-66-498-3  PLATFORM">
            <a:extLst xmlns:a="http://schemas.openxmlformats.org/drawingml/2006/main">
              <a:ext uri="{FF2B5EF4-FFF2-40B4-BE49-F238E27FC236}">
                <a16:creationId xmlns:a16="http://schemas.microsoft.com/office/drawing/2014/main" id="{CB8A7201-C7CE-454C-B658-B62F1B4B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43450"/>
            <a:ext cx="10991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defRPr>
            </a:pPr>
            <a:r>
              <a:t>3  PLATFORM MECHANISM</a:t>
            </a:r>
          </a:p>
        </p:txBody>
      </p:sp>
      <p:sp>
        <p:nvSpPr>
          <p:cNvPr id="13" name="t-66-535-Reuse policy">
            <a:extLst xmlns:a="http://schemas.openxmlformats.org/drawingml/2006/main">
              <a:ext uri="{FF2B5EF4-FFF2-40B4-BE49-F238E27FC236}">
                <a16:creationId xmlns:a16="http://schemas.microsoft.com/office/drawing/2014/main" id="{8D500505-9FD2-4DAB-90CD-5928418A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95875"/>
            <a:ext cx="10991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0175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Reuse policy across userspace, kernels, and constrained fixed-heap targets through stable boundaries.</a:t>
            </a:r>
          </a:p>
        </p:txBody>
      </p:sp>
      <p:sp>
        <p:nvSpPr>
          <p:cNvPr id="14" name="t-42-30-HOOK">
            <a:extLst xmlns:a="http://schemas.openxmlformats.org/drawingml/2006/main">
              <a:ext uri="{FF2B5EF4-FFF2-40B4-BE49-F238E27FC236}">
                <a16:creationId xmlns:a16="http://schemas.microsoft.com/office/drawing/2014/main" id="{55FC1365-C941-4FE9-9122-F26F3036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762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HOOK</a:t>
            </a:r>
          </a:p>
        </p:txBody>
      </p:sp>
      <p:sp>
        <p:nvSpPr>
          <p:cNvPr id="15" name="t-42-58-The conventi">
            <a:extLst xmlns:a="http://schemas.openxmlformats.org/drawingml/2006/main">
              <a:ext uri="{FF2B5EF4-FFF2-40B4-BE49-F238E27FC236}">
                <a16:creationId xmlns:a16="http://schemas.microsoft.com/office/drawing/2014/main" id="{DCBB8C08-CD03-4217-8963-BFC727DC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conventional Rust allocation boundary omits language-level semantics.</a:t>
            </a:r>
          </a:p>
        </p:txBody>
      </p:sp>
      <p:cxnSp>
        <p:nvCxnSpPr>
          <p:cNvPr id="34" name="footer-rule-42-674"/>
          <p:cNvCxnSpPr/>
          <p:nvPr/>
        </p:nvCxnSpPr>
        <p:spPr>
          <a:xfrm xmlns:a="http://schemas.openxmlformats.org/drawingml/2006/main">
            <a:off x="400050" y="641985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7" name="t-42-681-HOOK">
            <a:extLst xmlns:a="http://schemas.openxmlformats.org/drawingml/2006/main">
              <a:ext uri="{FF2B5EF4-FFF2-40B4-BE49-F238E27FC236}">
                <a16:creationId xmlns:a16="http://schemas.microsoft.com/office/drawing/2014/main" id="{86682C22-4A76-4DF9-92FC-628807F2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4095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HOOK</a:t>
            </a:r>
          </a:p>
        </p:txBody>
      </p:sp>
      <p:sp>
        <p:nvSpPr>
          <p:cNvPr id="18" name="t-1190-681-02">
            <a:extLst xmlns:a="http://schemas.openxmlformats.org/drawingml/2006/main">
              <a:ext uri="{FF2B5EF4-FFF2-40B4-BE49-F238E27FC236}">
                <a16:creationId xmlns:a16="http://schemas.microsoft.com/office/drawing/2014/main" id="{EA8B054F-7727-4FCE-9C2C-646E7750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63599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uaf-a1-300-337">
            <a:extLst xmlns:a="http://schemas.openxmlformats.org/drawingml/2006/main">
              <a:ext uri="{FF2B5EF4-FFF2-40B4-BE49-F238E27FC236}">
                <a16:creationId xmlns:a16="http://schemas.microsoft.com/office/drawing/2014/main" id="{4D3E6AD3-2C8E-4379-AB33-B48B6926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09925"/>
            <a:ext cx="5143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" name="uaf-a2-610-337">
            <a:extLst xmlns:a="http://schemas.openxmlformats.org/drawingml/2006/main">
              <a:ext uri="{FF2B5EF4-FFF2-40B4-BE49-F238E27FC236}">
                <a16:creationId xmlns:a16="http://schemas.microsoft.com/office/drawing/2014/main" id="{0BD71A01-2D62-400B-9D90-198A5D7D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09925"/>
            <a:ext cx="5143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uaf-a3-920-337">
            <a:extLst xmlns:a="http://schemas.openxmlformats.org/drawingml/2006/main">
              <a:ext uri="{FF2B5EF4-FFF2-40B4-BE49-F238E27FC236}">
                <a16:creationId xmlns:a16="http://schemas.microsoft.com/office/drawing/2014/main" id="{649DCC38-CA3A-436A-BAE4-574C473F6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09925"/>
            <a:ext cx="5143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num-block-42-220">
            <a:extLst xmlns:a="http://schemas.openxmlformats.org/drawingml/2006/main">
              <a:ext uri="{FF2B5EF4-FFF2-40B4-BE49-F238E27FC236}">
                <a16:creationId xmlns:a16="http://schemas.microsoft.com/office/drawing/2014/main" id="{37FBC0D4-60C4-4044-AF7F-C741668C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2457450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7F7F7"/>
            </a:solidFill>
            <a:prstDash val="solid"/>
          </a:ln>
        </p:spPr>
      </p:sp>
      <p:sp>
        <p:nvSpPr>
          <p:cNvPr id="5" name="t-64-238-01">
            <a:extLst xmlns:a="http://schemas.openxmlformats.org/drawingml/2006/main">
              <a:ext uri="{FF2B5EF4-FFF2-40B4-BE49-F238E27FC236}">
                <a16:creationId xmlns:a16="http://schemas.microsoft.com/office/drawing/2014/main" id="{130886F5-A591-4267-8FB2-13753C29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666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sp>
        <p:nvSpPr>
          <p:cNvPr id="6" name="t-64-298-Allocate A">
            <a:extLst xmlns:a="http://schemas.openxmlformats.org/drawingml/2006/main">
              <a:ext uri="{FF2B5EF4-FFF2-40B4-BE49-F238E27FC236}">
                <a16:creationId xmlns:a16="http://schemas.microsoft.com/office/drawing/2014/main" id="{37313710-D69E-4BD0-837F-A379A388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2038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Allocate A</a:t>
            </a:r>
          </a:p>
        </p:txBody>
      </p:sp>
      <p:sp>
        <p:nvSpPr>
          <p:cNvPr id="7" name="t-64-348-A typed obje">
            <a:extLst xmlns:a="http://schemas.openxmlformats.org/drawingml/2006/main">
              <a:ext uri="{FF2B5EF4-FFF2-40B4-BE49-F238E27FC236}">
                <a16:creationId xmlns:a16="http://schemas.microsoft.com/office/drawing/2014/main" id="{08D74E50-DD22-4466-9EBA-97477307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203835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A typed object occupies a size-class slot.</a:t>
            </a:r>
          </a:p>
        </p:txBody>
      </p:sp>
      <p:sp>
        <p:nvSpPr>
          <p:cNvPr id="8" name="num-block-352-220">
            <a:extLst xmlns:a="http://schemas.openxmlformats.org/drawingml/2006/main">
              <a:ext uri="{FF2B5EF4-FFF2-40B4-BE49-F238E27FC236}">
                <a16:creationId xmlns:a16="http://schemas.microsoft.com/office/drawing/2014/main" id="{A5479C98-D170-4D84-8106-49493AE0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95500"/>
            <a:ext cx="2457450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7F7F7"/>
            </a:solidFill>
            <a:prstDash val="solid"/>
          </a:ln>
        </p:spPr>
      </p:sp>
      <p:sp>
        <p:nvSpPr>
          <p:cNvPr id="9" name="t-374-238-02">
            <a:extLst xmlns:a="http://schemas.openxmlformats.org/drawingml/2006/main">
              <a:ext uri="{FF2B5EF4-FFF2-40B4-BE49-F238E27FC236}">
                <a16:creationId xmlns:a16="http://schemas.microsoft.com/office/drawing/2014/main" id="{3F16FA65-E274-4730-90AF-82C3B398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666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10" name="t-374-298-Free A">
            <a:extLst xmlns:a="http://schemas.openxmlformats.org/drawingml/2006/main">
              <a:ext uri="{FF2B5EF4-FFF2-40B4-BE49-F238E27FC236}">
                <a16:creationId xmlns:a16="http://schemas.microsoft.com/office/drawing/2014/main" id="{ECC9AED8-90CA-4AB9-BE84-980BBA73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38450"/>
            <a:ext cx="2038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Free A</a:t>
            </a:r>
          </a:p>
        </p:txBody>
      </p:sp>
      <p:sp>
        <p:nvSpPr>
          <p:cNvPr id="11" name="t-374-348-A stale poin">
            <a:extLst xmlns:a="http://schemas.openxmlformats.org/drawingml/2006/main">
              <a:ext uri="{FF2B5EF4-FFF2-40B4-BE49-F238E27FC236}">
                <a16:creationId xmlns:a16="http://schemas.microsoft.com/office/drawing/2014/main" id="{5EB6DD89-683C-4056-9362-549BA7F75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14700"/>
            <a:ext cx="203835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A stale pointer still references the now-free slot.</a:t>
            </a:r>
          </a:p>
        </p:txBody>
      </p:sp>
      <p:sp>
        <p:nvSpPr>
          <p:cNvPr id="12" name="num-block-662-220">
            <a:extLst xmlns:a="http://schemas.openxmlformats.org/drawingml/2006/main">
              <a:ext uri="{FF2B5EF4-FFF2-40B4-BE49-F238E27FC236}">
                <a16:creationId xmlns:a16="http://schemas.microsoft.com/office/drawing/2014/main" id="{B2EF2C94-4D92-495D-B59A-941EE927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95500"/>
            <a:ext cx="2457450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7F7F7"/>
            </a:solidFill>
            <a:prstDash val="solid"/>
          </a:ln>
        </p:spPr>
      </p:sp>
      <p:sp>
        <p:nvSpPr>
          <p:cNvPr id="13" name="t-684-238-03">
            <a:extLst xmlns:a="http://schemas.openxmlformats.org/drawingml/2006/main">
              <a:ext uri="{FF2B5EF4-FFF2-40B4-BE49-F238E27FC236}">
                <a16:creationId xmlns:a16="http://schemas.microsoft.com/office/drawing/2014/main" id="{DD1AC275-E447-4AEE-A819-2275D8BB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66950"/>
            <a:ext cx="666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14" name="t-684-298-Allocate B">
            <a:extLst xmlns:a="http://schemas.openxmlformats.org/drawingml/2006/main">
              <a:ext uri="{FF2B5EF4-FFF2-40B4-BE49-F238E27FC236}">
                <a16:creationId xmlns:a16="http://schemas.microsoft.com/office/drawing/2014/main" id="{757E1C79-7E5A-4036-8B68-727208FB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38450"/>
            <a:ext cx="2038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Allocate B</a:t>
            </a:r>
          </a:p>
        </p:txBody>
      </p:sp>
      <p:sp>
        <p:nvSpPr>
          <p:cNvPr id="15" name="t-684-348-A same-size">
            <a:extLst xmlns:a="http://schemas.openxmlformats.org/drawingml/2006/main">
              <a:ext uri="{FF2B5EF4-FFF2-40B4-BE49-F238E27FC236}">
                <a16:creationId xmlns:a16="http://schemas.microsoft.com/office/drawing/2014/main" id="{AF244B0C-8B16-4ECA-A330-E749517B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14700"/>
            <a:ext cx="203835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A same-size object of a different type may reuse the slot.</a:t>
            </a:r>
          </a:p>
        </p:txBody>
      </p:sp>
      <p:sp>
        <p:nvSpPr>
          <p:cNvPr id="16" name="num-block-972-220">
            <a:extLst xmlns:a="http://schemas.openxmlformats.org/drawingml/2006/main">
              <a:ext uri="{FF2B5EF4-FFF2-40B4-BE49-F238E27FC236}">
                <a16:creationId xmlns:a16="http://schemas.microsoft.com/office/drawing/2014/main" id="{5B31E241-B117-4B92-9AF1-DB91CB0D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095500"/>
            <a:ext cx="2533650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7F7F7"/>
            </a:solidFill>
            <a:prstDash val="solid"/>
          </a:ln>
        </p:spPr>
      </p:sp>
      <p:sp>
        <p:nvSpPr>
          <p:cNvPr id="17" name="t-994-238-04">
            <a:extLst xmlns:a="http://schemas.openxmlformats.org/drawingml/2006/main">
              <a:ext uri="{FF2B5EF4-FFF2-40B4-BE49-F238E27FC236}">
                <a16:creationId xmlns:a16="http://schemas.microsoft.com/office/drawing/2014/main" id="{F58DE91F-EEDF-492C-83E9-E0AA1CD0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266950"/>
            <a:ext cx="666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18" name="t-994-298-Use stale A">
            <a:extLst xmlns:a="http://schemas.openxmlformats.org/drawingml/2006/main">
              <a:ext uri="{FF2B5EF4-FFF2-40B4-BE49-F238E27FC236}">
                <a16:creationId xmlns:a16="http://schemas.microsoft.com/office/drawing/2014/main" id="{05E06609-AD47-4070-8EB1-834E6545A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838450"/>
            <a:ext cx="21145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Use stale A</a:t>
            </a:r>
          </a:p>
        </p:txBody>
      </p:sp>
      <p:sp>
        <p:nvSpPr>
          <p:cNvPr id="19" name="t-994-348-The stale ac">
            <a:extLst xmlns:a="http://schemas.openxmlformats.org/drawingml/2006/main">
              <a:ext uri="{FF2B5EF4-FFF2-40B4-BE49-F238E27FC236}">
                <a16:creationId xmlns:a16="http://schemas.microsoft.com/office/drawing/2014/main" id="{D177D465-C6D8-49F6-AF76-0FE871EDB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314700"/>
            <a:ext cx="211455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The stale access interprets B's bytes as A.</a:t>
            </a:r>
          </a:p>
        </p:txBody>
      </p:sp>
      <p:sp>
        <p:nvSpPr>
          <p:cNvPr id="20" name="callout-42-528">
            <a:extLst xmlns:a="http://schemas.openxmlformats.org/drawingml/2006/main">
              <a:ext uri="{FF2B5EF4-FFF2-40B4-BE49-F238E27FC236}">
                <a16:creationId xmlns:a16="http://schemas.microsoft.com/office/drawing/2014/main" id="{2D603F29-B9FB-4E4B-9CEE-E160B7E1A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29200"/>
            <a:ext cx="11391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21" name="t-64-550-Type isolati">
            <a:extLst xmlns:a="http://schemas.openxmlformats.org/drawingml/2006/main">
              <a:ext uri="{FF2B5EF4-FFF2-40B4-BE49-F238E27FC236}">
                <a16:creationId xmlns:a16="http://schemas.microsoft.com/office/drawing/2014/main" id="{121A283F-328E-47FE-919F-3F6D3308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9789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Type isolation targets one exploitation step: ordinary reuse across distinct trusted identities. It does not eliminate the temporal bug.</a:t>
            </a:r>
          </a:p>
        </p:txBody>
      </p:sp>
      <p:sp>
        <p:nvSpPr>
          <p:cNvPr id="22" name="t-42-30-MOTIVATION">
            <a:extLst xmlns:a="http://schemas.openxmlformats.org/drawingml/2006/main">
              <a:ext uri="{FF2B5EF4-FFF2-40B4-BE49-F238E27FC236}">
                <a16:creationId xmlns:a16="http://schemas.microsoft.com/office/drawing/2014/main" id="{7C10FE61-F18E-4AD0-97F9-2EF41483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762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MOTIVATION</a:t>
            </a:r>
          </a:p>
        </p:txBody>
      </p:sp>
      <p:sp>
        <p:nvSpPr>
          <p:cNvPr id="23" name="t-42-58-Same-size re">
            <a:extLst xmlns:a="http://schemas.openxmlformats.org/drawingml/2006/main">
              <a:ext uri="{FF2B5EF4-FFF2-40B4-BE49-F238E27FC236}">
                <a16:creationId xmlns:a16="http://schemas.microsoft.com/office/drawing/2014/main" id="{32079654-54F6-4951-A845-CDCB4B38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Same-size reuse can turn a temporal bug into type confusion.</a:t>
            </a:r>
          </a:p>
        </p:txBody>
      </p:sp>
      <p:cxnSp>
        <p:nvCxnSpPr>
          <p:cNvPr id="50" name="footer-rule-42-674"/>
          <p:cNvCxnSpPr/>
          <p:nvPr/>
        </p:nvCxnSpPr>
        <p:spPr>
          <a:xfrm xmlns:a="http://schemas.openxmlformats.org/drawingml/2006/main">
            <a:off x="400050" y="641985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5" name="t-42-681-MOTIVATION">
            <a:extLst xmlns:a="http://schemas.openxmlformats.org/drawingml/2006/main">
              <a:ext uri="{FF2B5EF4-FFF2-40B4-BE49-F238E27FC236}">
                <a16:creationId xmlns:a16="http://schemas.microsoft.com/office/drawing/2014/main" id="{1E8B2A7D-2386-456A-9919-CEC6D957B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4095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MOTIVATION</a:t>
            </a:r>
          </a:p>
        </p:txBody>
      </p:sp>
      <p:sp>
        <p:nvSpPr>
          <p:cNvPr id="26" name="t-1190-681-03">
            <a:extLst xmlns:a="http://schemas.openxmlformats.org/drawingml/2006/main">
              <a:ext uri="{FF2B5EF4-FFF2-40B4-BE49-F238E27FC236}">
                <a16:creationId xmlns:a16="http://schemas.microsoft.com/office/drawing/2014/main" id="{0F919C47-3E51-4B1C-AE1C-B3D58A0A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635244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mantic-arrow-425-344">
            <a:extLst xmlns:a="http://schemas.openxmlformats.org/drawingml/2006/main">
              <a:ext uri="{FF2B5EF4-FFF2-40B4-BE49-F238E27FC236}">
                <a16:creationId xmlns:a16="http://schemas.microsoft.com/office/drawing/2014/main" id="{8D422442-07A1-4B8E-872A-79904BF8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276600"/>
            <a:ext cx="990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semantic-arrow2-770-344">
            <a:extLst xmlns:a="http://schemas.openxmlformats.org/drawingml/2006/main">
              <a:ext uri="{FF2B5EF4-FFF2-40B4-BE49-F238E27FC236}">
                <a16:creationId xmlns:a16="http://schemas.microsoft.com/office/drawing/2014/main" id="{AEE90298-C4A7-4E65-89F5-64716E89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76600"/>
            <a:ext cx="990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typed-side-42-210">
            <a:extLst xmlns:a="http://schemas.openxmlformats.org/drawingml/2006/main">
              <a:ext uri="{FF2B5EF4-FFF2-40B4-BE49-F238E27FC236}">
                <a16:creationId xmlns:a16="http://schemas.microsoft.com/office/drawing/2014/main" id="{25C3B5FD-0E80-429F-A833-E6529D8B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36480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E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4" name="t-66-232-LANGUAGE LEV">
            <a:extLst xmlns:a="http://schemas.openxmlformats.org/drawingml/2006/main">
              <a:ext uri="{FF2B5EF4-FFF2-40B4-BE49-F238E27FC236}">
                <a16:creationId xmlns:a16="http://schemas.microsoft.com/office/drawing/2014/main" id="{D8FA1095-3553-4E84-B370-AC369CE8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09800"/>
            <a:ext cx="31908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LANGUAGE LEVEL</a:t>
            </a:r>
          </a:p>
        </p:txBody>
      </p:sp>
      <p:sp>
        <p:nvSpPr>
          <p:cNvPr id="5" name="t-66-284-Box&lt;Foo&gt;&#10;Vec">
            <a:extLst xmlns:a="http://schemas.openxmlformats.org/drawingml/2006/main">
              <a:ext uri="{FF2B5EF4-FFF2-40B4-BE49-F238E27FC236}">
                <a16:creationId xmlns:a16="http://schemas.microsoft.com/office/drawing/2014/main" id="{EF62D69F-1101-47E7-9A16-E846B103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05100"/>
            <a:ext cx="3190875" cy="1476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Box&lt;Foo&gt;
Vec&lt;Bar&gt;
Arc&lt;Baz&gt;</a:t>
            </a:r>
          </a:p>
        </p:txBody>
      </p:sp>
      <p:sp>
        <p:nvSpPr>
          <p:cNvPr id="6" name="t-66-458-T is still k">
            <a:extLst xmlns:a="http://schemas.openxmlformats.org/drawingml/2006/main">
              <a:ext uri="{FF2B5EF4-FFF2-40B4-BE49-F238E27FC236}">
                <a16:creationId xmlns:a16="http://schemas.microsoft.com/office/drawing/2014/main" id="{44C2B35E-D265-4927-A708-15B4A3DB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62450"/>
            <a:ext cx="31908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T is still known</a:t>
            </a:r>
          </a:p>
        </p:txBody>
      </p:sp>
      <p:sp>
        <p:nvSpPr>
          <p:cNvPr id="7" name="boundary-529-210">
            <a:extLst xmlns:a="http://schemas.openxmlformats.org/drawingml/2006/main">
              <a:ext uri="{FF2B5EF4-FFF2-40B4-BE49-F238E27FC236}">
                <a16:creationId xmlns:a16="http://schemas.microsoft.com/office/drawing/2014/main" id="{333BCA3A-6B23-4F9D-A805-4CCB0E5F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2000250"/>
            <a:ext cx="22955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t-554-245-GlobalAlloc">
            <a:extLst xmlns:a="http://schemas.openxmlformats.org/drawingml/2006/main">
              <a:ext uri="{FF2B5EF4-FFF2-40B4-BE49-F238E27FC236}">
                <a16:creationId xmlns:a16="http://schemas.microsoft.com/office/drawing/2014/main" id="{F9E27B30-C6AF-4494-AFC5-E0BB2486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333625"/>
            <a:ext cx="1819275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GlobalAlloc</a:t>
            </a:r>
          </a:p>
        </p:txBody>
      </p:sp>
      <p:sp>
        <p:nvSpPr>
          <p:cNvPr id="9" name="t-554-308-Layout {&#10;  s">
            <a:extLst xmlns:a="http://schemas.openxmlformats.org/drawingml/2006/main">
              <a:ext uri="{FF2B5EF4-FFF2-40B4-BE49-F238E27FC236}">
                <a16:creationId xmlns:a16="http://schemas.microsoft.com/office/drawing/2014/main" id="{340CBCA6-0569-4D0B-BB9F-5F7B2D73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33700"/>
            <a:ext cx="1819275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4551"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1827"/>
                </a:solidFill>
                <a:latin typeface="Menlo"/>
                <a:ea typeface="Menlo"/>
                <a:cs typeface="Menlo"/>
              </a:defRPr>
            </a:pPr>
            <a:r>
              <a:t>Layout {
  size,
  align
}</a:t>
            </a:r>
          </a:p>
        </p:txBody>
      </p:sp>
      <p:sp>
        <p:nvSpPr>
          <p:cNvPr id="10" name="lost-side-874-210">
            <a:extLst xmlns:a="http://schemas.openxmlformats.org/drawingml/2006/main">
              <a:ext uri="{FF2B5EF4-FFF2-40B4-BE49-F238E27FC236}">
                <a16:creationId xmlns:a16="http://schemas.microsoft.com/office/drawing/2014/main" id="{F4C9C797-4242-4430-A34E-0DDE0CA1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00250"/>
            <a:ext cx="3467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t-898-232-NOT EXPOSED">
            <a:extLst xmlns:a="http://schemas.openxmlformats.org/drawingml/2006/main">
              <a:ext uri="{FF2B5EF4-FFF2-40B4-BE49-F238E27FC236}">
                <a16:creationId xmlns:a16="http://schemas.microsoft.com/office/drawing/2014/main" id="{2538816D-9324-4BEE-8EB7-D5A96B01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09800"/>
            <a:ext cx="3009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NOT EXPOSED BY THE API</a:t>
            </a:r>
          </a:p>
        </p:txBody>
      </p:sp>
      <p:sp>
        <p:nvSpPr>
          <p:cNvPr id="12" name="t-898-282-type&#10;module">
            <a:extLst xmlns:a="http://schemas.openxmlformats.org/drawingml/2006/main">
              <a:ext uri="{FF2B5EF4-FFF2-40B4-BE49-F238E27FC236}">
                <a16:creationId xmlns:a16="http://schemas.microsoft.com/office/drawing/2014/main" id="{BA876F86-DCD0-42C1-9985-78A8BDDD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86050"/>
            <a:ext cx="3009900" cy="17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type
module
callsite
lifetime / placement</a:t>
            </a:r>
          </a:p>
        </p:txBody>
      </p:sp>
      <p:sp>
        <p:nvSpPr>
          <p:cNvPr id="13" name="t-42-554-Information">
            <a:extLst xmlns:a="http://schemas.openxmlformats.org/drawingml/2006/main">
              <a:ext uri="{FF2B5EF4-FFF2-40B4-BE49-F238E27FC236}">
                <a16:creationId xmlns:a16="http://schemas.microsoft.com/office/drawing/2014/main" id="{8D167E62-FC56-4C24-9588-56C7FDE9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76850"/>
            <a:ext cx="113919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Information loss—not lack of compiler knowledge—is the design gap.</a:t>
            </a:r>
          </a:p>
        </p:txBody>
      </p:sp>
      <p:sp>
        <p:nvSpPr>
          <p:cNvPr id="14" name="t-42-30-SEMANTIC GAP">
            <a:extLst xmlns:a="http://schemas.openxmlformats.org/drawingml/2006/main">
              <a:ext uri="{FF2B5EF4-FFF2-40B4-BE49-F238E27FC236}">
                <a16:creationId xmlns:a16="http://schemas.microsoft.com/office/drawing/2014/main" id="{FF32D233-F1D6-416C-B444-B59D48AF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762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SEMANTIC GAP</a:t>
            </a:r>
          </a:p>
        </p:txBody>
      </p:sp>
      <p:sp>
        <p:nvSpPr>
          <p:cNvPr id="15" name="t-42-58-Rust preserv">
            <a:extLst xmlns:a="http://schemas.openxmlformats.org/drawingml/2006/main">
              <a:ext uri="{FF2B5EF4-FFF2-40B4-BE49-F238E27FC236}">
                <a16:creationId xmlns:a16="http://schemas.microsoft.com/office/drawing/2014/main" id="{4AF5D99B-A702-42AA-BE02-1ED39F6E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Rust preserves type semantics until the allocation boundary discards them.</a:t>
            </a:r>
          </a:p>
        </p:txBody>
      </p:sp>
      <p:cxnSp>
        <p:nvCxnSpPr>
          <p:cNvPr id="34" name="footer-rule-42-674"/>
          <p:cNvCxnSpPr/>
          <p:nvPr/>
        </p:nvCxnSpPr>
        <p:spPr>
          <a:xfrm xmlns:a="http://schemas.openxmlformats.org/drawingml/2006/main">
            <a:off x="400050" y="641985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7" name="t-42-681-SEMANTIC GAP">
            <a:extLst xmlns:a="http://schemas.openxmlformats.org/drawingml/2006/main">
              <a:ext uri="{FF2B5EF4-FFF2-40B4-BE49-F238E27FC236}">
                <a16:creationId xmlns:a16="http://schemas.microsoft.com/office/drawing/2014/main" id="{B4D35579-9759-4D40-96A6-99324ABC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4095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SEMANTIC GAP</a:t>
            </a:r>
          </a:p>
        </p:txBody>
      </p:sp>
      <p:sp>
        <p:nvSpPr>
          <p:cNvPr id="18" name="t-1190-681-04">
            <a:extLst xmlns:a="http://schemas.openxmlformats.org/drawingml/2006/main">
              <a:ext uri="{FF2B5EF4-FFF2-40B4-BE49-F238E27FC236}">
                <a16:creationId xmlns:a16="http://schemas.microsoft.com/office/drawing/2014/main" id="{DA9B59AE-487E-4D18-944E-9F4F4A35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809111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-42-174-The allocato">
            <a:extLst xmlns:a="http://schemas.openxmlformats.org/drawingml/2006/main">
              <a:ext uri="{FF2B5EF4-FFF2-40B4-BE49-F238E27FC236}">
                <a16:creationId xmlns:a16="http://schemas.microsoft.com/office/drawing/2014/main" id="{B929ECB4-9EC2-4930-BB41-3CCD6069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80962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allocator is not “size only.” It already combines layout with runtime context.</a:t>
            </a:r>
          </a:p>
        </p:txBody>
      </p:sp>
      <p:sp>
        <p:nvSpPr>
          <p:cNvPr id="2" name="available-42-252">
            <a:extLst xmlns:a="http://schemas.openxmlformats.org/drawingml/2006/main">
              <a:ext uri="{FF2B5EF4-FFF2-40B4-BE49-F238E27FC236}">
                <a16:creationId xmlns:a16="http://schemas.microsoft.com/office/drawing/2014/main" id="{5BB93A32-B593-4EE9-A56B-D5666789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54673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EF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3" name="t-66-274-AVAILABLE AT">
            <a:extLst xmlns:a="http://schemas.openxmlformats.org/drawingml/2006/main">
              <a:ext uri="{FF2B5EF4-FFF2-40B4-BE49-F238E27FC236}">
                <a16:creationId xmlns:a16="http://schemas.microsoft.com/office/drawing/2014/main" id="{7B3F5484-0297-4F6D-B373-A306A716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09850"/>
            <a:ext cx="5010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803D"/>
                </a:solidFill>
                <a:latin typeface="Helvetica Neue"/>
                <a:ea typeface="Helvetica Neue"/>
                <a:cs typeface="Helvetica Neue"/>
              </a:defRPr>
            </a:pPr>
            <a:r>
              <a:t>AVAILABLE AT RUNTIME</a:t>
            </a:r>
          </a:p>
        </p:txBody>
      </p:sp>
      <p:sp>
        <p:nvSpPr>
          <p:cNvPr id="4" name="t-66-326-• size and a">
            <a:extLst xmlns:a="http://schemas.openxmlformats.org/drawingml/2006/main">
              <a:ext uri="{FF2B5EF4-FFF2-40B4-BE49-F238E27FC236}">
                <a16:creationId xmlns:a16="http://schemas.microsoft.com/office/drawing/2014/main" id="{6B144DFB-C4B2-4E0E-BFF8-CF76EFE3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05150"/>
            <a:ext cx="49530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• size and alignment
• thread / fiber context
• address and size-class state
• allocation history and cache state</a:t>
            </a:r>
          </a:p>
        </p:txBody>
      </p:sp>
      <p:sp>
        <p:nvSpPr>
          <p:cNvPr id="5" name="missing-664-252">
            <a:extLst xmlns:a="http://schemas.openxmlformats.org/drawingml/2006/main">
              <a:ext uri="{FF2B5EF4-FFF2-40B4-BE49-F238E27FC236}">
                <a16:creationId xmlns:a16="http://schemas.microsoft.com/office/drawing/2014/main" id="{73BF2357-1E2E-4DCD-8016-912CFC75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00300"/>
            <a:ext cx="54673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6" name="t-688-274-MISSING FROM">
            <a:extLst xmlns:a="http://schemas.openxmlformats.org/drawingml/2006/main">
              <a:ext uri="{FF2B5EF4-FFF2-40B4-BE49-F238E27FC236}">
                <a16:creationId xmlns:a16="http://schemas.microsoft.com/office/drawing/2014/main" id="{6841DA41-4516-4FD3-8B34-9A801F89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09850"/>
            <a:ext cx="5010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MISSING FROM THE CONVENTIONAL API</a:t>
            </a:r>
          </a:p>
        </p:txBody>
      </p:sp>
      <p:sp>
        <p:nvSpPr>
          <p:cNvPr id="7" name="t-688-326-• language-l">
            <a:extLst xmlns:a="http://schemas.openxmlformats.org/drawingml/2006/main">
              <a:ext uri="{FF2B5EF4-FFF2-40B4-BE49-F238E27FC236}">
                <a16:creationId xmlns:a16="http://schemas.microsoft.com/office/drawing/2014/main" id="{D7C5F3BF-E967-4799-91AA-68677BB6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05150"/>
            <a:ext cx="49530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• language-level type
• module identity
• semantic lifetime
• placement or policy hints</a:t>
            </a:r>
          </a:p>
        </p:txBody>
      </p:sp>
      <p:sp>
        <p:nvSpPr>
          <p:cNvPr id="8" name="t-42-578-UniAlloc add">
            <a:extLst xmlns:a="http://schemas.openxmlformats.org/drawingml/2006/main">
              <a:ext uri="{FF2B5EF4-FFF2-40B4-BE49-F238E27FC236}">
                <a16:creationId xmlns:a16="http://schemas.microsoft.com/office/drawing/2014/main" id="{A6DCA105-1375-475F-9545-A4AEB01D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05450"/>
            <a:ext cx="11391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UniAlloc adds an optional semantic input; it does not replace ordinary runtime signals.</a:t>
            </a:r>
          </a:p>
        </p:txBody>
      </p:sp>
      <p:sp>
        <p:nvSpPr>
          <p:cNvPr id="9" name="t-42-30-ALLOCATOR IN">
            <a:extLst xmlns:a="http://schemas.openxmlformats.org/drawingml/2006/main">
              <a:ext uri="{FF2B5EF4-FFF2-40B4-BE49-F238E27FC236}">
                <a16:creationId xmlns:a16="http://schemas.microsoft.com/office/drawing/2014/main" id="{700230B4-9000-424D-BF70-1927AD9C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762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ALLOCATOR INPUTS</a:t>
            </a:r>
          </a:p>
        </p:txBody>
      </p:sp>
      <p:sp>
        <p:nvSpPr>
          <p:cNvPr id="10" name="t-42-58-The conventi">
            <a:extLst xmlns:a="http://schemas.openxmlformats.org/drawingml/2006/main">
              <a:ext uri="{FF2B5EF4-FFF2-40B4-BE49-F238E27FC236}">
                <a16:creationId xmlns:a16="http://schemas.microsoft.com/office/drawing/2014/main" id="{5934EB76-9A2A-48F6-84E3-AA4DD884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conventional Rust API exposes layout, not language-level type or module semantics.</a:t>
            </a:r>
          </a:p>
        </p:txBody>
      </p:sp>
      <p:cxnSp>
        <p:nvCxnSpPr>
          <p:cNvPr id="24" name="footer-rule-42-674"/>
          <p:cNvCxnSpPr/>
          <p:nvPr/>
        </p:nvCxnSpPr>
        <p:spPr>
          <a:xfrm xmlns:a="http://schemas.openxmlformats.org/drawingml/2006/main">
            <a:off x="400050" y="641985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2" name="t-42-681-ALLOCATOR IN">
            <a:extLst xmlns:a="http://schemas.openxmlformats.org/drawingml/2006/main">
              <a:ext uri="{FF2B5EF4-FFF2-40B4-BE49-F238E27FC236}">
                <a16:creationId xmlns:a16="http://schemas.microsoft.com/office/drawing/2014/main" id="{BF649D04-7FB5-4F73-B004-F2B4BFEF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4095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ALLOCATOR INPUTS</a:t>
            </a:r>
          </a:p>
        </p:txBody>
      </p:sp>
      <p:sp>
        <p:nvSpPr>
          <p:cNvPr id="13" name="t-1190-681-05">
            <a:extLst xmlns:a="http://schemas.openxmlformats.org/drawingml/2006/main">
              <a:ext uri="{FF2B5EF4-FFF2-40B4-BE49-F238E27FC236}">
                <a16:creationId xmlns:a16="http://schemas.microsoft.com/office/drawing/2014/main" id="{334BFD8F-2FC7-49C9-8E1F-A6F05BA5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006334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able-head-42-184">
            <a:extLst xmlns:a="http://schemas.openxmlformats.org/drawingml/2006/main">
              <a:ext uri="{FF2B5EF4-FFF2-40B4-BE49-F238E27FC236}">
                <a16:creationId xmlns:a16="http://schemas.microsoft.com/office/drawing/2014/main" id="{7E1A866A-F2B3-4B05-ABC3-9C8C767E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1391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" name="t-58-202-SYSTEM FAMIL">
            <a:extLst xmlns:a="http://schemas.openxmlformats.org/drawingml/2006/main">
              <a:ext uri="{FF2B5EF4-FFF2-40B4-BE49-F238E27FC236}">
                <a16:creationId xmlns:a16="http://schemas.microsoft.com/office/drawing/2014/main" id="{CF49E41D-FEEE-444D-B078-85DCAC5B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2381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SYSTEM FAMILY</a:t>
            </a:r>
          </a:p>
        </p:txBody>
      </p:sp>
      <p:sp>
        <p:nvSpPr>
          <p:cNvPr id="3" name="t-330-202-METADATA SOU">
            <a:extLst xmlns:a="http://schemas.openxmlformats.org/drawingml/2006/main">
              <a:ext uri="{FF2B5EF4-FFF2-40B4-BE49-F238E27FC236}">
                <a16:creationId xmlns:a16="http://schemas.microsoft.com/office/drawing/2014/main" id="{C2A95F8B-973D-407E-9E5C-C613DD45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24050"/>
            <a:ext cx="2476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METADATA SOURCE</a:t>
            </a:r>
          </a:p>
        </p:txBody>
      </p:sp>
      <p:sp>
        <p:nvSpPr>
          <p:cNvPr id="4" name="t-620-202-POLICY LEVER">
            <a:extLst xmlns:a="http://schemas.openxmlformats.org/drawingml/2006/main">
              <a:ext uri="{FF2B5EF4-FFF2-40B4-BE49-F238E27FC236}">
                <a16:creationId xmlns:a16="http://schemas.microsoft.com/office/drawing/2014/main" id="{2E849794-62B8-4B0E-97CE-9FA82D87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24050"/>
            <a:ext cx="2476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POLICY LEVER</a:t>
            </a:r>
          </a:p>
        </p:txBody>
      </p:sp>
      <p:sp>
        <p:nvSpPr>
          <p:cNvPr id="5" name="t-900-202-DEPLOYMENT B">
            <a:extLst xmlns:a="http://schemas.openxmlformats.org/drawingml/2006/main">
              <a:ext uri="{FF2B5EF4-FFF2-40B4-BE49-F238E27FC236}">
                <a16:creationId xmlns:a16="http://schemas.microsoft.com/office/drawing/2014/main" id="{45241E36-500B-4961-BEF0-C7F72592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24050"/>
            <a:ext cx="3048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DEPLOYMENT BOUNDARY</a:t>
            </a:r>
          </a:p>
        </p:txBody>
      </p:sp>
      <p:sp>
        <p:nvSpPr>
          <p:cNvPr id="6" name="table-row-42-242">
            <a:extLst xmlns:a="http://schemas.openxmlformats.org/drawingml/2006/main">
              <a:ext uri="{FF2B5EF4-FFF2-40B4-BE49-F238E27FC236}">
                <a16:creationId xmlns:a16="http://schemas.microsoft.com/office/drawing/2014/main" id="{9BEF1662-AEFF-4E9D-8ABA-8E957595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05050"/>
            <a:ext cx="11391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t-58-262-General allo">
            <a:extLst xmlns:a="http://schemas.openxmlformats.org/drawingml/2006/main">
              <a:ext uri="{FF2B5EF4-FFF2-40B4-BE49-F238E27FC236}">
                <a16:creationId xmlns:a16="http://schemas.microsoft.com/office/drawing/2014/main" id="{B326B8C8-174A-4555-B3F3-8AAF12B10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95550"/>
            <a:ext cx="2381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General allocators</a:t>
            </a:r>
          </a:p>
        </p:txBody>
      </p:sp>
      <p:sp>
        <p:nvSpPr>
          <p:cNvPr id="8" name="t-330-262-layout + run">
            <a:extLst xmlns:a="http://schemas.openxmlformats.org/drawingml/2006/main">
              <a:ext uri="{FF2B5EF4-FFF2-40B4-BE49-F238E27FC236}">
                <a16:creationId xmlns:a16="http://schemas.microsoft.com/office/drawing/2014/main" id="{93591559-172D-4DB0-900F-37DFF84D9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95550"/>
            <a:ext cx="2476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layout + runtime state</a:t>
            </a:r>
          </a:p>
        </p:txBody>
      </p:sp>
      <p:sp>
        <p:nvSpPr>
          <p:cNvPr id="9" name="t-620-262-cache / loca">
            <a:extLst xmlns:a="http://schemas.openxmlformats.org/drawingml/2006/main">
              <a:ext uri="{FF2B5EF4-FFF2-40B4-BE49-F238E27FC236}">
                <a16:creationId xmlns:a16="http://schemas.microsoft.com/office/drawing/2014/main" id="{3B8C4615-C7BD-4C16-AD55-BF894685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95550"/>
            <a:ext cx="2476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cache / locality / backend</a:t>
            </a:r>
          </a:p>
        </p:txBody>
      </p:sp>
      <p:sp>
        <p:nvSpPr>
          <p:cNvPr id="10" name="t-900-262-runtime only">
            <a:extLst xmlns:a="http://schemas.openxmlformats.org/drawingml/2006/main">
              <a:ext uri="{FF2B5EF4-FFF2-40B4-BE49-F238E27FC236}">
                <a16:creationId xmlns:a16="http://schemas.microsoft.com/office/drawing/2014/main" id="{0092E03D-31A6-40A1-A39A-43426365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95550"/>
            <a:ext cx="3048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runtime only</a:t>
            </a:r>
          </a:p>
        </p:txBody>
      </p:sp>
      <p:sp>
        <p:nvSpPr>
          <p:cNvPr id="11" name="table-row-42-324">
            <a:extLst xmlns:a="http://schemas.openxmlformats.org/drawingml/2006/main">
              <a:ext uri="{FF2B5EF4-FFF2-40B4-BE49-F238E27FC236}">
                <a16:creationId xmlns:a16="http://schemas.microsoft.com/office/drawing/2014/main" id="{565F077E-5CF2-48CB-AD3F-845002D0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86100"/>
            <a:ext cx="11391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t-58-344-Manual class">
            <a:extLst xmlns:a="http://schemas.openxmlformats.org/drawingml/2006/main">
              <a:ext uri="{FF2B5EF4-FFF2-40B4-BE49-F238E27FC236}">
                <a16:creationId xmlns:a16="http://schemas.microsoft.com/office/drawing/2014/main" id="{FD568C03-D9BD-4E07-A486-50D8D27F9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76600"/>
            <a:ext cx="2381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Manual class APIs</a:t>
            </a:r>
          </a:p>
        </p:txBody>
      </p:sp>
      <p:sp>
        <p:nvSpPr>
          <p:cNvPr id="13" name="t-330-344-programmer-p">
            <a:extLst xmlns:a="http://schemas.openxmlformats.org/drawingml/2006/main">
              <a:ext uri="{FF2B5EF4-FFF2-40B4-BE49-F238E27FC236}">
                <a16:creationId xmlns:a16="http://schemas.microsoft.com/office/drawing/2014/main" id="{4E85CB87-64FD-41F5-BA97-E580D892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76600"/>
            <a:ext cx="2476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programmer-provided class</a:t>
            </a:r>
          </a:p>
        </p:txBody>
      </p:sp>
      <p:sp>
        <p:nvSpPr>
          <p:cNvPr id="14" name="t-620-344-class-specif">
            <a:extLst xmlns:a="http://schemas.openxmlformats.org/drawingml/2006/main">
              <a:ext uri="{FF2B5EF4-FFF2-40B4-BE49-F238E27FC236}">
                <a16:creationId xmlns:a16="http://schemas.microsoft.com/office/drawing/2014/main" id="{AADBC376-83F7-4F1D-BDC8-FF32D7E11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76600"/>
            <a:ext cx="2476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class-specific reuse</a:t>
            </a:r>
          </a:p>
        </p:txBody>
      </p:sp>
      <p:sp>
        <p:nvSpPr>
          <p:cNvPr id="15" name="t-900-344-annotation o">
            <a:extLst xmlns:a="http://schemas.openxmlformats.org/drawingml/2006/main">
              <a:ext uri="{FF2B5EF4-FFF2-40B4-BE49-F238E27FC236}">
                <a16:creationId xmlns:a16="http://schemas.microsoft.com/office/drawing/2014/main" id="{156DC53A-8AC8-45E1-AC07-E390E78E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76600"/>
            <a:ext cx="3048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annotation or custom API</a:t>
            </a:r>
          </a:p>
        </p:txBody>
      </p:sp>
      <p:sp>
        <p:nvSpPr>
          <p:cNvPr id="16" name="table-row-42-406">
            <a:extLst xmlns:a="http://schemas.openxmlformats.org/drawingml/2006/main">
              <a:ext uri="{FF2B5EF4-FFF2-40B4-BE49-F238E27FC236}">
                <a16:creationId xmlns:a16="http://schemas.microsoft.com/office/drawing/2014/main" id="{0E7111FA-81DF-4EFC-8DA4-0ACBC42FE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67150"/>
            <a:ext cx="11391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t-58-426-Hardening al">
            <a:extLst xmlns:a="http://schemas.openxmlformats.org/drawingml/2006/main">
              <a:ext uri="{FF2B5EF4-FFF2-40B4-BE49-F238E27FC236}">
                <a16:creationId xmlns:a16="http://schemas.microsoft.com/office/drawing/2014/main" id="{D47B3971-50C7-4236-9A78-19FF37F35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57650"/>
            <a:ext cx="2381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Hardening allocators</a:t>
            </a:r>
          </a:p>
        </p:txBody>
      </p:sp>
      <p:sp>
        <p:nvSpPr>
          <p:cNvPr id="18" name="t-330-426-runtime hard">
            <a:extLst xmlns:a="http://schemas.openxmlformats.org/drawingml/2006/main">
              <a:ext uri="{FF2B5EF4-FFF2-40B4-BE49-F238E27FC236}">
                <a16:creationId xmlns:a16="http://schemas.microsoft.com/office/drawing/2014/main" id="{A0423384-931F-4637-B3F6-FDDB63BC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57650"/>
            <a:ext cx="2476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runtime hardening state</a:t>
            </a:r>
          </a:p>
        </p:txBody>
      </p:sp>
      <p:sp>
        <p:nvSpPr>
          <p:cNvPr id="19" name="t-620-426-quarantine /">
            <a:extLst xmlns:a="http://schemas.openxmlformats.org/drawingml/2006/main">
              <a:ext uri="{FF2B5EF4-FFF2-40B4-BE49-F238E27FC236}">
                <a16:creationId xmlns:a16="http://schemas.microsoft.com/office/drawing/2014/main" id="{39D82489-3306-4194-95F2-B4DC67E8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57650"/>
            <a:ext cx="2476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quarantine / guard / randomization</a:t>
            </a:r>
          </a:p>
        </p:txBody>
      </p:sp>
      <p:sp>
        <p:nvSpPr>
          <p:cNvPr id="20" name="t-900-426-fixed mechan">
            <a:extLst xmlns:a="http://schemas.openxmlformats.org/drawingml/2006/main">
              <a:ext uri="{FF2B5EF4-FFF2-40B4-BE49-F238E27FC236}">
                <a16:creationId xmlns:a16="http://schemas.microsoft.com/office/drawing/2014/main" id="{ADFBD6C5-01A4-4E51-83B3-5B2A767E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57650"/>
            <a:ext cx="3048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fixed mechanism</a:t>
            </a:r>
          </a:p>
        </p:txBody>
      </p:sp>
      <p:sp>
        <p:nvSpPr>
          <p:cNvPr id="21" name="table-row-42-488">
            <a:extLst xmlns:a="http://schemas.openxmlformats.org/drawingml/2006/main">
              <a:ext uri="{FF2B5EF4-FFF2-40B4-BE49-F238E27FC236}">
                <a16:creationId xmlns:a16="http://schemas.microsoft.com/office/drawing/2014/main" id="{147F0815-01A3-4B3A-84AC-E85840C85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48200"/>
            <a:ext cx="11391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2" name="t-58-508-UniAlloc">
            <a:extLst xmlns:a="http://schemas.openxmlformats.org/drawingml/2006/main">
              <a:ext uri="{FF2B5EF4-FFF2-40B4-BE49-F238E27FC236}">
                <a16:creationId xmlns:a16="http://schemas.microsoft.com/office/drawing/2014/main" id="{86294CA7-E1F4-4C86-BACB-9A50536E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38700"/>
            <a:ext cx="2381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UniAlloc</a:t>
            </a:r>
          </a:p>
        </p:txBody>
      </p:sp>
      <p:sp>
        <p:nvSpPr>
          <p:cNvPr id="23" name="t-330-508-compiler-der">
            <a:extLst xmlns:a="http://schemas.openxmlformats.org/drawingml/2006/main">
              <a:ext uri="{FF2B5EF4-FFF2-40B4-BE49-F238E27FC236}">
                <a16:creationId xmlns:a16="http://schemas.microsoft.com/office/drawing/2014/main" id="{0AD44D12-7BA3-454A-B430-8A301E70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38700"/>
            <a:ext cx="2476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compiler-derived semantics</a:t>
            </a:r>
          </a:p>
        </p:txBody>
      </p:sp>
      <p:sp>
        <p:nvSpPr>
          <p:cNvPr id="24" name="t-620-508-policy-selec">
            <a:extLst xmlns:a="http://schemas.openxmlformats.org/drawingml/2006/main">
              <a:ext uri="{FF2B5EF4-FFF2-40B4-BE49-F238E27FC236}">
                <a16:creationId xmlns:a16="http://schemas.microsoft.com/office/drawing/2014/main" id="{4A24C281-B5AB-42FC-985D-E8767CB8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38700"/>
            <a:ext cx="2476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policy-selected reuse and routing</a:t>
            </a:r>
          </a:p>
        </p:txBody>
      </p:sp>
      <p:sp>
        <p:nvSpPr>
          <p:cNvPr id="25" name="t-900-508-paired compi">
            <a:extLst xmlns:a="http://schemas.openxmlformats.org/drawingml/2006/main">
              <a:ext uri="{FF2B5EF4-FFF2-40B4-BE49-F238E27FC236}">
                <a16:creationId xmlns:a16="http://schemas.microsoft.com/office/drawing/2014/main" id="{2E90B33F-DBB6-4194-A95D-6FEDC757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38700"/>
            <a:ext cx="3048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paired compiler/runtime + fallback</a:t>
            </a:r>
          </a:p>
        </p:txBody>
      </p:sp>
      <p:sp>
        <p:nvSpPr>
          <p:cNvPr id="26" name="t-42-30-POSITIONING">
            <a:extLst xmlns:a="http://schemas.openxmlformats.org/drawingml/2006/main">
              <a:ext uri="{FF2B5EF4-FFF2-40B4-BE49-F238E27FC236}">
                <a16:creationId xmlns:a16="http://schemas.microsoft.com/office/drawing/2014/main" id="{A51041C7-3C92-4819-9B5B-313A98D84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762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POSITIONING</a:t>
            </a:r>
          </a:p>
        </p:txBody>
      </p:sp>
      <p:sp>
        <p:nvSpPr>
          <p:cNvPr id="27" name="t-42-58-Prior system">
            <a:extLst xmlns:a="http://schemas.openxmlformats.org/drawingml/2006/main">
              <a:ext uri="{FF2B5EF4-FFF2-40B4-BE49-F238E27FC236}">
                <a16:creationId xmlns:a16="http://schemas.microsoft.com/office/drawing/2014/main" id="{92694206-91BD-4272-BB9C-F8EC0401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Prior systems obtain policy inputs from runtime state, manual classes, or fixed hardening mechanisms.</a:t>
            </a:r>
          </a:p>
        </p:txBody>
      </p:sp>
      <p:cxnSp>
        <p:nvCxnSpPr>
          <p:cNvPr id="59" name="footer-rule-42-674"/>
          <p:cNvCxnSpPr/>
          <p:nvPr/>
        </p:nvCxnSpPr>
        <p:spPr>
          <a:xfrm xmlns:a="http://schemas.openxmlformats.org/drawingml/2006/main">
            <a:off x="400050" y="641985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9" name="t-42-681-POSITIONING">
            <a:extLst xmlns:a="http://schemas.openxmlformats.org/drawingml/2006/main">
              <a:ext uri="{FF2B5EF4-FFF2-40B4-BE49-F238E27FC236}">
                <a16:creationId xmlns:a16="http://schemas.microsoft.com/office/drawing/2014/main" id="{813E2E1D-FCF4-4ED0-B414-6ADF11930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4095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POSITIONING</a:t>
            </a:r>
          </a:p>
        </p:txBody>
      </p:sp>
      <p:sp>
        <p:nvSpPr>
          <p:cNvPr id="30" name="t-1190-681-06">
            <a:extLst xmlns:a="http://schemas.openxmlformats.org/drawingml/2006/main">
              <a:ext uri="{FF2B5EF4-FFF2-40B4-BE49-F238E27FC236}">
                <a16:creationId xmlns:a16="http://schemas.microsoft.com/office/drawing/2014/main" id="{07E1B90D-4533-4C99-9A4C-9B9693D4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  <p:sp>
        <p:nvSpPr>
          <p:cNvPr id="31" name="t-480-681-Conceptual p">
            <a:extLst xmlns:a="http://schemas.openxmlformats.org/drawingml/2006/main">
              <a:ext uri="{FF2B5EF4-FFF2-40B4-BE49-F238E27FC236}">
                <a16:creationId xmlns:a16="http://schemas.microsoft.com/office/drawing/2014/main" id="{E9C47ECA-8422-442A-B95E-85DAB240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86525"/>
            <a:ext cx="6477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Conceptual positioning; nearest-neighbor discussion in paper/discuss.tex</a:t>
            </a:r>
          </a:p>
        </p:txBody>
      </p:sp>
    </p:spTree>
    <p:extLst>
      <p:ext uri="{BB962C8B-B14F-4D97-AF65-F5344CB8AC3E}">
        <p14:creationId xmlns:p14="http://schemas.microsoft.com/office/powerpoint/2010/main" val="13034203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q-a-380-345">
            <a:extLst xmlns:a="http://schemas.openxmlformats.org/drawingml/2006/main">
              <a:ext uri="{FF2B5EF4-FFF2-40B4-BE49-F238E27FC236}">
                <a16:creationId xmlns:a16="http://schemas.microsoft.com/office/drawing/2014/main" id="{307D13EC-4651-4584-86C2-DDFCB799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86125"/>
            <a:ext cx="10001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rq-b-795-345">
            <a:extLst xmlns:a="http://schemas.openxmlformats.org/drawingml/2006/main">
              <a:ext uri="{FF2B5EF4-FFF2-40B4-BE49-F238E27FC236}">
                <a16:creationId xmlns:a16="http://schemas.microsoft.com/office/drawing/2014/main" id="{45ED9516-C455-4C1B-98CC-1FC701607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286125"/>
            <a:ext cx="10001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" name="rq-left-42-228">
            <a:extLst xmlns:a="http://schemas.openxmlformats.org/drawingml/2006/main">
              <a:ext uri="{FF2B5EF4-FFF2-40B4-BE49-F238E27FC236}">
                <a16:creationId xmlns:a16="http://schemas.microsoft.com/office/drawing/2014/main" id="{D90F95EF-C98E-4DF4-A71C-CEF6297E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32194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E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4" name="t-66-250-RQ-A">
            <a:extLst xmlns:a="http://schemas.openxmlformats.org/drawingml/2006/main">
              <a:ext uri="{FF2B5EF4-FFF2-40B4-BE49-F238E27FC236}">
                <a16:creationId xmlns:a16="http://schemas.microsoft.com/office/drawing/2014/main" id="{2253C130-7BA2-4C99-9CD2-5B52A95C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0"/>
            <a:ext cx="2762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RQ-A</a:t>
            </a:r>
          </a:p>
        </p:txBody>
      </p:sp>
      <p:sp>
        <p:nvSpPr>
          <p:cNvPr id="5" name="t-66-304-Can compiler">
            <a:extLst xmlns:a="http://schemas.openxmlformats.org/drawingml/2006/main">
              <a:ext uri="{FF2B5EF4-FFF2-40B4-BE49-F238E27FC236}">
                <a16:creationId xmlns:a16="http://schemas.microsoft.com/office/drawing/2014/main" id="{EABDBAC6-3C35-411E-8A84-15E3F1FA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95600"/>
            <a:ext cx="27622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2015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Can compiler-visible heap semantics reach the allocator without breaking supported source-level execution?</a:t>
            </a:r>
          </a:p>
        </p:txBody>
      </p:sp>
      <p:sp>
        <p:nvSpPr>
          <p:cNvPr id="6" name="rq-center-485-228">
            <a:extLst xmlns:a="http://schemas.openxmlformats.org/drawingml/2006/main">
              <a:ext uri="{FF2B5EF4-FFF2-40B4-BE49-F238E27FC236}">
                <a16:creationId xmlns:a16="http://schemas.microsoft.com/office/drawing/2014/main" id="{28C539DB-0352-4002-B330-C5557FEA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171700"/>
            <a:ext cx="2952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t-509-250-STABLE CONTR">
            <a:extLst xmlns:a="http://schemas.openxmlformats.org/drawingml/2006/main">
              <a:ext uri="{FF2B5EF4-FFF2-40B4-BE49-F238E27FC236}">
                <a16:creationId xmlns:a16="http://schemas.microsoft.com/office/drawing/2014/main" id="{6DF56B08-91EF-4600-B1A0-B313FC04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381250"/>
            <a:ext cx="2495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STABLE CONTRACT</a:t>
            </a:r>
          </a:p>
        </p:txBody>
      </p:sp>
      <p:sp>
        <p:nvSpPr>
          <p:cNvPr id="8" name="t-509-314-Optional met">
            <a:extLst xmlns:a="http://schemas.openxmlformats.org/drawingml/2006/main">
              <a:ext uri="{FF2B5EF4-FFF2-40B4-BE49-F238E27FC236}">
                <a16:creationId xmlns:a16="http://schemas.microsoft.com/office/drawing/2014/main" id="{BCA01804-4CEF-484A-B47E-12DDBFA4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990850"/>
            <a:ext cx="2495550" cy="100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Optional metadata
Explicit fallback
Versioned boundaries</a:t>
            </a:r>
          </a:p>
        </p:txBody>
      </p:sp>
      <p:sp>
        <p:nvSpPr>
          <p:cNvPr id="9" name="rq-right-900-228">
            <a:extLst xmlns:a="http://schemas.openxmlformats.org/drawingml/2006/main">
              <a:ext uri="{FF2B5EF4-FFF2-40B4-BE49-F238E27FC236}">
                <a16:creationId xmlns:a16="http://schemas.microsoft.com/office/drawing/2014/main" id="{B02458D6-21D5-4BB5-A3CC-5EB22DE9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71700"/>
            <a:ext cx="32194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EF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10" name="t-924-250-RQ-B">
            <a:extLst xmlns:a="http://schemas.openxmlformats.org/drawingml/2006/main">
              <a:ext uri="{FF2B5EF4-FFF2-40B4-BE49-F238E27FC236}">
                <a16:creationId xmlns:a16="http://schemas.microsoft.com/office/drawing/2014/main" id="{FE2627B6-29A7-4214-B19D-58E9375E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81250"/>
            <a:ext cx="2762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803D"/>
                </a:solidFill>
                <a:latin typeface="Helvetica Neue"/>
                <a:ea typeface="Helvetica Neue"/>
                <a:cs typeface="Helvetica Neue"/>
              </a:defRPr>
            </a:pPr>
            <a:r>
              <a:t>RQ-B</a:t>
            </a:r>
          </a:p>
        </p:txBody>
      </p:sp>
      <p:sp>
        <p:nvSpPr>
          <p:cNvPr id="11" name="t-924-304-Can the same">
            <a:extLst xmlns:a="http://schemas.openxmlformats.org/drawingml/2006/main">
              <a:ext uri="{FF2B5EF4-FFF2-40B4-BE49-F238E27FC236}">
                <a16:creationId xmlns:a16="http://schemas.microsoft.com/office/drawing/2014/main" id="{23F78F29-2674-4A6C-B2C4-F135971D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95600"/>
            <a:ext cx="27622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Can the same runtime policy survive changes in userspace, kernel, and constrained memory acquisition?</a:t>
            </a:r>
          </a:p>
        </p:txBody>
      </p:sp>
      <p:sp>
        <p:nvSpPr>
          <p:cNvPr id="12" name="t-42-548-H3 is a gene">
            <a:extLst xmlns:a="http://schemas.openxmlformats.org/drawingml/2006/main">
              <a:ext uri="{FF2B5EF4-FFF2-40B4-BE49-F238E27FC236}">
                <a16:creationId xmlns:a16="http://schemas.microsoft.com/office/drawing/2014/main" id="{C9C762A9-CB5A-4951-BAB9-7613A279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1391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H3 is a generality test for the interface—not independent proof of security benefit.</a:t>
            </a:r>
          </a:p>
        </p:txBody>
      </p:sp>
      <p:sp>
        <p:nvSpPr>
          <p:cNvPr id="13" name="t-42-30-RESEARCH QUE">
            <a:extLst xmlns:a="http://schemas.openxmlformats.org/drawingml/2006/main">
              <a:ext uri="{FF2B5EF4-FFF2-40B4-BE49-F238E27FC236}">
                <a16:creationId xmlns:a16="http://schemas.microsoft.com/office/drawing/2014/main" id="{CD77A417-BDFE-448C-AC2F-75124918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762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RESEARCH QUESTION</a:t>
            </a:r>
          </a:p>
        </p:txBody>
      </p:sp>
      <p:sp>
        <p:nvSpPr>
          <p:cNvPr id="14" name="t-42-58-Retargetabil">
            <a:extLst xmlns:a="http://schemas.openxmlformats.org/drawingml/2006/main">
              <a:ext uri="{FF2B5EF4-FFF2-40B4-BE49-F238E27FC236}">
                <a16:creationId xmlns:a16="http://schemas.microsoft.com/office/drawing/2014/main" id="{0D8777F8-E4B2-4712-BD1A-468642EB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Retargetability tests whether the semantic channel is a reusable contract rather than a point integration.</a:t>
            </a:r>
          </a:p>
        </p:txBody>
      </p:sp>
      <p:cxnSp>
        <p:nvCxnSpPr>
          <p:cNvPr id="32" name="footer-rule-42-674"/>
          <p:cNvCxnSpPr/>
          <p:nvPr/>
        </p:nvCxnSpPr>
        <p:spPr>
          <a:xfrm xmlns:a="http://schemas.openxmlformats.org/drawingml/2006/main">
            <a:off x="400050" y="641985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6" name="t-42-681-RESEARCH QUE">
            <a:extLst xmlns:a="http://schemas.openxmlformats.org/drawingml/2006/main">
              <a:ext uri="{FF2B5EF4-FFF2-40B4-BE49-F238E27FC236}">
                <a16:creationId xmlns:a16="http://schemas.microsoft.com/office/drawing/2014/main" id="{A1BD913A-EAD2-49AF-998E-DF2B174F6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4095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RESEARCH QUESTION</a:t>
            </a:r>
          </a:p>
        </p:txBody>
      </p:sp>
      <p:sp>
        <p:nvSpPr>
          <p:cNvPr id="17" name="t-1190-681-07">
            <a:extLst xmlns:a="http://schemas.openxmlformats.org/drawingml/2006/main">
              <a:ext uri="{FF2B5EF4-FFF2-40B4-BE49-F238E27FC236}">
                <a16:creationId xmlns:a16="http://schemas.microsoft.com/office/drawing/2014/main" id="{535FA80B-EBC0-46B6-8C6A-0F901CFD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091982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num-block-42-210">
            <a:extLst xmlns:a="http://schemas.openxmlformats.org/drawingml/2006/main">
              <a:ext uri="{FF2B5EF4-FFF2-40B4-BE49-F238E27FC236}">
                <a16:creationId xmlns:a16="http://schemas.microsoft.com/office/drawing/2014/main" id="{05B2B284-776C-4DEA-BE00-42047FB00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35623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7F7F7"/>
            </a:solidFill>
            <a:prstDash val="solid"/>
          </a:ln>
        </p:spPr>
      </p:sp>
      <p:sp>
        <p:nvSpPr>
          <p:cNvPr id="2" name="t-64-228-H1">
            <a:extLst xmlns:a="http://schemas.openxmlformats.org/drawingml/2006/main">
              <a:ext uri="{FF2B5EF4-FFF2-40B4-BE49-F238E27FC236}">
                <a16:creationId xmlns:a16="http://schemas.microsoft.com/office/drawing/2014/main" id="{64B40442-F1A1-4DCF-9140-62B1F4BE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666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H1</a:t>
            </a:r>
          </a:p>
        </p:txBody>
      </p:sp>
      <p:sp>
        <p:nvSpPr>
          <p:cNvPr id="3" name="t-64-288-Semantic ava">
            <a:extLst xmlns:a="http://schemas.openxmlformats.org/drawingml/2006/main">
              <a:ext uri="{FF2B5EF4-FFF2-40B4-BE49-F238E27FC236}">
                <a16:creationId xmlns:a16="http://schemas.microsoft.com/office/drawing/2014/main" id="{A30E652A-6C9A-4318-AD85-B6ED3A63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3143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Semantic availability</a:t>
            </a:r>
          </a:p>
        </p:txBody>
      </p:sp>
      <p:sp>
        <p:nvSpPr>
          <p:cNvPr id="4" name="t-64-338-Supported co">
            <a:extLst xmlns:a="http://schemas.openxmlformats.org/drawingml/2006/main">
              <a:ext uri="{FF2B5EF4-FFF2-40B4-BE49-F238E27FC236}">
                <a16:creationId xmlns:a16="http://schemas.microsoft.com/office/drawing/2014/main" id="{B321B56E-A6E5-4FA6-933D-2503E054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3143250" cy="1847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Supported common paths produce trusted semantics without source annotations; unknown paths preserve execution through fallback.</a:t>
            </a:r>
          </a:p>
        </p:txBody>
      </p:sp>
      <p:sp>
        <p:nvSpPr>
          <p:cNvPr id="5" name="num-block-453-210">
            <a:extLst xmlns:a="http://schemas.openxmlformats.org/drawingml/2006/main">
              <a:ext uri="{FF2B5EF4-FFF2-40B4-BE49-F238E27FC236}">
                <a16:creationId xmlns:a16="http://schemas.microsoft.com/office/drawing/2014/main" id="{C7FCCCDF-4E9C-466C-AB17-6A59A38F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00250"/>
            <a:ext cx="35623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7F7F7"/>
            </a:solidFill>
            <a:prstDash val="solid"/>
          </a:ln>
        </p:spPr>
      </p:sp>
      <p:sp>
        <p:nvSpPr>
          <p:cNvPr id="6" name="t-475-228-H2">
            <a:extLst xmlns:a="http://schemas.openxmlformats.org/drawingml/2006/main">
              <a:ext uri="{FF2B5EF4-FFF2-40B4-BE49-F238E27FC236}">
                <a16:creationId xmlns:a16="http://schemas.microsoft.com/office/drawing/2014/main" id="{DB8FC206-C767-455D-9AB3-836065C43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71700"/>
            <a:ext cx="666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5803D"/>
                </a:solidFill>
                <a:latin typeface="Helvetica Neue"/>
                <a:ea typeface="Helvetica Neue"/>
                <a:cs typeface="Helvetica Neue"/>
              </a:defRPr>
            </a:pPr>
            <a:r>
              <a:t>H2</a:t>
            </a:r>
          </a:p>
        </p:txBody>
      </p:sp>
      <p:sp>
        <p:nvSpPr>
          <p:cNvPr id="7" name="t-475-288-Policy usefu">
            <a:extLst xmlns:a="http://schemas.openxmlformats.org/drawingml/2006/main">
              <a:ext uri="{FF2B5EF4-FFF2-40B4-BE49-F238E27FC236}">
                <a16:creationId xmlns:a16="http://schemas.microsoft.com/office/drawing/2014/main" id="{E9513752-8452-409F-AC51-DD8555B5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743200"/>
            <a:ext cx="3143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Policy usefulness</a:t>
            </a:r>
          </a:p>
        </p:txBody>
      </p:sp>
      <p:sp>
        <p:nvSpPr>
          <p:cNvPr id="8" name="t-475-338-At least one">
            <a:extLst xmlns:a="http://schemas.openxmlformats.org/drawingml/2006/main">
              <a:ext uri="{FF2B5EF4-FFF2-40B4-BE49-F238E27FC236}">
                <a16:creationId xmlns:a16="http://schemas.microsoft.com/office/drawing/2014/main" id="{4460BF45-E581-4E7C-9D2A-9AC724023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219450"/>
            <a:ext cx="3143250" cy="1847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At least one representative policy changes allocator behavior with measurable cost and explicit boundaries.</a:t>
            </a:r>
          </a:p>
        </p:txBody>
      </p:sp>
      <p:sp>
        <p:nvSpPr>
          <p:cNvPr id="9" name="num-block-864-210">
            <a:extLst xmlns:a="http://schemas.openxmlformats.org/drawingml/2006/main">
              <a:ext uri="{FF2B5EF4-FFF2-40B4-BE49-F238E27FC236}">
                <a16:creationId xmlns:a16="http://schemas.microsoft.com/office/drawing/2014/main" id="{AFE23CA8-9843-43B8-812D-330BCF37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00250"/>
            <a:ext cx="35623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7F7F7"/>
            </a:solidFill>
            <a:prstDash val="solid"/>
          </a:ln>
        </p:spPr>
      </p:sp>
      <p:sp>
        <p:nvSpPr>
          <p:cNvPr id="10" name="t-886-228-H3">
            <a:extLst xmlns:a="http://schemas.openxmlformats.org/drawingml/2006/main">
              <a:ext uri="{FF2B5EF4-FFF2-40B4-BE49-F238E27FC236}">
                <a16:creationId xmlns:a16="http://schemas.microsoft.com/office/drawing/2014/main" id="{5A1962B3-93F5-4EED-B98D-40FDCCAF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71700"/>
            <a:ext cx="666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defRPr>
            </a:pPr>
            <a:r>
              <a:t>H3</a:t>
            </a:r>
          </a:p>
        </p:txBody>
      </p:sp>
      <p:sp>
        <p:nvSpPr>
          <p:cNvPr id="11" name="t-886-288-Retargetabil">
            <a:extLst xmlns:a="http://schemas.openxmlformats.org/drawingml/2006/main">
              <a:ext uri="{FF2B5EF4-FFF2-40B4-BE49-F238E27FC236}">
                <a16:creationId xmlns:a16="http://schemas.microsoft.com/office/drawing/2014/main" id="{5D030EB9-139A-49FC-A9AE-2A7482E4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43200"/>
            <a:ext cx="3143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Retargetability</a:t>
            </a:r>
          </a:p>
        </p:txBody>
      </p:sp>
      <p:sp>
        <p:nvSpPr>
          <p:cNvPr id="12" name="t-886-338-Policy, cach">
            <a:extLst xmlns:a="http://schemas.openxmlformats.org/drawingml/2006/main">
              <a:ext uri="{FF2B5EF4-FFF2-40B4-BE49-F238E27FC236}">
                <a16:creationId xmlns:a16="http://schemas.microsoft.com/office/drawing/2014/main" id="{D074ECDD-2C8B-4F22-9137-948DD011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19450"/>
            <a:ext cx="3143250" cy="1847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Policy, cache/backend, metadata, and PAL boundaries can be reused across heterogeneous targets.</a:t>
            </a:r>
          </a:p>
        </p:txBody>
      </p:sp>
      <p:sp>
        <p:nvSpPr>
          <p:cNvPr id="13" name="t-42-586-Each section">
            <a:extLst xmlns:a="http://schemas.openxmlformats.org/drawingml/2006/main">
              <a:ext uri="{FF2B5EF4-FFF2-40B4-BE49-F238E27FC236}">
                <a16:creationId xmlns:a16="http://schemas.microsoft.com/office/drawing/2014/main" id="{BB54A49F-9DDC-402F-A41B-F780B4031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81650"/>
            <a:ext cx="11391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Each section ends with: Supports / Does not establish</a:t>
            </a:r>
          </a:p>
        </p:txBody>
      </p:sp>
      <p:sp>
        <p:nvSpPr>
          <p:cNvPr id="14" name="t-42-30-RESEARCH CRI">
            <a:extLst xmlns:a="http://schemas.openxmlformats.org/drawingml/2006/main">
              <a:ext uri="{FF2B5EF4-FFF2-40B4-BE49-F238E27FC236}">
                <a16:creationId xmlns:a16="http://schemas.microsoft.com/office/drawing/2014/main" id="{0AF4D038-8D74-4E6F-8E34-8D2C41B1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762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RESEARCH CRITERIA</a:t>
            </a:r>
          </a:p>
        </p:txBody>
      </p:sp>
      <p:sp>
        <p:nvSpPr>
          <p:cNvPr id="15" name="t-42-58-Three hypoth">
            <a:extLst xmlns:a="http://schemas.openxmlformats.org/drawingml/2006/main">
              <a:ext uri="{FF2B5EF4-FFF2-40B4-BE49-F238E27FC236}">
                <a16:creationId xmlns:a16="http://schemas.microsoft.com/office/drawing/2014/main" id="{31FCF06F-3EFA-4C95-82AF-32E93441F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Three hypotheses make the thesis falsifiable.</a:t>
            </a:r>
          </a:p>
        </p:txBody>
      </p:sp>
      <p:cxnSp>
        <p:nvCxnSpPr>
          <p:cNvPr id="34" name="footer-rule-42-674"/>
          <p:cNvCxnSpPr/>
          <p:nvPr/>
        </p:nvCxnSpPr>
        <p:spPr>
          <a:xfrm xmlns:a="http://schemas.openxmlformats.org/drawingml/2006/main">
            <a:off x="400050" y="641985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7" name="t-42-681-RESEARCH CRI">
            <a:extLst xmlns:a="http://schemas.openxmlformats.org/drawingml/2006/main">
              <a:ext uri="{FF2B5EF4-FFF2-40B4-BE49-F238E27FC236}">
                <a16:creationId xmlns:a16="http://schemas.microsoft.com/office/drawing/2014/main" id="{F5358F79-730A-4DAD-94CB-FA808A91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4095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RESEARCH CRITERIA</a:t>
            </a:r>
          </a:p>
        </p:txBody>
      </p:sp>
      <p:sp>
        <p:nvSpPr>
          <p:cNvPr id="18" name="t-1190-681-08">
            <a:extLst xmlns:a="http://schemas.openxmlformats.org/drawingml/2006/main">
              <a:ext uri="{FF2B5EF4-FFF2-40B4-BE49-F238E27FC236}">
                <a16:creationId xmlns:a16="http://schemas.microsoft.com/office/drawing/2014/main" id="{E06F22B2-4495-48B2-B654-FCE38916D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009292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num-block-42-220">
            <a:extLst xmlns:a="http://schemas.openxmlformats.org/drawingml/2006/main">
              <a:ext uri="{FF2B5EF4-FFF2-40B4-BE49-F238E27FC236}">
                <a16:creationId xmlns:a16="http://schemas.microsoft.com/office/drawing/2014/main" id="{2A154464-1E3C-40B0-A927-0BEA0838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35623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7F7F7"/>
            </a:solidFill>
            <a:prstDash val="solid"/>
          </a:ln>
        </p:spPr>
      </p:sp>
      <p:sp>
        <p:nvSpPr>
          <p:cNvPr id="2" name="t-64-238-01">
            <a:extLst xmlns:a="http://schemas.openxmlformats.org/drawingml/2006/main">
              <a:ext uri="{FF2B5EF4-FFF2-40B4-BE49-F238E27FC236}">
                <a16:creationId xmlns:a16="http://schemas.microsoft.com/office/drawing/2014/main" id="{C42C11FA-0B77-478E-BD7C-035C1DF6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666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sp>
        <p:nvSpPr>
          <p:cNvPr id="3" name="t-64-298-Semantic all">
            <a:extLst xmlns:a="http://schemas.openxmlformats.org/drawingml/2006/main">
              <a:ext uri="{FF2B5EF4-FFF2-40B4-BE49-F238E27FC236}">
                <a16:creationId xmlns:a16="http://schemas.microsoft.com/office/drawing/2014/main" id="{B990C2E5-A6F6-4DED-9A51-18A3F934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3143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Semantic allocation API</a:t>
            </a:r>
          </a:p>
        </p:txBody>
      </p:sp>
      <p:sp>
        <p:nvSpPr>
          <p:cNvPr id="4" name="t-64-348-Optional met">
            <a:extLst xmlns:a="http://schemas.openxmlformats.org/drawingml/2006/main">
              <a:ext uri="{FF2B5EF4-FFF2-40B4-BE49-F238E27FC236}">
                <a16:creationId xmlns:a16="http://schemas.microsoft.com/office/drawing/2014/main" id="{E2468B2B-07B0-4EEC-9116-CBE7E67E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314325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Optional metadata augments alloc / realloc / dealloc while retaining the conventional path.</a:t>
            </a:r>
          </a:p>
        </p:txBody>
      </p:sp>
      <p:sp>
        <p:nvSpPr>
          <p:cNvPr id="5" name="num-block-453-220">
            <a:extLst xmlns:a="http://schemas.openxmlformats.org/drawingml/2006/main">
              <a:ext uri="{FF2B5EF4-FFF2-40B4-BE49-F238E27FC236}">
                <a16:creationId xmlns:a16="http://schemas.microsoft.com/office/drawing/2014/main" id="{C2C2450A-C53E-4B83-A7D6-048334E8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95500"/>
            <a:ext cx="35623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7F7F7"/>
            </a:solidFill>
            <a:prstDash val="solid"/>
          </a:ln>
        </p:spPr>
      </p:sp>
      <p:sp>
        <p:nvSpPr>
          <p:cNvPr id="6" name="t-475-238-02">
            <a:extLst xmlns:a="http://schemas.openxmlformats.org/drawingml/2006/main">
              <a:ext uri="{FF2B5EF4-FFF2-40B4-BE49-F238E27FC236}">
                <a16:creationId xmlns:a16="http://schemas.microsoft.com/office/drawing/2014/main" id="{FC3BD17A-9757-45CE-9A55-45641CE07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66950"/>
            <a:ext cx="666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5803D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7" name="t-475-298-Compiler-ass">
            <a:extLst xmlns:a="http://schemas.openxmlformats.org/drawingml/2006/main">
              <a:ext uri="{FF2B5EF4-FFF2-40B4-BE49-F238E27FC236}">
                <a16:creationId xmlns:a16="http://schemas.microsoft.com/office/drawing/2014/main" id="{C265FDF3-5968-4CC0-9A2E-99193F0A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838450"/>
            <a:ext cx="3143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Compiler-assisted extraction</a:t>
            </a:r>
          </a:p>
        </p:txBody>
      </p:sp>
      <p:sp>
        <p:nvSpPr>
          <p:cNvPr id="8" name="t-475-348-Optimized MI">
            <a:extLst xmlns:a="http://schemas.openxmlformats.org/drawingml/2006/main">
              <a:ext uri="{FF2B5EF4-FFF2-40B4-BE49-F238E27FC236}">
                <a16:creationId xmlns:a16="http://schemas.microsoft.com/office/drawing/2014/main" id="{45AFC427-6C34-4D9F-A12C-7FB855457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314700"/>
            <a:ext cx="314325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Optimized MIR rewrites common Rust ownership paths and emits metadata automatically.</a:t>
            </a:r>
          </a:p>
        </p:txBody>
      </p:sp>
      <p:sp>
        <p:nvSpPr>
          <p:cNvPr id="9" name="num-block-864-220">
            <a:extLst xmlns:a="http://schemas.openxmlformats.org/drawingml/2006/main">
              <a:ext uri="{FF2B5EF4-FFF2-40B4-BE49-F238E27FC236}">
                <a16:creationId xmlns:a16="http://schemas.microsoft.com/office/drawing/2014/main" id="{4DC6A220-B4E2-4FBD-9759-3E9B333D7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0"/>
            <a:ext cx="35623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7F7F7"/>
            </a:solidFill>
            <a:prstDash val="solid"/>
          </a:ln>
        </p:spPr>
      </p:sp>
      <p:sp>
        <p:nvSpPr>
          <p:cNvPr id="10" name="t-886-238-03">
            <a:extLst xmlns:a="http://schemas.openxmlformats.org/drawingml/2006/main">
              <a:ext uri="{FF2B5EF4-FFF2-40B4-BE49-F238E27FC236}">
                <a16:creationId xmlns:a16="http://schemas.microsoft.com/office/drawing/2014/main" id="{69574AD7-8049-4496-972C-F9A06287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66950"/>
            <a:ext cx="666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11" name="t-886-298-Retargetable">
            <a:extLst xmlns:a="http://schemas.openxmlformats.org/drawingml/2006/main">
              <a:ext uri="{FF2B5EF4-FFF2-40B4-BE49-F238E27FC236}">
                <a16:creationId xmlns:a16="http://schemas.microsoft.com/office/drawing/2014/main" id="{222F98B2-4253-43E1-A8D3-0A763A65E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38450"/>
            <a:ext cx="3143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Retargetable runtime</a:t>
            </a:r>
          </a:p>
        </p:txBody>
      </p:sp>
      <p:sp>
        <p:nvSpPr>
          <p:cNvPr id="12" name="t-886-348-Policy remai">
            <a:extLst xmlns:a="http://schemas.openxmlformats.org/drawingml/2006/main">
              <a:ext uri="{FF2B5EF4-FFF2-40B4-BE49-F238E27FC236}">
                <a16:creationId xmlns:a16="http://schemas.microsoft.com/office/drawing/2014/main" id="{D7EFA8A1-4A7C-4123-B3AF-E18F3592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14700"/>
            <a:ext cx="314325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Policy remains above cache/zone/backend/PAL mechanisms and target-specific memory acquisition.</a:t>
            </a:r>
          </a:p>
        </p:txBody>
      </p:sp>
      <p:sp>
        <p:nvSpPr>
          <p:cNvPr id="13" name="t-42-580-Type isolati">
            <a:extLst xmlns:a="http://schemas.openxmlformats.org/drawingml/2006/main">
              <a:ext uri="{FF2B5EF4-FFF2-40B4-BE49-F238E27FC236}">
                <a16:creationId xmlns:a16="http://schemas.microsoft.com/office/drawing/2014/main" id="{04399A9A-12FE-4DB7-B5EB-76D2CE8D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11391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Type isolation, PAC, hugepages, and metadata segregation are case studies—not four separate theses.</a:t>
            </a:r>
          </a:p>
        </p:txBody>
      </p:sp>
      <p:sp>
        <p:nvSpPr>
          <p:cNvPr id="14" name="t-42-30-CONTRIBUTION">
            <a:extLst xmlns:a="http://schemas.openxmlformats.org/drawingml/2006/main">
              <a:ext uri="{FF2B5EF4-FFF2-40B4-BE49-F238E27FC236}">
                <a16:creationId xmlns:a16="http://schemas.microsoft.com/office/drawing/2014/main" id="{D6F93D31-23CF-4124-ACBA-0723A649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762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CONTRIBUTIONS</a:t>
            </a:r>
          </a:p>
        </p:txBody>
      </p:sp>
      <p:sp>
        <p:nvSpPr>
          <p:cNvPr id="15" name="t-42-58-UniAlloc ans">
            <a:extLst xmlns:a="http://schemas.openxmlformats.org/drawingml/2006/main">
              <a:ext uri="{FF2B5EF4-FFF2-40B4-BE49-F238E27FC236}">
                <a16:creationId xmlns:a16="http://schemas.microsoft.com/office/drawing/2014/main" id="{B39F2127-2B12-4348-B1A5-CEC55EF2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UniAlloc answers with an API, compiler extraction, and a reusable runtime.</a:t>
            </a:r>
          </a:p>
        </p:txBody>
      </p:sp>
      <p:cxnSp>
        <p:nvCxnSpPr>
          <p:cNvPr id="34" name="footer-rule-42-674"/>
          <p:cNvCxnSpPr/>
          <p:nvPr/>
        </p:nvCxnSpPr>
        <p:spPr>
          <a:xfrm xmlns:a="http://schemas.openxmlformats.org/drawingml/2006/main">
            <a:off x="400050" y="641985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7" name="t-42-681-CONTRIBUTION">
            <a:extLst xmlns:a="http://schemas.openxmlformats.org/drawingml/2006/main">
              <a:ext uri="{FF2B5EF4-FFF2-40B4-BE49-F238E27FC236}">
                <a16:creationId xmlns:a16="http://schemas.microsoft.com/office/drawing/2014/main" id="{FEC4C9C1-253E-4505-BE66-38AAC786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4095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CONTRIBUTIONS</a:t>
            </a:r>
          </a:p>
        </p:txBody>
      </p:sp>
      <p:sp>
        <p:nvSpPr>
          <p:cNvPr id="18" name="t-1190-681-09">
            <a:extLst xmlns:a="http://schemas.openxmlformats.org/drawingml/2006/main">
              <a:ext uri="{FF2B5EF4-FFF2-40B4-BE49-F238E27FC236}">
                <a16:creationId xmlns:a16="http://schemas.microsoft.com/office/drawing/2014/main" id="{C0DA1198-A6C1-4FD6-A341-DC2AEBEC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137195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ttacker-42-184">
            <a:extLst xmlns:a="http://schemas.openxmlformats.org/drawingml/2006/main">
              <a:ext uri="{FF2B5EF4-FFF2-40B4-BE49-F238E27FC236}">
                <a16:creationId xmlns:a16="http://schemas.microsoft.com/office/drawing/2014/main" id="{B0B024FA-328E-4873-89E3-A090EBDD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33337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" name="t-66-208-ATTACKER CAN">
            <a:extLst xmlns:a="http://schemas.openxmlformats.org/drawingml/2006/main">
              <a:ext uri="{FF2B5EF4-FFF2-40B4-BE49-F238E27FC236}">
                <a16:creationId xmlns:a16="http://schemas.microsoft.com/office/drawing/2014/main" id="{A3FB0137-115D-48A2-84A1-22147236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81200"/>
            <a:ext cx="2876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ATTACKER CAN</a:t>
            </a:r>
          </a:p>
        </p:txBody>
      </p:sp>
      <p:sp>
        <p:nvSpPr>
          <p:cNvPr id="3" name="t-66-260-• trigger a">
            <a:extLst xmlns:a="http://schemas.openxmlformats.org/drawingml/2006/main">
              <a:ext uri="{FF2B5EF4-FFF2-40B4-BE49-F238E27FC236}">
                <a16:creationId xmlns:a16="http://schemas.microsoft.com/office/drawing/2014/main" id="{DF801B5B-FE84-4A13-9A90-D5181DBE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0"/>
            <a:ext cx="2876550" cy="1390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• trigger a temporal bug
• groom same-size heap slots
• influence allocation order</a:t>
            </a:r>
          </a:p>
        </p:txBody>
      </p:sp>
      <p:sp>
        <p:nvSpPr>
          <p:cNvPr id="4" name="t-66-524-Outside the">
            <a:extLst xmlns:a="http://schemas.openxmlformats.org/drawingml/2006/main">
              <a:ext uri="{FF2B5EF4-FFF2-40B4-BE49-F238E27FC236}">
                <a16:creationId xmlns:a16="http://schemas.microsoft.com/office/drawing/2014/main" id="{50DC9FA3-4482-44ED-9E7C-0FBE545D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91100"/>
            <a:ext cx="2876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Outside the TCB</a:t>
            </a:r>
          </a:p>
        </p:txBody>
      </p:sp>
      <p:sp>
        <p:nvSpPr>
          <p:cNvPr id="5" name="protects-438-184">
            <a:extLst xmlns:a="http://schemas.openxmlformats.org/drawingml/2006/main">
              <a:ext uri="{FF2B5EF4-FFF2-40B4-BE49-F238E27FC236}">
                <a16:creationId xmlns:a16="http://schemas.microsoft.com/office/drawing/2014/main" id="{C4B874CE-72F8-4183-9DB4-7C975386F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752600"/>
            <a:ext cx="33337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EF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6" name="t-462-208-LIMITED GUAR">
            <a:extLst xmlns:a="http://schemas.openxmlformats.org/drawingml/2006/main">
              <a:ext uri="{FF2B5EF4-FFF2-40B4-BE49-F238E27FC236}">
                <a16:creationId xmlns:a16="http://schemas.microsoft.com/office/drawing/2014/main" id="{1895767A-AAC7-4C9B-B7E4-C98246D2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81200"/>
            <a:ext cx="2876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803D"/>
                </a:solidFill>
                <a:latin typeface="Helvetica Neue"/>
                <a:ea typeface="Helvetica Neue"/>
                <a:cs typeface="Helvetica Neue"/>
              </a:defRPr>
            </a:pPr>
            <a:r>
              <a:t>LIMITED GUARANTEE</a:t>
            </a:r>
          </a:p>
        </p:txBody>
      </p:sp>
      <p:sp>
        <p:nvSpPr>
          <p:cNvPr id="7" name="t-462-260-For covered">
            <a:extLst xmlns:a="http://schemas.openxmlformats.org/drawingml/2006/main">
              <a:ext uri="{FF2B5EF4-FFF2-40B4-BE49-F238E27FC236}">
                <a16:creationId xmlns:a16="http://schemas.microsoft.com/office/drawing/2014/main" id="{3BB23E62-4837-42C9-8521-2EE2556F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76500"/>
            <a:ext cx="2876550" cy="1390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For covered requests with distinct trusted exact identities, ordinary cross-class reuse is separated.</a:t>
            </a:r>
          </a:p>
        </p:txBody>
      </p:sp>
      <p:sp>
        <p:nvSpPr>
          <p:cNvPr id="8" name="t-462-472-Exact identi">
            <a:extLst xmlns:a="http://schemas.openxmlformats.org/drawingml/2006/main">
              <a:ext uri="{FF2B5EF4-FFF2-40B4-BE49-F238E27FC236}">
                <a16:creationId xmlns:a16="http://schemas.microsoft.com/office/drawing/2014/main" id="{3F82FF3A-800A-46BD-83B5-F77858E7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95800"/>
            <a:ext cx="28765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803D"/>
                </a:solidFill>
                <a:latin typeface="Helvetica Neue"/>
                <a:ea typeface="Helvetica Neue"/>
                <a:cs typeface="Helvetica Neue"/>
              </a:defRPr>
            </a:pPr>
            <a:r>
              <a:t>Exact identity check follows the internal lookup key.</a:t>
            </a:r>
          </a:p>
        </p:txBody>
      </p:sp>
      <p:sp>
        <p:nvSpPr>
          <p:cNvPr id="9" name="non-goals-834-184">
            <a:extLst xmlns:a="http://schemas.openxmlformats.org/drawingml/2006/main">
              <a:ext uri="{FF2B5EF4-FFF2-40B4-BE49-F238E27FC236}">
                <a16:creationId xmlns:a16="http://schemas.microsoft.com/office/drawing/2014/main" id="{4463475B-C1E8-4599-8A09-581132CF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752600"/>
            <a:ext cx="38481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10" name="t-858-208-DOES NOT COV">
            <a:extLst xmlns:a="http://schemas.openxmlformats.org/drawingml/2006/main">
              <a:ext uri="{FF2B5EF4-FFF2-40B4-BE49-F238E27FC236}">
                <a16:creationId xmlns:a16="http://schemas.microsoft.com/office/drawing/2014/main" id="{90FE3B6B-91FB-44F2-A8E8-DAD3ADA0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3390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DOES NOT COVER</a:t>
            </a:r>
          </a:p>
        </p:txBody>
      </p:sp>
      <p:sp>
        <p:nvSpPr>
          <p:cNvPr id="11" name="t-858-260-• same-type">
            <a:extLst xmlns:a="http://schemas.openxmlformats.org/drawingml/2006/main">
              <a:ext uri="{FF2B5EF4-FFF2-40B4-BE49-F238E27FC236}">
                <a16:creationId xmlns:a16="http://schemas.microsoft.com/office/drawing/2014/main" id="{6EAE8AF7-CC35-41FA-84D8-96B8A32C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76500"/>
            <a:ext cx="3390900" cy="228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• same-type reuse
• identical or spoofed metadata
• compiler type-ID collision
• fallback / custom allocators
• allocator-metadata corruption</a:t>
            </a:r>
          </a:p>
        </p:txBody>
      </p:sp>
      <p:sp>
        <p:nvSpPr>
          <p:cNvPr id="12" name="t-42-30-H1 • TRUST B">
            <a:extLst xmlns:a="http://schemas.openxmlformats.org/drawingml/2006/main">
              <a:ext uri="{FF2B5EF4-FFF2-40B4-BE49-F238E27FC236}">
                <a16:creationId xmlns:a16="http://schemas.microsoft.com/office/drawing/2014/main" id="{A862FC76-8880-4050-872A-55EDAC44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762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H1 • TRUST BOUNDARY</a:t>
            </a:r>
          </a:p>
        </p:txBody>
      </p:sp>
      <p:sp>
        <p:nvSpPr>
          <p:cNvPr id="13" name="t-42-58-The security">
            <a:extLst xmlns:a="http://schemas.openxmlformats.org/drawingml/2006/main">
              <a:ext uri="{FF2B5EF4-FFF2-40B4-BE49-F238E27FC236}">
                <a16:creationId xmlns:a16="http://schemas.microsoft.com/office/drawing/2014/main" id="{3ADA4BE3-423C-46F1-A0EF-E82CFEB0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security scope trusts compiler/runtime metadata and separates only covered cross-class reuse.</a:t>
            </a:r>
          </a:p>
        </p:txBody>
      </p:sp>
      <p:cxnSp>
        <p:nvCxnSpPr>
          <p:cNvPr id="30" name="footer-rule-42-674"/>
          <p:cNvCxnSpPr/>
          <p:nvPr/>
        </p:nvCxnSpPr>
        <p:spPr>
          <a:xfrm xmlns:a="http://schemas.openxmlformats.org/drawingml/2006/main">
            <a:off x="400050" y="641985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5" name="t-42-681-H1 • TRUST B">
            <a:extLst xmlns:a="http://schemas.openxmlformats.org/drawingml/2006/main">
              <a:ext uri="{FF2B5EF4-FFF2-40B4-BE49-F238E27FC236}">
                <a16:creationId xmlns:a16="http://schemas.microsoft.com/office/drawing/2014/main" id="{D3CF5B9D-3DCC-47D7-BEC7-39E530FD0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4095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H1 • TRUST BOUNDARY</a:t>
            </a:r>
          </a:p>
        </p:txBody>
      </p:sp>
      <p:sp>
        <p:nvSpPr>
          <p:cNvPr id="16" name="t-1190-681-10">
            <a:extLst xmlns:a="http://schemas.openxmlformats.org/drawingml/2006/main">
              <a:ext uri="{FF2B5EF4-FFF2-40B4-BE49-F238E27FC236}">
                <a16:creationId xmlns:a16="http://schemas.microsoft.com/office/drawing/2014/main" id="{C0784FDD-E43C-4F89-B94C-422C2D6D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501423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ane-a-360-273">
            <a:extLst xmlns:a="http://schemas.openxmlformats.org/drawingml/2006/main">
              <a:ext uri="{FF2B5EF4-FFF2-40B4-BE49-F238E27FC236}">
                <a16:creationId xmlns:a16="http://schemas.microsoft.com/office/drawing/2014/main" id="{2D03B42A-0C3F-4430-BEBD-08C4CBEC5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00325"/>
            <a:ext cx="10477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" name="lane-b-810-273">
            <a:extLst xmlns:a="http://schemas.openxmlformats.org/drawingml/2006/main">
              <a:ext uri="{FF2B5EF4-FFF2-40B4-BE49-F238E27FC236}">
                <a16:creationId xmlns:a16="http://schemas.microsoft.com/office/drawing/2014/main" id="{0502303B-3D2C-4BE8-9474-09BAC2F6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00325"/>
            <a:ext cx="10477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lane-c-360-403">
            <a:extLst xmlns:a="http://schemas.openxmlformats.org/drawingml/2006/main">
              <a:ext uri="{FF2B5EF4-FFF2-40B4-BE49-F238E27FC236}">
                <a16:creationId xmlns:a16="http://schemas.microsoft.com/office/drawing/2014/main" id="{C9C63463-40CF-493F-87A1-B9F2F29AB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38575"/>
            <a:ext cx="10477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lane-d-810-403">
            <a:extLst xmlns:a="http://schemas.openxmlformats.org/drawingml/2006/main">
              <a:ext uri="{FF2B5EF4-FFF2-40B4-BE49-F238E27FC236}">
                <a16:creationId xmlns:a16="http://schemas.microsoft.com/office/drawing/2014/main" id="{37048677-B08F-414C-A1D0-57C01760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38575"/>
            <a:ext cx="10477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lane-42-208">
            <a:extLst xmlns:a="http://schemas.openxmlformats.org/drawingml/2006/main">
              <a:ext uri="{FF2B5EF4-FFF2-40B4-BE49-F238E27FC236}">
                <a16:creationId xmlns:a16="http://schemas.microsoft.com/office/drawing/2014/main" id="{985D41CC-2F69-4988-B8EF-060211E1E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81200"/>
            <a:ext cx="30289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E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6" name="t-66-228-COMPILER">
            <a:extLst xmlns:a="http://schemas.openxmlformats.org/drawingml/2006/main">
              <a:ext uri="{FF2B5EF4-FFF2-40B4-BE49-F238E27FC236}">
                <a16:creationId xmlns:a16="http://schemas.microsoft.com/office/drawing/2014/main" id="{433F6733-DE8A-449D-B717-BA37F9C6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71700"/>
            <a:ext cx="2571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COMPILER</a:t>
            </a:r>
          </a:p>
        </p:txBody>
      </p:sp>
      <p:sp>
        <p:nvSpPr>
          <p:cNvPr id="7" name="t-66-270-type • modul">
            <a:extLst xmlns:a="http://schemas.openxmlformats.org/drawingml/2006/main">
              <a:ext uri="{FF2B5EF4-FFF2-40B4-BE49-F238E27FC236}">
                <a16:creationId xmlns:a16="http://schemas.microsoft.com/office/drawing/2014/main" id="{58D635FD-F13A-4BDD-9B6A-8EF9F8A88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2571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type • module • hints</a:t>
            </a:r>
          </a:p>
        </p:txBody>
      </p:sp>
      <p:sp>
        <p:nvSpPr>
          <p:cNvPr id="8" name="lane-470-208">
            <a:extLst xmlns:a="http://schemas.openxmlformats.org/drawingml/2006/main">
              <a:ext uri="{FF2B5EF4-FFF2-40B4-BE49-F238E27FC236}">
                <a16:creationId xmlns:a16="http://schemas.microsoft.com/office/drawing/2014/main" id="{E5D23D4E-C80D-4EBB-925B-67A024D4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81200"/>
            <a:ext cx="3238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t-494-228-SEMANTIC API">
            <a:extLst xmlns:a="http://schemas.openxmlformats.org/drawingml/2006/main">
              <a:ext uri="{FF2B5EF4-FFF2-40B4-BE49-F238E27FC236}">
                <a16:creationId xmlns:a16="http://schemas.microsoft.com/office/drawing/2014/main" id="{52C99B5C-1B1C-440A-888C-E935EB59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71700"/>
            <a:ext cx="2781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SEMANTIC API</a:t>
            </a:r>
          </a:p>
        </p:txBody>
      </p:sp>
      <p:sp>
        <p:nvSpPr>
          <p:cNvPr id="10" name="t-494-270-alloc • real">
            <a:extLst xmlns:a="http://schemas.openxmlformats.org/drawingml/2006/main">
              <a:ext uri="{FF2B5EF4-FFF2-40B4-BE49-F238E27FC236}">
                <a16:creationId xmlns:a16="http://schemas.microsoft.com/office/drawing/2014/main" id="{0BDF2C26-D250-41BB-B099-97D3AAE7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571750"/>
            <a:ext cx="2781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alloc • realloc • dealloc</a:t>
            </a:r>
          </a:p>
        </p:txBody>
      </p:sp>
      <p:sp>
        <p:nvSpPr>
          <p:cNvPr id="11" name="lane-920-208">
            <a:extLst xmlns:a="http://schemas.openxmlformats.org/drawingml/2006/main">
              <a:ext uri="{FF2B5EF4-FFF2-40B4-BE49-F238E27FC236}">
                <a16:creationId xmlns:a16="http://schemas.microsoft.com/office/drawing/2014/main" id="{EFC0C74A-52E1-4B15-B90B-3DD8D394B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81200"/>
            <a:ext cx="30289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EF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12" name="t-944-228-POLICY">
            <a:extLst xmlns:a="http://schemas.openxmlformats.org/drawingml/2006/main">
              <a:ext uri="{FF2B5EF4-FFF2-40B4-BE49-F238E27FC236}">
                <a16:creationId xmlns:a16="http://schemas.microsoft.com/office/drawing/2014/main" id="{06819DF0-76BC-443C-99AF-F0D62E64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71700"/>
            <a:ext cx="2571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803D"/>
                </a:solidFill>
                <a:latin typeface="Helvetica Neue"/>
                <a:ea typeface="Helvetica Neue"/>
                <a:cs typeface="Helvetica Neue"/>
              </a:defRPr>
            </a:pPr>
            <a:r>
              <a:t>POLICY</a:t>
            </a:r>
          </a:p>
        </p:txBody>
      </p:sp>
      <p:sp>
        <p:nvSpPr>
          <p:cNvPr id="13" name="t-944-270-identity • r">
            <a:extLst xmlns:a="http://schemas.openxmlformats.org/drawingml/2006/main">
              <a:ext uri="{FF2B5EF4-FFF2-40B4-BE49-F238E27FC236}">
                <a16:creationId xmlns:a16="http://schemas.microsoft.com/office/drawing/2014/main" id="{62DE059B-B923-4E7D-964F-B629E6D4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571750"/>
            <a:ext cx="2571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identity • routing • checks</a:t>
            </a:r>
          </a:p>
        </p:txBody>
      </p:sp>
      <p:sp>
        <p:nvSpPr>
          <p:cNvPr id="14" name="lane-42-338">
            <a:extLst xmlns:a="http://schemas.openxmlformats.org/drawingml/2006/main">
              <a:ext uri="{FF2B5EF4-FFF2-40B4-BE49-F238E27FC236}">
                <a16:creationId xmlns:a16="http://schemas.microsoft.com/office/drawing/2014/main" id="{7B2164FA-1EE5-49D4-8CD1-1ABBC4734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19450"/>
            <a:ext cx="30289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t-66-358-CACHE / ZONE">
            <a:extLst xmlns:a="http://schemas.openxmlformats.org/drawingml/2006/main">
              <a:ext uri="{FF2B5EF4-FFF2-40B4-BE49-F238E27FC236}">
                <a16:creationId xmlns:a16="http://schemas.microsoft.com/office/drawing/2014/main" id="{DB73E137-4074-4A71-89BE-56223B65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09950"/>
            <a:ext cx="2571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CACHE / ZONE</a:t>
            </a:r>
          </a:p>
        </p:txBody>
      </p:sp>
      <p:sp>
        <p:nvSpPr>
          <p:cNvPr id="16" name="t-66-400-fast path •">
            <a:extLst xmlns:a="http://schemas.openxmlformats.org/drawingml/2006/main">
              <a:ext uri="{FF2B5EF4-FFF2-40B4-BE49-F238E27FC236}">
                <a16:creationId xmlns:a16="http://schemas.microsoft.com/office/drawing/2014/main" id="{1574ABC1-5716-4A77-AB21-4C44A6A36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2571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fast path • ownership</a:t>
            </a:r>
          </a:p>
        </p:txBody>
      </p:sp>
      <p:sp>
        <p:nvSpPr>
          <p:cNvPr id="17" name="lane-470-338">
            <a:extLst xmlns:a="http://schemas.openxmlformats.org/drawingml/2006/main">
              <a:ext uri="{FF2B5EF4-FFF2-40B4-BE49-F238E27FC236}">
                <a16:creationId xmlns:a16="http://schemas.microsoft.com/office/drawing/2014/main" id="{826E9ADB-C877-4FB9-ACFD-636BAFFC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19450"/>
            <a:ext cx="3238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t-494-358-BACKEND / ME">
            <a:extLst xmlns:a="http://schemas.openxmlformats.org/drawingml/2006/main">
              <a:ext uri="{FF2B5EF4-FFF2-40B4-BE49-F238E27FC236}">
                <a16:creationId xmlns:a16="http://schemas.microsoft.com/office/drawing/2014/main" id="{459B53EB-F0A3-42B4-8AFC-667CB795D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409950"/>
            <a:ext cx="2781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BACKEND / METADATA</a:t>
            </a:r>
          </a:p>
        </p:txBody>
      </p:sp>
      <p:sp>
        <p:nvSpPr>
          <p:cNvPr id="19" name="t-494-400-slab • bitma">
            <a:extLst xmlns:a="http://schemas.openxmlformats.org/drawingml/2006/main">
              <a:ext uri="{FF2B5EF4-FFF2-40B4-BE49-F238E27FC236}">
                <a16:creationId xmlns:a16="http://schemas.microsoft.com/office/drawing/2014/main" id="{219C6EC6-C626-4FB7-9B53-A2D36B93C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810000"/>
            <a:ext cx="2781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slab • bitmap • side tables</a:t>
            </a:r>
          </a:p>
        </p:txBody>
      </p:sp>
      <p:sp>
        <p:nvSpPr>
          <p:cNvPr id="20" name="lane-920-338">
            <a:extLst xmlns:a="http://schemas.openxmlformats.org/drawingml/2006/main">
              <a:ext uri="{FF2B5EF4-FFF2-40B4-BE49-F238E27FC236}">
                <a16:creationId xmlns:a16="http://schemas.microsoft.com/office/drawing/2014/main" id="{620917FC-7FE0-4F71-8931-291EA4D32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19450"/>
            <a:ext cx="30289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5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21" name="t-944-358-PAL">
            <a:extLst xmlns:a="http://schemas.openxmlformats.org/drawingml/2006/main">
              <a:ext uri="{FF2B5EF4-FFF2-40B4-BE49-F238E27FC236}">
                <a16:creationId xmlns:a16="http://schemas.microsoft.com/office/drawing/2014/main" id="{1EC52717-355A-44FD-B04D-5090E615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09950"/>
            <a:ext cx="2571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defRPr>
            </a:pPr>
            <a:r>
              <a:t>PAL</a:t>
            </a:r>
          </a:p>
        </p:txBody>
      </p:sp>
      <p:sp>
        <p:nvSpPr>
          <p:cNvPr id="22" name="t-944-400-mmap • Virtu">
            <a:extLst xmlns:a="http://schemas.openxmlformats.org/drawingml/2006/main">
              <a:ext uri="{FF2B5EF4-FFF2-40B4-BE49-F238E27FC236}">
                <a16:creationId xmlns:a16="http://schemas.microsoft.com/office/drawing/2014/main" id="{C202F9D5-541F-40B1-96BD-B97A78BD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10000"/>
            <a:ext cx="2571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443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mmap • VirtualAlloc • fixed heap</a:t>
            </a:r>
          </a:p>
        </p:txBody>
      </p:sp>
      <p:sp>
        <p:nvSpPr>
          <p:cNvPr id="23" name="arch-claim-42-500">
            <a:extLst xmlns:a="http://schemas.openxmlformats.org/drawingml/2006/main">
              <a:ext uri="{FF2B5EF4-FFF2-40B4-BE49-F238E27FC236}">
                <a16:creationId xmlns:a16="http://schemas.microsoft.com/office/drawing/2014/main" id="{6E0FD1C1-0E3D-44EB-89BA-AEDC273D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1391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4" name="t-66-525-The semantic">
            <a:extLst xmlns:a="http://schemas.openxmlformats.org/drawingml/2006/main">
              <a:ext uri="{FF2B5EF4-FFF2-40B4-BE49-F238E27FC236}">
                <a16:creationId xmlns:a16="http://schemas.microsoft.com/office/drawing/2014/main" id="{F1D87B2B-DBA8-4B79-8AE4-A2EF7FB4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00625"/>
            <a:ext cx="109347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The semantic contract sits above platform acquisition and below compiler knowledge.</a:t>
            </a:r>
          </a:p>
        </p:txBody>
      </p:sp>
      <p:sp>
        <p:nvSpPr>
          <p:cNvPr id="25" name="t-42-30-H1 • ARCHITE">
            <a:extLst xmlns:a="http://schemas.openxmlformats.org/drawingml/2006/main">
              <a:ext uri="{FF2B5EF4-FFF2-40B4-BE49-F238E27FC236}">
                <a16:creationId xmlns:a16="http://schemas.microsoft.com/office/drawing/2014/main" id="{69C79D65-C2CA-40DD-B55D-60881650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762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H1 • ARCHITECTURE</a:t>
            </a:r>
          </a:p>
        </p:txBody>
      </p:sp>
      <p:sp>
        <p:nvSpPr>
          <p:cNvPr id="26" name="t-42-58-UniAlloc sep">
            <a:extLst xmlns:a="http://schemas.openxmlformats.org/drawingml/2006/main">
              <a:ext uri="{FF2B5EF4-FFF2-40B4-BE49-F238E27FC236}">
                <a16:creationId xmlns:a16="http://schemas.microsoft.com/office/drawing/2014/main" id="{AD0F455A-79E3-4488-A837-142F81A1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UniAlloc separates semantic input, allocation policy, and platform mechanism.</a:t>
            </a:r>
          </a:p>
        </p:txBody>
      </p:sp>
      <p:cxnSp>
        <p:nvCxnSpPr>
          <p:cNvPr id="56" name="footer-rule-42-674"/>
          <p:cNvCxnSpPr/>
          <p:nvPr/>
        </p:nvCxnSpPr>
        <p:spPr>
          <a:xfrm xmlns:a="http://schemas.openxmlformats.org/drawingml/2006/main">
            <a:off x="400050" y="641985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8" name="t-42-681-H1 • ARCHITE">
            <a:extLst xmlns:a="http://schemas.openxmlformats.org/drawingml/2006/main">
              <a:ext uri="{FF2B5EF4-FFF2-40B4-BE49-F238E27FC236}">
                <a16:creationId xmlns:a16="http://schemas.microsoft.com/office/drawing/2014/main" id="{DA05AE25-98B9-449E-B5F6-0171F2FC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4095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H1 • ARCHITECTURE</a:t>
            </a:r>
          </a:p>
        </p:txBody>
      </p:sp>
      <p:sp>
        <p:nvSpPr>
          <p:cNvPr id="29" name="t-1190-681-11">
            <a:extLst xmlns:a="http://schemas.openxmlformats.org/drawingml/2006/main">
              <a:ext uri="{FF2B5EF4-FFF2-40B4-BE49-F238E27FC236}">
                <a16:creationId xmlns:a16="http://schemas.microsoft.com/office/drawing/2014/main" id="{D89C3629-88F3-4B4E-9189-2AA0B811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482030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th-a-337-270">
            <a:extLst xmlns:a="http://schemas.openxmlformats.org/drawingml/2006/main">
              <a:ext uri="{FF2B5EF4-FFF2-40B4-BE49-F238E27FC236}">
                <a16:creationId xmlns:a16="http://schemas.microsoft.com/office/drawing/2014/main" id="{8EDB082D-5E05-4ED0-A1C8-8B3A9DB8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571750"/>
            <a:ext cx="6858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path-b-337-440">
            <a:extLst xmlns:a="http://schemas.openxmlformats.org/drawingml/2006/main">
              <a:ext uri="{FF2B5EF4-FFF2-40B4-BE49-F238E27FC236}">
                <a16:creationId xmlns:a16="http://schemas.microsoft.com/office/drawing/2014/main" id="{1114D26D-CA18-4128-9EED-EEFD9CD15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191000"/>
            <a:ext cx="6858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source-42-210">
            <a:extLst xmlns:a="http://schemas.openxmlformats.org/drawingml/2006/main">
              <a:ext uri="{FF2B5EF4-FFF2-40B4-BE49-F238E27FC236}">
                <a16:creationId xmlns:a16="http://schemas.microsoft.com/office/drawing/2014/main" id="{4E3CAAD8-5A91-409B-99AE-83E06C7B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28098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E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4" name="t-66-245-Supported Ru">
            <a:extLst xmlns:a="http://schemas.openxmlformats.org/drawingml/2006/main">
              <a:ext uri="{FF2B5EF4-FFF2-40B4-BE49-F238E27FC236}">
                <a16:creationId xmlns:a16="http://schemas.microsoft.com/office/drawing/2014/main" id="{0AC904CB-14FC-433C-BCA3-91567D9B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235267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Supported Rust path</a:t>
            </a:r>
          </a:p>
        </p:txBody>
      </p:sp>
      <p:sp>
        <p:nvSpPr>
          <p:cNvPr id="5" name="semantic-409-210">
            <a:extLst xmlns:a="http://schemas.openxmlformats.org/drawingml/2006/main">
              <a:ext uri="{FF2B5EF4-FFF2-40B4-BE49-F238E27FC236}">
                <a16:creationId xmlns:a16="http://schemas.microsoft.com/office/drawing/2014/main" id="{BC30A6E7-CF36-4546-99E1-CBC1BA04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000250"/>
            <a:ext cx="3238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" name="t-433-238-semantic all">
            <a:extLst xmlns:a="http://schemas.openxmlformats.org/drawingml/2006/main">
              <a:ext uri="{FF2B5EF4-FFF2-40B4-BE49-F238E27FC236}">
                <a16:creationId xmlns:a16="http://schemas.microsoft.com/office/drawing/2014/main" id="{37B0AFAD-B7E6-4906-AE74-01E3733CB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266950"/>
            <a:ext cx="27813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759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semantic alloc / realloc / dealloc
+ AllocationMetadata</a:t>
            </a:r>
          </a:p>
        </p:txBody>
      </p:sp>
      <p:sp>
        <p:nvSpPr>
          <p:cNvPr id="7" name="source-42-380">
            <a:extLst xmlns:a="http://schemas.openxmlformats.org/drawingml/2006/main">
              <a:ext uri="{FF2B5EF4-FFF2-40B4-BE49-F238E27FC236}">
                <a16:creationId xmlns:a16="http://schemas.microsoft.com/office/drawing/2014/main" id="{1D3EFE53-036B-4F1D-A19C-CD729E2C3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28098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t-66-415-Unknown / FF">
            <a:extLst xmlns:a="http://schemas.openxmlformats.org/drawingml/2006/main">
              <a:ext uri="{FF2B5EF4-FFF2-40B4-BE49-F238E27FC236}">
                <a16:creationId xmlns:a16="http://schemas.microsoft.com/office/drawing/2014/main" id="{BAD37FA5-9750-429B-901F-EB11E0415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52875"/>
            <a:ext cx="235267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608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Unknown / FFI / custom path</a:t>
            </a:r>
          </a:p>
        </p:txBody>
      </p:sp>
      <p:sp>
        <p:nvSpPr>
          <p:cNvPr id="9" name="fallback-409-380">
            <a:extLst xmlns:a="http://schemas.openxmlformats.org/drawingml/2006/main">
              <a:ext uri="{FF2B5EF4-FFF2-40B4-BE49-F238E27FC236}">
                <a16:creationId xmlns:a16="http://schemas.microsoft.com/office/drawing/2014/main" id="{97CBAB89-3ACE-4C93-AB11-74943414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3619500"/>
            <a:ext cx="3238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t-433-409-GlobalAlloc">
            <a:extLst xmlns:a="http://schemas.openxmlformats.org/drawingml/2006/main">
              <a:ext uri="{FF2B5EF4-FFF2-40B4-BE49-F238E27FC236}">
                <a16:creationId xmlns:a16="http://schemas.microsoft.com/office/drawing/2014/main" id="{F7A4D5B9-E51C-41BD-B8F7-C76E2339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895725"/>
            <a:ext cx="27813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GlobalAlloc fallback
Layout only</a:t>
            </a:r>
          </a:p>
        </p:txBody>
      </p:sp>
      <p:sp>
        <p:nvSpPr>
          <p:cNvPr id="11" name="contract-795-184">
            <a:extLst xmlns:a="http://schemas.openxmlformats.org/drawingml/2006/main">
              <a:ext uri="{FF2B5EF4-FFF2-40B4-BE49-F238E27FC236}">
                <a16:creationId xmlns:a16="http://schemas.microsoft.com/office/drawing/2014/main" id="{589A40D1-F916-4F5C-AC3F-55CF47266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752600"/>
            <a:ext cx="4219575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t-819-206-FOUR-DIMENSI">
            <a:extLst xmlns:a="http://schemas.openxmlformats.org/drawingml/2006/main">
              <a:ext uri="{FF2B5EF4-FFF2-40B4-BE49-F238E27FC236}">
                <a16:creationId xmlns:a16="http://schemas.microsoft.com/office/drawing/2014/main" id="{623C3C12-2785-461A-9583-F6DE73D5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1962150"/>
            <a:ext cx="376237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FOUR-DIMENSION CONTRACT</a:t>
            </a:r>
          </a:p>
        </p:txBody>
      </p:sp>
      <p:sp>
        <p:nvSpPr>
          <p:cNvPr id="13" name="t-819-258-SOURCE">
            <a:extLst xmlns:a="http://schemas.openxmlformats.org/drawingml/2006/main">
              <a:ext uri="{FF2B5EF4-FFF2-40B4-BE49-F238E27FC236}">
                <a16:creationId xmlns:a16="http://schemas.microsoft.com/office/drawing/2014/main" id="{09DED9FA-9359-4EAE-AC01-8F9CE616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457450"/>
            <a:ext cx="1028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SOURCE</a:t>
            </a:r>
          </a:p>
        </p:txBody>
      </p:sp>
      <p:sp>
        <p:nvSpPr>
          <p:cNvPr id="14" name="t-939-258-no annotatio">
            <a:extLst xmlns:a="http://schemas.openxmlformats.org/drawingml/2006/main">
              <a:ext uri="{FF2B5EF4-FFF2-40B4-BE49-F238E27FC236}">
                <a16:creationId xmlns:a16="http://schemas.microsoft.com/office/drawing/2014/main" id="{C8AB767A-9F62-4F86-ACC9-A74EFE9C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457450"/>
            <a:ext cx="261937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no annotations on supported common paths</a:t>
            </a:r>
          </a:p>
        </p:txBody>
      </p:sp>
      <p:sp>
        <p:nvSpPr>
          <p:cNvPr id="15" name="t-819-328-TOOLCHAIN">
            <a:extLst xmlns:a="http://schemas.openxmlformats.org/drawingml/2006/main">
              <a:ext uri="{FF2B5EF4-FFF2-40B4-BE49-F238E27FC236}">
                <a16:creationId xmlns:a16="http://schemas.microsoft.com/office/drawing/2014/main" id="{9EA5511D-0AC3-43E1-85EC-7551CF29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124200"/>
            <a:ext cx="1028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TOOLCHAIN</a:t>
            </a:r>
          </a:p>
        </p:txBody>
      </p:sp>
      <p:sp>
        <p:nvSpPr>
          <p:cNvPr id="16" name="t-939-328-paired patch">
            <a:extLst xmlns:a="http://schemas.openxmlformats.org/drawingml/2006/main">
              <a:ext uri="{FF2B5EF4-FFF2-40B4-BE49-F238E27FC236}">
                <a16:creationId xmlns:a16="http://schemas.microsoft.com/office/drawing/2014/main" id="{D4B75780-F4AE-47C2-BA3A-DD8368DB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124200"/>
            <a:ext cx="261937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paired patched rustc + runtime</a:t>
            </a:r>
          </a:p>
        </p:txBody>
      </p:sp>
      <p:sp>
        <p:nvSpPr>
          <p:cNvPr id="17" name="t-819-398-FFI">
            <a:extLst xmlns:a="http://schemas.openxmlformats.org/drawingml/2006/main">
              <a:ext uri="{FF2B5EF4-FFF2-40B4-BE49-F238E27FC236}">
                <a16:creationId xmlns:a16="http://schemas.microsoft.com/office/drawing/2014/main" id="{8E3CFC5B-6878-4C44-B4D2-16126525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790950"/>
            <a:ext cx="1028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FFI</a:t>
            </a:r>
          </a:p>
        </p:txBody>
      </p:sp>
      <p:sp>
        <p:nvSpPr>
          <p:cNvPr id="18" name="t-939-398-fallback unl">
            <a:extLst xmlns:a="http://schemas.openxmlformats.org/drawingml/2006/main">
              <a:ext uri="{FF2B5EF4-FFF2-40B4-BE49-F238E27FC236}">
                <a16:creationId xmlns:a16="http://schemas.microsoft.com/office/drawing/2014/main" id="{59857832-FEBA-4A4C-AFC0-0F019157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790950"/>
            <a:ext cx="261937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197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fallback unless metadata is explicit</a:t>
            </a:r>
          </a:p>
        </p:txBody>
      </p:sp>
      <p:sp>
        <p:nvSpPr>
          <p:cNvPr id="19" name="t-819-468-BINARY ABI">
            <a:extLst xmlns:a="http://schemas.openxmlformats.org/drawingml/2006/main">
              <a:ext uri="{FF2B5EF4-FFF2-40B4-BE49-F238E27FC236}">
                <a16:creationId xmlns:a16="http://schemas.microsoft.com/office/drawing/2014/main" id="{DAE111C0-5066-407E-993C-6DB6C5E0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457700"/>
            <a:ext cx="1028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BINARY ABI</a:t>
            </a:r>
          </a:p>
        </p:txBody>
      </p:sp>
      <p:sp>
        <p:nvSpPr>
          <p:cNvPr id="20" name="t-939-468-not universa">
            <a:extLst xmlns:a="http://schemas.openxmlformats.org/drawingml/2006/main">
              <a:ext uri="{FF2B5EF4-FFF2-40B4-BE49-F238E27FC236}">
                <a16:creationId xmlns:a16="http://schemas.microsoft.com/office/drawing/2014/main" id="{98FB8C89-7C42-4853-8BEE-46FA3959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457700"/>
            <a:ext cx="261937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not universal across Rust versions</a:t>
            </a:r>
          </a:p>
        </p:txBody>
      </p:sp>
      <p:sp>
        <p:nvSpPr>
          <p:cNvPr id="21" name="t-42-570-Fallback pre">
            <a:extLst xmlns:a="http://schemas.openxmlformats.org/drawingml/2006/main">
              <a:ext uri="{FF2B5EF4-FFF2-40B4-BE49-F238E27FC236}">
                <a16:creationId xmlns:a16="http://schemas.microsoft.com/office/drawing/2014/main" id="{50BE4A21-FA2F-478D-8E7E-FB3B9E3CC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1391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Fallback preserves execution—and defines the protection boundary.</a:t>
            </a:r>
          </a:p>
        </p:txBody>
      </p:sp>
      <p:sp>
        <p:nvSpPr>
          <p:cNvPr id="22" name="t-42-30-H1 • COMPATI">
            <a:extLst xmlns:a="http://schemas.openxmlformats.org/drawingml/2006/main">
              <a:ext uri="{FF2B5EF4-FFF2-40B4-BE49-F238E27FC236}">
                <a16:creationId xmlns:a16="http://schemas.microsoft.com/office/drawing/2014/main" id="{CD60C39D-1E68-4B34-97EB-DA39D2D81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762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H1 • COMPATIBILITY</a:t>
            </a:r>
          </a:p>
        </p:txBody>
      </p:sp>
      <p:sp>
        <p:nvSpPr>
          <p:cNvPr id="23" name="t-42-58-Optional met">
            <a:extLst xmlns:a="http://schemas.openxmlformats.org/drawingml/2006/main">
              <a:ext uri="{FF2B5EF4-FFF2-40B4-BE49-F238E27FC236}">
                <a16:creationId xmlns:a16="http://schemas.microsoft.com/office/drawing/2014/main" id="{B2C557EE-8685-4BF8-A70E-A2746EBC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Optional metadata preserves supported source-level execution, not universal ABI compatibility.</a:t>
            </a:r>
          </a:p>
        </p:txBody>
      </p:sp>
      <p:cxnSp>
        <p:nvCxnSpPr>
          <p:cNvPr id="50" name="footer-rule-42-674"/>
          <p:cNvCxnSpPr/>
          <p:nvPr/>
        </p:nvCxnSpPr>
        <p:spPr>
          <a:xfrm xmlns:a="http://schemas.openxmlformats.org/drawingml/2006/main">
            <a:off x="400050" y="641985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5" name="t-42-681-H1 • COMPATI">
            <a:extLst xmlns:a="http://schemas.openxmlformats.org/drawingml/2006/main">
              <a:ext uri="{FF2B5EF4-FFF2-40B4-BE49-F238E27FC236}">
                <a16:creationId xmlns:a16="http://schemas.microsoft.com/office/drawing/2014/main" id="{520B1101-4505-41FA-A372-8D8492E9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4095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H1 • COMPATIBILITY</a:t>
            </a:r>
          </a:p>
        </p:txBody>
      </p:sp>
      <p:sp>
        <p:nvSpPr>
          <p:cNvPr id="26" name="t-1190-681-12">
            <a:extLst xmlns:a="http://schemas.openxmlformats.org/drawingml/2006/main">
              <a:ext uri="{FF2B5EF4-FFF2-40B4-BE49-F238E27FC236}">
                <a16:creationId xmlns:a16="http://schemas.microsoft.com/office/drawing/2014/main" id="{D32A4DB3-30ED-4184-8D73-7D5975A51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3393055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mir1-286-352">
            <a:extLst xmlns:a="http://schemas.openxmlformats.org/drawingml/2006/main">
              <a:ext uri="{FF2B5EF4-FFF2-40B4-BE49-F238E27FC236}">
                <a16:creationId xmlns:a16="http://schemas.microsoft.com/office/drawing/2014/main" id="{BBF7E65B-F790-4520-ADFD-47B2B4D4A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352800"/>
            <a:ext cx="7048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" name="mir2-583-352">
            <a:extLst xmlns:a="http://schemas.openxmlformats.org/drawingml/2006/main">
              <a:ext uri="{FF2B5EF4-FFF2-40B4-BE49-F238E27FC236}">
                <a16:creationId xmlns:a16="http://schemas.microsoft.com/office/drawing/2014/main" id="{29EEE78C-B493-47F9-8EAC-B6709B96C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352800"/>
            <a:ext cx="7048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mir3-880-352">
            <a:extLst xmlns:a="http://schemas.openxmlformats.org/drawingml/2006/main">
              <a:ext uri="{FF2B5EF4-FFF2-40B4-BE49-F238E27FC236}">
                <a16:creationId xmlns:a16="http://schemas.microsoft.com/office/drawing/2014/main" id="{C03AA241-EBC1-4707-93D8-124C2D0D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52800"/>
            <a:ext cx="7048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mir-node-42-250">
            <a:extLst xmlns:a="http://schemas.openxmlformats.org/drawingml/2006/main">
              <a:ext uri="{FF2B5EF4-FFF2-40B4-BE49-F238E27FC236}">
                <a16:creationId xmlns:a16="http://schemas.microsoft.com/office/drawing/2014/main" id="{BA83A879-9A4C-430C-AB97-9E8B3528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23241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E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5" name="t-66-272-RUST SOURCE">
            <a:extLst xmlns:a="http://schemas.openxmlformats.org/drawingml/2006/main">
              <a:ext uri="{FF2B5EF4-FFF2-40B4-BE49-F238E27FC236}">
                <a16:creationId xmlns:a16="http://schemas.microsoft.com/office/drawing/2014/main" id="{6B8310E0-BC0A-48C0-8858-56ADE2C9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90800"/>
            <a:ext cx="1866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RUST SOURCE</a:t>
            </a:r>
          </a:p>
        </p:txBody>
      </p:sp>
      <p:sp>
        <p:nvSpPr>
          <p:cNvPr id="6" name="t-66-326-Box&lt;T&gt;&#10;Vec&lt;T">
            <a:extLst xmlns:a="http://schemas.openxmlformats.org/drawingml/2006/main">
              <a:ext uri="{FF2B5EF4-FFF2-40B4-BE49-F238E27FC236}">
                <a16:creationId xmlns:a16="http://schemas.microsoft.com/office/drawing/2014/main" id="{E856C2EA-D94C-4D19-A192-2B2396E8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05150"/>
            <a:ext cx="18669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Box&lt;T&gt;
Vec&lt;T&gt;
String</a:t>
            </a:r>
          </a:p>
        </p:txBody>
      </p:sp>
      <p:sp>
        <p:nvSpPr>
          <p:cNvPr id="7" name="mir-node-360-250">
            <a:extLst xmlns:a="http://schemas.openxmlformats.org/drawingml/2006/main">
              <a:ext uri="{FF2B5EF4-FFF2-40B4-BE49-F238E27FC236}">
                <a16:creationId xmlns:a16="http://schemas.microsoft.com/office/drawing/2014/main" id="{AA91E755-D9AA-4FA4-9D5C-DDAFE250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81250"/>
            <a:ext cx="21240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t-384-272-OPTIMIZED MI">
            <a:extLst xmlns:a="http://schemas.openxmlformats.org/drawingml/2006/main">
              <a:ext uri="{FF2B5EF4-FFF2-40B4-BE49-F238E27FC236}">
                <a16:creationId xmlns:a16="http://schemas.microsoft.com/office/drawing/2014/main" id="{EE5A4D08-B81C-485F-A739-358DF370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590800"/>
            <a:ext cx="16668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OPTIMIZED MIR</a:t>
            </a:r>
          </a:p>
        </p:txBody>
      </p:sp>
      <p:sp>
        <p:nvSpPr>
          <p:cNvPr id="9" name="t-384-326-exact candid">
            <a:extLst xmlns:a="http://schemas.openxmlformats.org/drawingml/2006/main">
              <a:ext uri="{FF2B5EF4-FFF2-40B4-BE49-F238E27FC236}">
                <a16:creationId xmlns:a16="http://schemas.microsoft.com/office/drawing/2014/main" id="{A2EA8F7C-91B3-48E3-9F67-D0C06060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05150"/>
            <a:ext cx="1666875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7752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exact candidate
+ ownership proof</a:t>
            </a:r>
          </a:p>
        </p:txBody>
      </p:sp>
      <p:sp>
        <p:nvSpPr>
          <p:cNvPr id="10" name="mir-node-657-250">
            <a:extLst xmlns:a="http://schemas.openxmlformats.org/drawingml/2006/main">
              <a:ext uri="{FF2B5EF4-FFF2-40B4-BE49-F238E27FC236}">
                <a16:creationId xmlns:a16="http://schemas.microsoft.com/office/drawing/2014/main" id="{E24CC3F8-9A2E-46EE-80EB-F4DC2D90D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381250"/>
            <a:ext cx="21240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t-681-272-METADATA ABI">
            <a:extLst xmlns:a="http://schemas.openxmlformats.org/drawingml/2006/main">
              <a:ext uri="{FF2B5EF4-FFF2-40B4-BE49-F238E27FC236}">
                <a16:creationId xmlns:a16="http://schemas.microsoft.com/office/drawing/2014/main" id="{FE128574-D990-4EF0-8969-5C432279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590800"/>
            <a:ext cx="16668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METADATA ABI</a:t>
            </a:r>
          </a:p>
        </p:txBody>
      </p:sp>
      <p:sp>
        <p:nvSpPr>
          <p:cNvPr id="12" name="t-681-314-scope push&#10;c">
            <a:extLst xmlns:a="http://schemas.openxmlformats.org/drawingml/2006/main">
              <a:ext uri="{FF2B5EF4-FFF2-40B4-BE49-F238E27FC236}">
                <a16:creationId xmlns:a16="http://schemas.microsoft.com/office/drawing/2014/main" id="{B206D7D4-EDA0-4D7D-A7F4-0240370B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990850"/>
            <a:ext cx="1666875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scope push
call / transfer
pop + unwind</a:t>
            </a:r>
          </a:p>
        </p:txBody>
      </p:sp>
      <p:sp>
        <p:nvSpPr>
          <p:cNvPr id="13" name="mir-node-954-250">
            <a:extLst xmlns:a="http://schemas.openxmlformats.org/drawingml/2006/main">
              <a:ext uri="{FF2B5EF4-FFF2-40B4-BE49-F238E27FC236}">
                <a16:creationId xmlns:a16="http://schemas.microsoft.com/office/drawing/2014/main" id="{1D0240AF-90C1-4853-8519-AD2C1AF42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81250"/>
            <a:ext cx="27051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EF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14" name="t-978-272-RUNTIME">
            <a:extLst xmlns:a="http://schemas.openxmlformats.org/drawingml/2006/main">
              <a:ext uri="{FF2B5EF4-FFF2-40B4-BE49-F238E27FC236}">
                <a16:creationId xmlns:a16="http://schemas.microsoft.com/office/drawing/2014/main" id="{B8A83C19-7A02-4D08-A04F-6C91A33DA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90800"/>
            <a:ext cx="2247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803D"/>
                </a:solidFill>
                <a:latin typeface="Helvetica Neue"/>
                <a:ea typeface="Helvetica Neue"/>
                <a:cs typeface="Helvetica Neue"/>
              </a:defRPr>
            </a:pPr>
            <a:r>
              <a:t>RUNTIME</a:t>
            </a:r>
          </a:p>
        </p:txBody>
      </p:sp>
      <p:sp>
        <p:nvSpPr>
          <p:cNvPr id="15" name="t-978-314-typed reques">
            <a:extLst xmlns:a="http://schemas.openxmlformats.org/drawingml/2006/main">
              <a:ext uri="{FF2B5EF4-FFF2-40B4-BE49-F238E27FC236}">
                <a16:creationId xmlns:a16="http://schemas.microsoft.com/office/drawing/2014/main" id="{FB505506-F4B0-4F36-88C7-8614930D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990850"/>
            <a:ext cx="22479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typed request
exact recovery
policy routing</a:t>
            </a:r>
          </a:p>
        </p:txBody>
      </p:sp>
      <p:sp>
        <p:nvSpPr>
          <p:cNvPr id="16" name="actual-rewrite-42-510">
            <a:extLst xmlns:a="http://schemas.openxmlformats.org/drawingml/2006/main">
              <a:ext uri="{FF2B5EF4-FFF2-40B4-BE49-F238E27FC236}">
                <a16:creationId xmlns:a16="http://schemas.microsoft.com/office/drawing/2014/main" id="{4766DDC0-1B3F-43D0-B370-31863C23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11391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17" name="t-66-534-Evidence mus">
            <a:extLst xmlns:a="http://schemas.openxmlformats.org/drawingml/2006/main">
              <a:ext uri="{FF2B5EF4-FFF2-40B4-BE49-F238E27FC236}">
                <a16:creationId xmlns:a16="http://schemas.microsoft.com/office/drawing/2014/main" id="{24750E75-3F4D-4C95-B7A6-E9CCDFF9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86350"/>
            <a:ext cx="109347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85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Evidence must show actual MIR rewrite and runtime behavior. Dry-run-only rows are audit evidence, not execution proof.</a:t>
            </a:r>
          </a:p>
        </p:txBody>
      </p:sp>
      <p:sp>
        <p:nvSpPr>
          <p:cNvPr id="18" name="t-42-30-H1 • COMPILE">
            <a:extLst xmlns:a="http://schemas.openxmlformats.org/drawingml/2006/main">
              <a:ext uri="{FF2B5EF4-FFF2-40B4-BE49-F238E27FC236}">
                <a16:creationId xmlns:a16="http://schemas.microsoft.com/office/drawing/2014/main" id="{9A9809DB-3D36-498B-9A61-1F047A80A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762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H1 • COMPILER INTEGRATION</a:t>
            </a:r>
          </a:p>
        </p:txBody>
      </p:sp>
      <p:sp>
        <p:nvSpPr>
          <p:cNvPr id="19" name="t-42-58-Compiler ext">
            <a:extLst xmlns:a="http://schemas.openxmlformats.org/drawingml/2006/main">
              <a:ext uri="{FF2B5EF4-FFF2-40B4-BE49-F238E27FC236}">
                <a16:creationId xmlns:a16="http://schemas.microsoft.com/office/drawing/2014/main" id="{54AB4AB4-0918-46DA-A84C-52053F04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Compiler extraction removes source annotations from common Rust allocation paths.</a:t>
            </a:r>
          </a:p>
        </p:txBody>
      </p:sp>
      <p:cxnSp>
        <p:nvCxnSpPr>
          <p:cNvPr id="42" name="footer-rule-42-674"/>
          <p:cNvCxnSpPr/>
          <p:nvPr/>
        </p:nvCxnSpPr>
        <p:spPr>
          <a:xfrm xmlns:a="http://schemas.openxmlformats.org/drawingml/2006/main">
            <a:off x="400050" y="641985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1" name="t-42-681-H1 • COMPILE">
            <a:extLst xmlns:a="http://schemas.openxmlformats.org/drawingml/2006/main">
              <a:ext uri="{FF2B5EF4-FFF2-40B4-BE49-F238E27FC236}">
                <a16:creationId xmlns:a16="http://schemas.microsoft.com/office/drawing/2014/main" id="{5687B5A1-AA40-4EBA-A414-9F38091F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4095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H1 • COMPILER INTEGRATION</a:t>
            </a:r>
          </a:p>
        </p:txBody>
      </p:sp>
      <p:sp>
        <p:nvSpPr>
          <p:cNvPr id="22" name="t-1190-681-13">
            <a:extLst xmlns:a="http://schemas.openxmlformats.org/drawingml/2006/main">
              <a:ext uri="{FF2B5EF4-FFF2-40B4-BE49-F238E27FC236}">
                <a16:creationId xmlns:a16="http://schemas.microsoft.com/office/drawing/2014/main" id="{2677B5B6-4A46-4358-A474-7A0756DCA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52269724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4" name="life-line-85-330"/>
          <p:cNvCxnSpPr/>
          <p:nvPr/>
        </p:nvCxnSpPr>
        <p:spPr>
          <a:xfrm xmlns:a="http://schemas.openxmlformats.org/drawingml/2006/main">
            <a:off x="809625" y="3143250"/>
            <a:ext cx="1038225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sp>
        <p:nvSpPr>
          <p:cNvPr id="2" name="dot-ALLOC">
            <a:extLst xmlns:a="http://schemas.openxmlformats.org/drawingml/2006/main">
              <a:ext uri="{FF2B5EF4-FFF2-40B4-BE49-F238E27FC236}">
                <a16:creationId xmlns:a16="http://schemas.microsoft.com/office/drawing/2014/main" id="{C5D18771-9103-43C7-B006-A3B89726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" name="t-48-270-ALLOC">
            <a:extLst xmlns:a="http://schemas.openxmlformats.org/drawingml/2006/main">
              <a:ext uri="{FF2B5EF4-FFF2-40B4-BE49-F238E27FC236}">
                <a16:creationId xmlns:a16="http://schemas.microsoft.com/office/drawing/2014/main" id="{D9623713-67E3-4DAD-BD70-F13B089D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0"/>
            <a:ext cx="1066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ALLOC</a:t>
            </a:r>
          </a:p>
        </p:txBody>
      </p:sp>
      <p:sp>
        <p:nvSpPr>
          <p:cNvPr id="4" name="dot-REALLOC">
            <a:extLst xmlns:a="http://schemas.openxmlformats.org/drawingml/2006/main">
              <a:ext uri="{FF2B5EF4-FFF2-40B4-BE49-F238E27FC236}">
                <a16:creationId xmlns:a16="http://schemas.microsoft.com/office/drawing/2014/main" id="{86594A19-70BE-4466-869D-7F2BA70B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09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t-288-270-REALLOC">
            <a:extLst xmlns:a="http://schemas.openxmlformats.org/drawingml/2006/main">
              <a:ext uri="{FF2B5EF4-FFF2-40B4-BE49-F238E27FC236}">
                <a16:creationId xmlns:a16="http://schemas.microsoft.com/office/drawing/2014/main" id="{D80D9D99-04B8-481B-8E88-774949BC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571750"/>
            <a:ext cx="1066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REALLOC</a:t>
            </a:r>
          </a:p>
        </p:txBody>
      </p:sp>
      <p:sp>
        <p:nvSpPr>
          <p:cNvPr id="6" name="dot-TRANSFER">
            <a:extLst xmlns:a="http://schemas.openxmlformats.org/drawingml/2006/main">
              <a:ext uri="{FF2B5EF4-FFF2-40B4-BE49-F238E27FC236}">
                <a16:creationId xmlns:a16="http://schemas.microsoft.com/office/drawing/2014/main" id="{11DC7B1A-32BB-4649-B9C8-5B329FAB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09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7" name="t-528-270-TRANSFER">
            <a:extLst xmlns:a="http://schemas.openxmlformats.org/drawingml/2006/main">
              <a:ext uri="{FF2B5EF4-FFF2-40B4-BE49-F238E27FC236}">
                <a16:creationId xmlns:a16="http://schemas.microsoft.com/office/drawing/2014/main" id="{0402A9C7-F146-4818-B95C-5BDA8829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71750"/>
            <a:ext cx="1066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803D"/>
                </a:solidFill>
                <a:latin typeface="Helvetica Neue"/>
                <a:ea typeface="Helvetica Neue"/>
                <a:cs typeface="Helvetica Neue"/>
              </a:defRPr>
            </a:pPr>
            <a:r>
              <a:t>TRANSFER</a:t>
            </a:r>
          </a:p>
        </p:txBody>
      </p:sp>
      <p:sp>
        <p:nvSpPr>
          <p:cNvPr id="8" name="dot-DROP">
            <a:extLst xmlns:a="http://schemas.openxmlformats.org/drawingml/2006/main">
              <a:ext uri="{FF2B5EF4-FFF2-40B4-BE49-F238E27FC236}">
                <a16:creationId xmlns:a16="http://schemas.microsoft.com/office/drawing/2014/main" id="{6343DA9C-6690-4911-846C-C952F365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09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9" name="t-768-270-DROP">
            <a:extLst xmlns:a="http://schemas.openxmlformats.org/drawingml/2006/main">
              <a:ext uri="{FF2B5EF4-FFF2-40B4-BE49-F238E27FC236}">
                <a16:creationId xmlns:a16="http://schemas.microsoft.com/office/drawing/2014/main" id="{438E4DCF-B1A0-475F-AEBC-A079CC093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71750"/>
            <a:ext cx="1066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803D"/>
                </a:solidFill>
                <a:latin typeface="Helvetica Neue"/>
                <a:ea typeface="Helvetica Neue"/>
                <a:cs typeface="Helvetica Neue"/>
              </a:defRPr>
            </a:pPr>
            <a:r>
              <a:t>DROP</a:t>
            </a:r>
          </a:p>
        </p:txBody>
      </p:sp>
      <p:sp>
        <p:nvSpPr>
          <p:cNvPr id="10" name="dot-UNWIND">
            <a:extLst xmlns:a="http://schemas.openxmlformats.org/drawingml/2006/main">
              <a:ext uri="{FF2B5EF4-FFF2-40B4-BE49-F238E27FC236}">
                <a16:creationId xmlns:a16="http://schemas.microsoft.com/office/drawing/2014/main" id="{75A3CE31-D27E-4136-B6A5-81F07C2B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09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11" name="t-1008-270-UNWIND">
            <a:extLst xmlns:a="http://schemas.openxmlformats.org/drawingml/2006/main">
              <a:ext uri="{FF2B5EF4-FFF2-40B4-BE49-F238E27FC236}">
                <a16:creationId xmlns:a16="http://schemas.microsoft.com/office/drawing/2014/main" id="{829F0A92-1143-4C72-A2F5-EC388657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71750"/>
            <a:ext cx="1066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UNWIND</a:t>
            </a:r>
          </a:p>
        </p:txBody>
      </p:sp>
      <p:sp>
        <p:nvSpPr>
          <p:cNvPr id="12" name="t-55-368-publish exac">
            <a:extLst xmlns:a="http://schemas.openxmlformats.org/drawingml/2006/main">
              <a:ext uri="{FF2B5EF4-FFF2-40B4-BE49-F238E27FC236}">
                <a16:creationId xmlns:a16="http://schemas.microsoft.com/office/drawing/2014/main" id="{BDBDD393-BB11-43E7-AB81-76C903C3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05200"/>
            <a:ext cx="1714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publish exact identity</a:t>
            </a:r>
          </a:p>
        </p:txBody>
      </p:sp>
      <p:sp>
        <p:nvSpPr>
          <p:cNvPr id="13" name="t-270-368-preserve / r">
            <a:extLst xmlns:a="http://schemas.openxmlformats.org/drawingml/2006/main">
              <a:ext uri="{FF2B5EF4-FFF2-40B4-BE49-F238E27FC236}">
                <a16:creationId xmlns:a16="http://schemas.microsoft.com/office/drawing/2014/main" id="{738020F4-9D9B-4530-B618-1ECE6248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505200"/>
            <a:ext cx="1905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preserve / retire identity</a:t>
            </a:r>
          </a:p>
        </p:txBody>
      </p:sp>
      <p:sp>
        <p:nvSpPr>
          <p:cNvPr id="14" name="t-505-368-rebind live">
            <a:extLst xmlns:a="http://schemas.openxmlformats.org/drawingml/2006/main">
              <a:ext uri="{FF2B5EF4-FFF2-40B4-BE49-F238E27FC236}">
                <a16:creationId xmlns:a16="http://schemas.microsoft.com/office/drawing/2014/main" id="{6D1BCC43-3760-447A-9E0D-5D2D8C7A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505200"/>
            <a:ext cx="1619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rebind live owner</a:t>
            </a:r>
          </a:p>
        </p:txBody>
      </p:sp>
      <p:sp>
        <p:nvSpPr>
          <p:cNvPr id="15" name="t-745-368-deallocate e">
            <a:extLst xmlns:a="http://schemas.openxmlformats.org/drawingml/2006/main">
              <a:ext uri="{FF2B5EF4-FFF2-40B4-BE49-F238E27FC236}">
                <a16:creationId xmlns:a16="http://schemas.microsoft.com/office/drawing/2014/main" id="{6C754B1C-1956-4D5B-90D5-BBB08E4A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505200"/>
            <a:ext cx="1714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deallocate exact owner</a:t>
            </a:r>
          </a:p>
        </p:txBody>
      </p:sp>
      <p:sp>
        <p:nvSpPr>
          <p:cNvPr id="16" name="t-990-368-restore scop">
            <a:extLst xmlns:a="http://schemas.openxmlformats.org/drawingml/2006/main">
              <a:ext uri="{FF2B5EF4-FFF2-40B4-BE49-F238E27FC236}">
                <a16:creationId xmlns:a16="http://schemas.microsoft.com/office/drawing/2014/main" id="{F3BAF8F5-7B37-42F4-A3DB-460E5E1C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505200"/>
            <a:ext cx="1905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restore scope on panic</a:t>
            </a:r>
          </a:p>
        </p:txBody>
      </p:sp>
      <p:sp>
        <p:nvSpPr>
          <p:cNvPr id="17" name="label-block-42-475">
            <a:extLst xmlns:a="http://schemas.openxmlformats.org/drawingml/2006/main">
              <a:ext uri="{FF2B5EF4-FFF2-40B4-BE49-F238E27FC236}">
                <a16:creationId xmlns:a16="http://schemas.microsoft.com/office/drawing/2014/main" id="{E823E5D7-C89D-45B8-B4C4-EC4B60E3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24375"/>
            <a:ext cx="3562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F"/>
          </a:solidFill>
          <a:ln xmlns:a="http://schemas.openxmlformats.org/drawingml/2006/main" w="0">
            <a:solidFill>
              <a:srgbClr val="E8F3FF"/>
            </a:solidFill>
            <a:prstDash val="solid"/>
          </a:ln>
        </p:spPr>
      </p:sp>
      <p:sp>
        <p:nvSpPr>
          <p:cNvPr id="18" name="accent-42-475">
            <a:extLst xmlns:a="http://schemas.openxmlformats.org/drawingml/2006/main">
              <a:ext uri="{FF2B5EF4-FFF2-40B4-BE49-F238E27FC236}">
                <a16:creationId xmlns:a16="http://schemas.microsoft.com/office/drawing/2014/main" id="{3D4A44BE-BBF4-4CAF-8123-987C60F78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24375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9" name="t-66-493-DIRECT REWRI">
            <a:extLst xmlns:a="http://schemas.openxmlformats.org/drawingml/2006/main">
              <a:ext uri="{FF2B5EF4-FFF2-40B4-BE49-F238E27FC236}">
                <a16:creationId xmlns:a16="http://schemas.microsoft.com/office/drawing/2014/main" id="{F5C897CB-D14F-4195-8680-6807FC33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95825"/>
            <a:ext cx="3162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DIRECT REWRITE</a:t>
            </a:r>
          </a:p>
        </p:txBody>
      </p:sp>
      <p:sp>
        <p:nvSpPr>
          <p:cNvPr id="20" name="t-66-530-Exact alloca">
            <a:extLst xmlns:a="http://schemas.openxmlformats.org/drawingml/2006/main">
              <a:ext uri="{FF2B5EF4-FFF2-40B4-BE49-F238E27FC236}">
                <a16:creationId xmlns:a16="http://schemas.microsoft.com/office/drawing/2014/main" id="{E381D3F3-92F6-41D8-8123-DEBD0822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48250"/>
            <a:ext cx="3162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2105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Exact allocator call replacement when the path is structurally proven.</a:t>
            </a:r>
          </a:p>
        </p:txBody>
      </p:sp>
      <p:sp>
        <p:nvSpPr>
          <p:cNvPr id="21" name="label-block-453-475">
            <a:extLst xmlns:a="http://schemas.openxmlformats.org/drawingml/2006/main">
              <a:ext uri="{FF2B5EF4-FFF2-40B4-BE49-F238E27FC236}">
                <a16:creationId xmlns:a16="http://schemas.microsoft.com/office/drawing/2014/main" id="{B9D560B5-DC0A-4BFD-A78C-2F6E82AD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524375"/>
            <a:ext cx="3562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EF"/>
          </a:solidFill>
          <a:ln xmlns:a="http://schemas.openxmlformats.org/drawingml/2006/main" w="0">
            <a:solidFill>
              <a:srgbClr val="E9F7EF"/>
            </a:solidFill>
            <a:prstDash val="solid"/>
          </a:ln>
        </p:spPr>
      </p:sp>
      <p:sp>
        <p:nvSpPr>
          <p:cNvPr id="22" name="accent-453-475">
            <a:extLst xmlns:a="http://schemas.openxmlformats.org/drawingml/2006/main">
              <a:ext uri="{FF2B5EF4-FFF2-40B4-BE49-F238E27FC236}">
                <a16:creationId xmlns:a16="http://schemas.microsoft.com/office/drawing/2014/main" id="{EF28C403-7598-416A-822F-A613BA777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524375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23" name="t-477-493-RECOVERY">
            <a:extLst xmlns:a="http://schemas.openxmlformats.org/drawingml/2006/main">
              <a:ext uri="{FF2B5EF4-FFF2-40B4-BE49-F238E27FC236}">
                <a16:creationId xmlns:a16="http://schemas.microsoft.com/office/drawing/2014/main" id="{FC18E304-A681-4333-9EA9-E7968655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695825"/>
            <a:ext cx="3162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803D"/>
                </a:solidFill>
                <a:latin typeface="Helvetica Neue"/>
                <a:ea typeface="Helvetica Neue"/>
                <a:cs typeface="Helvetica Neue"/>
              </a:defRPr>
            </a:pPr>
            <a:r>
              <a:t>RECOVERY</a:t>
            </a:r>
          </a:p>
        </p:txBody>
      </p:sp>
      <p:sp>
        <p:nvSpPr>
          <p:cNvPr id="24" name="t-477-530-Allocation-s">
            <a:extLst xmlns:a="http://schemas.openxmlformats.org/drawingml/2006/main">
              <a:ext uri="{FF2B5EF4-FFF2-40B4-BE49-F238E27FC236}">
                <a16:creationId xmlns:a16="http://schemas.microsoft.com/office/drawing/2014/main" id="{F4978F67-9CE1-4133-A935-AED788BB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5048250"/>
            <a:ext cx="3162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2105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Allocation-side record pairs partial coverage and cross-thread lifecycles.</a:t>
            </a:r>
          </a:p>
        </p:txBody>
      </p:sp>
      <p:sp>
        <p:nvSpPr>
          <p:cNvPr id="25" name="label-block-864-475">
            <a:extLst xmlns:a="http://schemas.openxmlformats.org/drawingml/2006/main">
              <a:ext uri="{FF2B5EF4-FFF2-40B4-BE49-F238E27FC236}">
                <a16:creationId xmlns:a16="http://schemas.microsoft.com/office/drawing/2014/main" id="{7F6D68D3-F5D5-4F26-901F-237C17F2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524375"/>
            <a:ext cx="3562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0">
            <a:solidFill>
              <a:srgbClr val="FDECEC"/>
            </a:solidFill>
            <a:prstDash val="solid"/>
          </a:ln>
        </p:spPr>
      </p:sp>
      <p:sp>
        <p:nvSpPr>
          <p:cNvPr id="26" name="accent-864-475">
            <a:extLst xmlns:a="http://schemas.openxmlformats.org/drawingml/2006/main">
              <a:ext uri="{FF2B5EF4-FFF2-40B4-BE49-F238E27FC236}">
                <a16:creationId xmlns:a16="http://schemas.microsoft.com/office/drawing/2014/main" id="{B4130523-71B5-4DA3-A0B1-95E12E91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524375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27" name="t-888-493-OBSERVABILIT">
            <a:extLst xmlns:a="http://schemas.openxmlformats.org/drawingml/2006/main">
              <a:ext uri="{FF2B5EF4-FFF2-40B4-BE49-F238E27FC236}">
                <a16:creationId xmlns:a16="http://schemas.microsoft.com/office/drawing/2014/main" id="{B27A5084-FFEE-47CA-AD53-7A14DF60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695825"/>
            <a:ext cx="3162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OBSERVABILITY BOUNDARY</a:t>
            </a:r>
          </a:p>
        </p:txBody>
      </p:sp>
      <p:sp>
        <p:nvSpPr>
          <p:cNvPr id="28" name="t-888-530-Provider and">
            <a:extLst xmlns:a="http://schemas.openxmlformats.org/drawingml/2006/main">
              <a:ext uri="{FF2B5EF4-FFF2-40B4-BE49-F238E27FC236}">
                <a16:creationId xmlns:a16="http://schemas.microsoft.com/office/drawing/2014/main" id="{3E9BB2F3-C3A6-4F24-AC6E-E507E5A4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048250"/>
            <a:ext cx="3162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2105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Provider and custom paths that cannot be proven remain fallback or audit-only.</a:t>
            </a:r>
          </a:p>
        </p:txBody>
      </p:sp>
      <p:sp>
        <p:nvSpPr>
          <p:cNvPr id="29" name="t-42-30-H1 • LIFECYC">
            <a:extLst xmlns:a="http://schemas.openxmlformats.org/drawingml/2006/main">
              <a:ext uri="{FF2B5EF4-FFF2-40B4-BE49-F238E27FC236}">
                <a16:creationId xmlns:a16="http://schemas.microsoft.com/office/drawing/2014/main" id="{5E33307C-1F00-4927-ADBE-4939AD376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762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H1 • LIFECYCLE</a:t>
            </a:r>
          </a:p>
        </p:txBody>
      </p:sp>
      <p:sp>
        <p:nvSpPr>
          <p:cNvPr id="30" name="t-42-58-Correct sema">
            <a:extLst xmlns:a="http://schemas.openxmlformats.org/drawingml/2006/main">
              <a:ext uri="{FF2B5EF4-FFF2-40B4-BE49-F238E27FC236}">
                <a16:creationId xmlns:a16="http://schemas.microsoft.com/office/drawing/2014/main" id="{C0C296C0-FC49-45DF-A785-4A2B81E7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Correct semantics require pairing allocation, reallocation, drop, unwind, and thread transfer.</a:t>
            </a:r>
          </a:p>
        </p:txBody>
      </p:sp>
      <p:cxnSp>
        <p:nvCxnSpPr>
          <p:cNvPr id="64" name="footer-rule-42-674"/>
          <p:cNvCxnSpPr/>
          <p:nvPr/>
        </p:nvCxnSpPr>
        <p:spPr>
          <a:xfrm xmlns:a="http://schemas.openxmlformats.org/drawingml/2006/main">
            <a:off x="400050" y="641985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2" name="t-42-681-H1 • LIFECYC">
            <a:extLst xmlns:a="http://schemas.openxmlformats.org/drawingml/2006/main">
              <a:ext uri="{FF2B5EF4-FFF2-40B4-BE49-F238E27FC236}">
                <a16:creationId xmlns:a16="http://schemas.microsoft.com/office/drawing/2014/main" id="{EDD5B9F8-BC99-47BE-9D73-9B60751FE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4095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H1 • LIFECYCLE</a:t>
            </a:r>
          </a:p>
        </p:txBody>
      </p:sp>
      <p:sp>
        <p:nvSpPr>
          <p:cNvPr id="33" name="t-1190-681-14">
            <a:extLst xmlns:a="http://schemas.openxmlformats.org/drawingml/2006/main">
              <a:ext uri="{FF2B5EF4-FFF2-40B4-BE49-F238E27FC236}">
                <a16:creationId xmlns:a16="http://schemas.microsoft.com/office/drawing/2014/main" id="{E4693C28-F0DF-44C9-96DE-801F04EF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43242852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-42-174-Coverage is">
            <a:extLst xmlns:a="http://schemas.openxmlformats.org/drawingml/2006/main">
              <a:ext uri="{FF2B5EF4-FFF2-40B4-BE49-F238E27FC236}">
                <a16:creationId xmlns:a16="http://schemas.microsoft.com/office/drawing/2014/main" id="{338515A0-5136-4CAB-905A-20A46FE9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8572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Coverage is a classification problem, not a single universal percentage.</a:t>
            </a:r>
          </a:p>
        </p:txBody>
      </p:sp>
      <p:sp>
        <p:nvSpPr>
          <p:cNvPr id="2" name="coverage-42-250">
            <a:extLst xmlns:a="http://schemas.openxmlformats.org/drawingml/2006/main">
              <a:ext uri="{FF2B5EF4-FFF2-40B4-BE49-F238E27FC236}">
                <a16:creationId xmlns:a16="http://schemas.microsoft.com/office/drawing/2014/main" id="{DA8632AE-D580-4828-A6AF-68F19FC9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3524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EF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3" name="t-66-274-TYPED / KNOW">
            <a:extLst xmlns:a="http://schemas.openxmlformats.org/drawingml/2006/main">
              <a:ext uri="{FF2B5EF4-FFF2-40B4-BE49-F238E27FC236}">
                <a16:creationId xmlns:a16="http://schemas.microsoft.com/office/drawing/2014/main" id="{D38D1DF8-5DF4-43AB-AC40-3A4ADDE71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09850"/>
            <a:ext cx="3067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803D"/>
                </a:solidFill>
                <a:latin typeface="Helvetica Neue"/>
                <a:ea typeface="Helvetica Neue"/>
                <a:cs typeface="Helvetica Neue"/>
              </a:defRPr>
            </a:pPr>
            <a:r>
              <a:t>TYPED / KNOWN</a:t>
            </a:r>
          </a:p>
        </p:txBody>
      </p:sp>
      <p:sp>
        <p:nvSpPr>
          <p:cNvPr id="4" name="t-66-330-Compiler or">
            <a:extLst xmlns:a="http://schemas.openxmlformats.org/drawingml/2006/main">
              <a:ext uri="{FF2B5EF4-FFF2-40B4-BE49-F238E27FC236}">
                <a16:creationId xmlns:a16="http://schemas.microsoft.com/office/drawing/2014/main" id="{92B2E335-324B-4751-A64E-405390C1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306705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Compiler or trusted caller supplies an exact semantic identity. Type-aware policy can apply.</a:t>
            </a:r>
          </a:p>
        </p:txBody>
      </p:sp>
      <p:sp>
        <p:nvSpPr>
          <p:cNvPr id="5" name="coverage-455-250">
            <a:extLst xmlns:a="http://schemas.openxmlformats.org/drawingml/2006/main">
              <a:ext uri="{FF2B5EF4-FFF2-40B4-BE49-F238E27FC236}">
                <a16:creationId xmlns:a16="http://schemas.microsoft.com/office/drawing/2014/main" id="{944D6895-0EDE-430A-9EE2-92C7D98B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81250"/>
            <a:ext cx="3524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t-479-274-UNKNOWN / FA">
            <a:extLst xmlns:a="http://schemas.openxmlformats.org/drawingml/2006/main">
              <a:ext uri="{FF2B5EF4-FFF2-40B4-BE49-F238E27FC236}">
                <a16:creationId xmlns:a16="http://schemas.microsoft.com/office/drawing/2014/main" id="{7D886598-66DB-4B69-ADA7-7869C91B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609850"/>
            <a:ext cx="3067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UNKNOWN / FALLBACK</a:t>
            </a:r>
          </a:p>
        </p:txBody>
      </p:sp>
      <p:sp>
        <p:nvSpPr>
          <p:cNvPr id="7" name="t-479-330-Program cont">
            <a:extLst xmlns:a="http://schemas.openxmlformats.org/drawingml/2006/main">
              <a:ext uri="{FF2B5EF4-FFF2-40B4-BE49-F238E27FC236}">
                <a16:creationId xmlns:a16="http://schemas.microsoft.com/office/drawing/2014/main" id="{41F82408-DC30-45C7-80D7-EDE65CD5C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143250"/>
            <a:ext cx="306705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Program continues through the conventional Layout path. No type-isolation claim applies.</a:t>
            </a:r>
          </a:p>
        </p:txBody>
      </p:sp>
      <p:sp>
        <p:nvSpPr>
          <p:cNvPr id="8" name="coverage-868-250">
            <a:extLst xmlns:a="http://schemas.openxmlformats.org/drawingml/2006/main">
              <a:ext uri="{FF2B5EF4-FFF2-40B4-BE49-F238E27FC236}">
                <a16:creationId xmlns:a16="http://schemas.microsoft.com/office/drawing/2014/main" id="{C06688D4-867D-4C33-A553-BA5E0137D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81250"/>
            <a:ext cx="3524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9" name="t-892-274-OUTSIDE FRON">
            <a:extLst xmlns:a="http://schemas.openxmlformats.org/drawingml/2006/main">
              <a:ext uri="{FF2B5EF4-FFF2-40B4-BE49-F238E27FC236}">
                <a16:creationId xmlns:a16="http://schemas.microsoft.com/office/drawing/2014/main" id="{8CBB14BC-0155-4BA1-B0E5-251C643D3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09850"/>
            <a:ext cx="3067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OUTSIDE FRONTEND</a:t>
            </a:r>
          </a:p>
        </p:txBody>
      </p:sp>
      <p:sp>
        <p:nvSpPr>
          <p:cNvPr id="10" name="t-892-330-Custom alloc">
            <a:extLst xmlns:a="http://schemas.openxmlformats.org/drawingml/2006/main">
              <a:ext uri="{FF2B5EF4-FFF2-40B4-BE49-F238E27FC236}">
                <a16:creationId xmlns:a16="http://schemas.microsoft.com/office/drawing/2014/main" id="{D361A5DB-C708-440E-8B16-E176A274C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43250"/>
            <a:ext cx="306705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Custom allocator, FFI, or ambiguous ownership may require another frontend or remain uncovered.</a:t>
            </a:r>
          </a:p>
        </p:txBody>
      </p:sp>
      <p:sp>
        <p:nvSpPr>
          <p:cNvPr id="11" name="t-42-550-Equal box wi">
            <a:extLst xmlns:a="http://schemas.openxmlformats.org/drawingml/2006/main">
              <a:ext uri="{FF2B5EF4-FFF2-40B4-BE49-F238E27FC236}">
                <a16:creationId xmlns:a16="http://schemas.microsoft.com/office/drawing/2014/main" id="{335C3A48-1275-4596-B579-042EE169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0"/>
            <a:ext cx="11391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Equal box widths do not imply measured proportions.</a:t>
            </a:r>
          </a:p>
        </p:txBody>
      </p:sp>
      <p:sp>
        <p:nvSpPr>
          <p:cNvPr id="12" name="t-42-30-H1 • COVERAG">
            <a:extLst xmlns:a="http://schemas.openxmlformats.org/drawingml/2006/main">
              <a:ext uri="{FF2B5EF4-FFF2-40B4-BE49-F238E27FC236}">
                <a16:creationId xmlns:a16="http://schemas.microsoft.com/office/drawing/2014/main" id="{55766074-608C-4186-BC7C-D43EADD7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762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H1 • COVERAGE BOUNDARY</a:t>
            </a:r>
          </a:p>
        </p:txBody>
      </p:sp>
      <p:sp>
        <p:nvSpPr>
          <p:cNvPr id="13" name="t-42-58-Fallback pre">
            <a:extLst xmlns:a="http://schemas.openxmlformats.org/drawingml/2006/main">
              <a:ext uri="{FF2B5EF4-FFF2-40B4-BE49-F238E27FC236}">
                <a16:creationId xmlns:a16="http://schemas.microsoft.com/office/drawing/2014/main" id="{311ADBB7-0787-4C74-B699-A675ED4D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Fallback preserves execution when semantics are absent, but it also bounds protection.</a:t>
            </a:r>
          </a:p>
        </p:txBody>
      </p:sp>
      <p:cxnSp>
        <p:nvCxnSpPr>
          <p:cNvPr id="30" name="footer-rule-42-674"/>
          <p:cNvCxnSpPr/>
          <p:nvPr/>
        </p:nvCxnSpPr>
        <p:spPr>
          <a:xfrm xmlns:a="http://schemas.openxmlformats.org/drawingml/2006/main">
            <a:off x="400050" y="641985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5" name="t-42-681-H1 • COVERAG">
            <a:extLst xmlns:a="http://schemas.openxmlformats.org/drawingml/2006/main">
              <a:ext uri="{FF2B5EF4-FFF2-40B4-BE49-F238E27FC236}">
                <a16:creationId xmlns:a16="http://schemas.microsoft.com/office/drawing/2014/main" id="{7F9CBDDE-1B9F-4973-812C-536C1E540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4095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H1 • COVERAGE BOUNDARY</a:t>
            </a:r>
          </a:p>
        </p:txBody>
      </p:sp>
      <p:sp>
        <p:nvSpPr>
          <p:cNvPr id="16" name="t-1190-681-15">
            <a:extLst xmlns:a="http://schemas.openxmlformats.org/drawingml/2006/main">
              <a:ext uri="{FF2B5EF4-FFF2-40B4-BE49-F238E27FC236}">
                <a16:creationId xmlns:a16="http://schemas.microsoft.com/office/drawing/2014/main" id="{6D7DA482-35F6-459D-AFD2-ACF55653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76637344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metrics-42-170">
            <a:extLst xmlns:a="http://schemas.openxmlformats.org/drawingml/2006/main">
              <a:ext uri="{FF2B5EF4-FFF2-40B4-BE49-F238E27FC236}">
                <a16:creationId xmlns:a16="http://schemas.microsoft.com/office/drawing/2014/main" id="{EB61A878-866C-451B-B646-081E6F01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1391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EF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2" name="t-66-192-6">
            <a:extLst xmlns:a="http://schemas.openxmlformats.org/drawingml/2006/main">
              <a:ext uri="{FF2B5EF4-FFF2-40B4-BE49-F238E27FC236}">
                <a16:creationId xmlns:a16="http://schemas.microsoft.com/office/drawing/2014/main" id="{6CCE531B-D4F7-4991-A74D-98AE95C98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1143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5803D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3" name="t-140-201-direct">
            <a:extLst xmlns:a="http://schemas.openxmlformats.org/drawingml/2006/main">
              <a:ext uri="{FF2B5EF4-FFF2-40B4-BE49-F238E27FC236}">
                <a16:creationId xmlns:a16="http://schemas.microsoft.com/office/drawing/2014/main" id="{BFCD4B36-4FB5-47BE-B372-A00B467D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14525"/>
            <a:ext cx="1028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direct</a:t>
            </a:r>
          </a:p>
        </p:txBody>
      </p:sp>
      <p:sp>
        <p:nvSpPr>
          <p:cNvPr id="4" name="t-286-192-369">
            <a:extLst xmlns:a="http://schemas.openxmlformats.org/drawingml/2006/main">
              <a:ext uri="{FF2B5EF4-FFF2-40B4-BE49-F238E27FC236}">
                <a16:creationId xmlns:a16="http://schemas.microsoft.com/office/drawing/2014/main" id="{93F23EDF-F921-4D9C-9234-0CDF1DEB6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828800"/>
            <a:ext cx="1143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5803D"/>
                </a:solidFill>
                <a:latin typeface="Helvetica Neue"/>
                <a:ea typeface="Helvetica Neue"/>
                <a:cs typeface="Helvetica Neue"/>
              </a:defRPr>
            </a:pPr>
            <a:r>
              <a:t>369</a:t>
            </a:r>
          </a:p>
        </p:txBody>
      </p:sp>
      <p:sp>
        <p:nvSpPr>
          <p:cNvPr id="5" name="t-372-201-scopes">
            <a:extLst xmlns:a="http://schemas.openxmlformats.org/drawingml/2006/main">
              <a:ext uri="{FF2B5EF4-FFF2-40B4-BE49-F238E27FC236}">
                <a16:creationId xmlns:a16="http://schemas.microsoft.com/office/drawing/2014/main" id="{1E66385A-B39B-4619-9052-D909A91C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914525"/>
            <a:ext cx="10668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scopes</a:t>
            </a:r>
          </a:p>
        </p:txBody>
      </p:sp>
      <p:sp>
        <p:nvSpPr>
          <p:cNvPr id="6" name="t-526-192-320">
            <a:extLst xmlns:a="http://schemas.openxmlformats.org/drawingml/2006/main">
              <a:ext uri="{FF2B5EF4-FFF2-40B4-BE49-F238E27FC236}">
                <a16:creationId xmlns:a16="http://schemas.microsoft.com/office/drawing/2014/main" id="{B751CC88-F814-425A-B904-D1F3361AA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828800"/>
            <a:ext cx="1143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5803D"/>
                </a:solidFill>
                <a:latin typeface="Helvetica Neue"/>
                <a:ea typeface="Helvetica Neue"/>
                <a:cs typeface="Helvetica Neue"/>
              </a:defRPr>
            </a:pPr>
            <a:r>
              <a:t>320</a:t>
            </a:r>
          </a:p>
        </p:txBody>
      </p:sp>
      <p:sp>
        <p:nvSpPr>
          <p:cNvPr id="7" name="t-612-201-Drop">
            <a:extLst xmlns:a="http://schemas.openxmlformats.org/drawingml/2006/main">
              <a:ext uri="{FF2B5EF4-FFF2-40B4-BE49-F238E27FC236}">
                <a16:creationId xmlns:a16="http://schemas.microsoft.com/office/drawing/2014/main" id="{8B5CBDC6-673F-4457-87BF-2B4DBA20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914525"/>
            <a:ext cx="857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Drop</a:t>
            </a:r>
          </a:p>
        </p:txBody>
      </p:sp>
      <p:sp>
        <p:nvSpPr>
          <p:cNvPr id="8" name="t-760-192-873 / 197">
            <a:extLst xmlns:a="http://schemas.openxmlformats.org/drawingml/2006/main">
              <a:ext uri="{FF2B5EF4-FFF2-40B4-BE49-F238E27FC236}">
                <a16:creationId xmlns:a16="http://schemas.microsoft.com/office/drawing/2014/main" id="{E5391F8C-A369-439C-934A-252E7266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28800"/>
            <a:ext cx="1524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5803D"/>
                </a:solidFill>
                <a:latin typeface="Helvetica Neue"/>
                <a:ea typeface="Helvetica Neue"/>
                <a:cs typeface="Helvetica Neue"/>
              </a:defRPr>
            </a:pPr>
            <a:r>
              <a:t>873 / 197</a:t>
            </a:r>
          </a:p>
        </p:txBody>
      </p:sp>
      <p:sp>
        <p:nvSpPr>
          <p:cNvPr id="9" name="t-910-201-typed / fall">
            <a:extLst xmlns:a="http://schemas.openxmlformats.org/drawingml/2006/main">
              <a:ext uri="{FF2B5EF4-FFF2-40B4-BE49-F238E27FC236}">
                <a16:creationId xmlns:a16="http://schemas.microsoft.com/office/drawing/2014/main" id="{7A024933-7E8E-4462-B7E5-0990EEE3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14525"/>
            <a:ext cx="2762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typed / fallback runtime</a:t>
            </a:r>
          </a:p>
        </p:txBody>
      </p:sp>
      <p:sp>
        <p:nvSpPr>
          <p:cNvPr id="10" name="supports-42-292">
            <a:extLst xmlns:a="http://schemas.openxmlformats.org/drawingml/2006/main">
              <a:ext uri="{FF2B5EF4-FFF2-40B4-BE49-F238E27FC236}">
                <a16:creationId xmlns:a16="http://schemas.microsoft.com/office/drawing/2014/main" id="{628E4E32-C4E5-4D5D-86A2-420CF6AF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1300"/>
            <a:ext cx="54673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EF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11" name="t-66-316-SUPPORTS">
            <a:extLst xmlns:a="http://schemas.openxmlformats.org/drawingml/2006/main">
              <a:ext uri="{FF2B5EF4-FFF2-40B4-BE49-F238E27FC236}">
                <a16:creationId xmlns:a16="http://schemas.microsoft.com/office/drawing/2014/main" id="{54730DBB-A22E-4E6B-8532-041BF00B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09900"/>
            <a:ext cx="5010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803D"/>
                </a:solidFill>
                <a:latin typeface="Helvetica Neue"/>
                <a:ea typeface="Helvetica Neue"/>
                <a:cs typeface="Helvetica Neue"/>
              </a:defRPr>
            </a:pPr>
            <a:r>
              <a:t>SUPPORTS</a:t>
            </a:r>
          </a:p>
        </p:txBody>
      </p:sp>
      <p:sp>
        <p:nvSpPr>
          <p:cNvPr id="12" name="t-66-364-• actual MIR">
            <a:extLst xmlns:a="http://schemas.openxmlformats.org/drawingml/2006/main">
              <a:ext uri="{FF2B5EF4-FFF2-40B4-BE49-F238E27FC236}">
                <a16:creationId xmlns:a16="http://schemas.microsoft.com/office/drawing/2014/main" id="{615A0A59-8316-41F4-98AA-EBC77498B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67100"/>
            <a:ext cx="501015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• actual MIR rewrite on bounded paths
• Oxipng v4.0.3 one-shot build/run
• 12/12 static transfer rewrites
• runtime transfer 3 attempted / 1 applied / 2 rejected
• wrong-type non-reuse and same-type reuse oracle</a:t>
            </a:r>
          </a:p>
        </p:txBody>
      </p:sp>
      <p:sp>
        <p:nvSpPr>
          <p:cNvPr id="13" name="limits-664-292">
            <a:extLst xmlns:a="http://schemas.openxmlformats.org/drawingml/2006/main">
              <a:ext uri="{FF2B5EF4-FFF2-40B4-BE49-F238E27FC236}">
                <a16:creationId xmlns:a16="http://schemas.microsoft.com/office/drawing/2014/main" id="{C476D8F8-4986-422A-B5BA-1E85DF51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81300"/>
            <a:ext cx="54673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14" name="t-688-316-DOES NOT EST">
            <a:extLst xmlns:a="http://schemas.openxmlformats.org/drawingml/2006/main">
              <a:ext uri="{FF2B5EF4-FFF2-40B4-BE49-F238E27FC236}">
                <a16:creationId xmlns:a16="http://schemas.microsoft.com/office/drawing/2014/main" id="{E7520F60-351F-4260-B606-84C069E65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09900"/>
            <a:ext cx="5010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DOES NOT ESTABLISH</a:t>
            </a:r>
          </a:p>
        </p:txBody>
      </p:sp>
      <p:sp>
        <p:nvSpPr>
          <p:cNvPr id="15" name="t-688-364-• whole-appl">
            <a:extLst xmlns:a="http://schemas.openxmlformats.org/drawingml/2006/main">
              <a:ext uri="{FF2B5EF4-FFF2-40B4-BE49-F238E27FC236}">
                <a16:creationId xmlns:a16="http://schemas.microsoft.com/office/drawing/2014/main" id="{C88497C0-7080-40A1-A95B-89D193B3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67100"/>
            <a:ext cx="501015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• whole-application exact pairing (mismatch = 1)
• universal source coverage
• unmodified-app deployment
• stable cross-version rustc ABI
• performance</a:t>
            </a:r>
          </a:p>
        </p:txBody>
      </p:sp>
      <p:sp>
        <p:nvSpPr>
          <p:cNvPr id="16" name="t-42-30-H1 • JUDGMEN">
            <a:extLst xmlns:a="http://schemas.openxmlformats.org/drawingml/2006/main">
              <a:ext uri="{FF2B5EF4-FFF2-40B4-BE49-F238E27FC236}">
                <a16:creationId xmlns:a16="http://schemas.microsoft.com/office/drawing/2014/main" id="{969E73F9-6F2C-45BE-8DC9-0A421134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762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H1 • JUDGMENT</a:t>
            </a:r>
          </a:p>
        </p:txBody>
      </p:sp>
      <p:sp>
        <p:nvSpPr>
          <p:cNvPr id="17" name="t-42-58-H1 is suppor">
            <a:extLst xmlns:a="http://schemas.openxmlformats.org/drawingml/2006/main">
              <a:ext uri="{FF2B5EF4-FFF2-40B4-BE49-F238E27FC236}">
                <a16:creationId xmlns:a16="http://schemas.microsoft.com/office/drawing/2014/main" id="{9BAFC635-9930-41A8-A41D-AF5CFE4E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H1 is supported by source-bound probes and an instrumented real application, with version and coverage limits.</a:t>
            </a:r>
          </a:p>
        </p:txBody>
      </p:sp>
      <p:sp>
        <p:nvSpPr>
          <p:cNvPr id="18" name="badge-930-28">
            <a:extLst xmlns:a="http://schemas.openxmlformats.org/drawingml/2006/main">
              <a:ext uri="{FF2B5EF4-FFF2-40B4-BE49-F238E27FC236}">
                <a16:creationId xmlns:a16="http://schemas.microsoft.com/office/drawing/2014/main" id="{1648D1D9-8FAA-4399-81F7-136F396F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6700"/>
            <a:ext cx="2933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7EF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19" name="t-942-33-SOURCE-BOUND">
            <a:extLst xmlns:a="http://schemas.openxmlformats.org/drawingml/2006/main">
              <a:ext uri="{FF2B5EF4-FFF2-40B4-BE49-F238E27FC236}">
                <a16:creationId xmlns:a16="http://schemas.microsoft.com/office/drawing/2014/main" id="{AE0B22A4-816D-46AD-8F99-1CC66ACA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14325"/>
            <a:ext cx="2705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803D"/>
                </a:solidFill>
                <a:latin typeface="Helvetica Neue"/>
                <a:ea typeface="Helvetica Neue"/>
                <a:cs typeface="Helvetica Neue"/>
              </a:defRPr>
            </a:pPr>
            <a:r>
              <a:t>SOURCE-BOUND FUNCTIONAL • 41205d3</a:t>
            </a:r>
          </a:p>
        </p:txBody>
      </p:sp>
      <p:cxnSp>
        <p:nvCxnSpPr>
          <p:cNvPr id="43" name="footer-rule-42-674"/>
          <p:cNvCxnSpPr/>
          <p:nvPr/>
        </p:nvCxnSpPr>
        <p:spPr>
          <a:xfrm xmlns:a="http://schemas.openxmlformats.org/drawingml/2006/main">
            <a:off x="400050" y="641985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1" name="t-42-681-H1 • JUDGMEN">
            <a:extLst xmlns:a="http://schemas.openxmlformats.org/drawingml/2006/main">
              <a:ext uri="{FF2B5EF4-FFF2-40B4-BE49-F238E27FC236}">
                <a16:creationId xmlns:a16="http://schemas.microsoft.com/office/drawing/2014/main" id="{642FEE0F-29CD-4555-9DDF-9BA6E250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4095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H1 • JUDGMENT</a:t>
            </a:r>
          </a:p>
        </p:txBody>
      </p:sp>
      <p:sp>
        <p:nvSpPr>
          <p:cNvPr id="22" name="t-1190-681-16">
            <a:extLst xmlns:a="http://schemas.openxmlformats.org/drawingml/2006/main">
              <a:ext uri="{FF2B5EF4-FFF2-40B4-BE49-F238E27FC236}">
                <a16:creationId xmlns:a16="http://schemas.microsoft.com/office/drawing/2014/main" id="{F00DE7D9-F228-4A0D-A8B9-9EA90D195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16</a:t>
            </a:r>
          </a:p>
        </p:txBody>
      </p:sp>
      <p:sp>
        <p:nvSpPr>
          <p:cNvPr id="23" name="t-480-681-Oxipng v4.0.">
            <a:extLst xmlns:a="http://schemas.openxmlformats.org/drawingml/2006/main">
              <a:ext uri="{FF2B5EF4-FFF2-40B4-BE49-F238E27FC236}">
                <a16:creationId xmlns:a16="http://schemas.microsoft.com/office/drawing/2014/main" id="{19DC0A45-7ADC-437D-9A4A-7F743654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86525"/>
            <a:ext cx="6477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Oxipng v4.0.3 • nightly-2022-07-01 • one shot</a:t>
            </a:r>
          </a:p>
        </p:txBody>
      </p:sp>
    </p:spTree>
    <p:extLst>
      <p:ext uri="{BB962C8B-B14F-4D97-AF65-F5344CB8AC3E}">
        <p14:creationId xmlns:p14="http://schemas.microsoft.com/office/powerpoint/2010/main" val="38146382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efore-after-592-365">
            <a:extLst xmlns:a="http://schemas.openxmlformats.org/drawingml/2006/main">
              <a:ext uri="{FF2B5EF4-FFF2-40B4-BE49-F238E27FC236}">
                <a16:creationId xmlns:a16="http://schemas.microsoft.com/office/drawing/2014/main" id="{F075FF37-7DD4-4CA7-B54A-3D0BCAA8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476625"/>
            <a:ext cx="8572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conventional-42-202">
            <a:extLst xmlns:a="http://schemas.openxmlformats.org/drawingml/2006/main">
              <a:ext uri="{FF2B5EF4-FFF2-40B4-BE49-F238E27FC236}">
                <a16:creationId xmlns:a16="http://schemas.microsoft.com/office/drawing/2014/main" id="{28777FDC-6237-449E-AD40-87B5E958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47625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3" name="t-66-226-CONVENTIONAL">
            <a:extLst xmlns:a="http://schemas.openxmlformats.org/drawingml/2006/main">
              <a:ext uri="{FF2B5EF4-FFF2-40B4-BE49-F238E27FC236}">
                <a16:creationId xmlns:a16="http://schemas.microsoft.com/office/drawing/2014/main" id="{EF9FBF5B-928F-4A57-A9DB-150B751DF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4305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CONVENTIONAL SAME-SIZE REUSE</a:t>
            </a:r>
          </a:p>
        </p:txBody>
      </p:sp>
      <p:sp>
        <p:nvSpPr>
          <p:cNvPr id="4" name="slot-110-318">
            <a:extLst xmlns:a="http://schemas.openxmlformats.org/drawingml/2006/main">
              <a:ext uri="{FF2B5EF4-FFF2-40B4-BE49-F238E27FC236}">
                <a16:creationId xmlns:a16="http://schemas.microsoft.com/office/drawing/2014/main" id="{E35BD8B4-4350-43C6-B52E-658942CF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28950"/>
            <a:ext cx="1333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t-140-332-slot">
            <a:extLst xmlns:a="http://schemas.openxmlformats.org/drawingml/2006/main">
              <a:ext uri="{FF2B5EF4-FFF2-40B4-BE49-F238E27FC236}">
                <a16:creationId xmlns:a16="http://schemas.microsoft.com/office/drawing/2014/main" id="{6B09325E-82F7-4B03-9C7D-989034494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62300"/>
            <a:ext cx="762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slot</a:t>
            </a:r>
          </a:p>
        </p:txBody>
      </p:sp>
      <p:sp>
        <p:nvSpPr>
          <p:cNvPr id="6" name="t-128-374-A freed">
            <a:extLst xmlns:a="http://schemas.openxmlformats.org/drawingml/2006/main">
              <a:ext uri="{FF2B5EF4-FFF2-40B4-BE49-F238E27FC236}">
                <a16:creationId xmlns:a16="http://schemas.microsoft.com/office/drawing/2014/main" id="{069678B8-9F87-456F-9F91-3D0DCD49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62350"/>
            <a:ext cx="990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A freed</a:t>
            </a:r>
          </a:p>
        </p:txBody>
      </p:sp>
      <p:sp>
        <p:nvSpPr>
          <p:cNvPr id="7" name="reuse-278-365">
            <a:extLst xmlns:a="http://schemas.openxmlformats.org/drawingml/2006/main">
              <a:ext uri="{FF2B5EF4-FFF2-40B4-BE49-F238E27FC236}">
                <a16:creationId xmlns:a16="http://schemas.microsoft.com/office/drawing/2014/main" id="{5E47DF31-98FB-45F9-8DCA-1FC4049B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476625"/>
            <a:ext cx="952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8" name="b-390-318">
            <a:extLst xmlns:a="http://schemas.openxmlformats.org/drawingml/2006/main">
              <a:ext uri="{FF2B5EF4-FFF2-40B4-BE49-F238E27FC236}">
                <a16:creationId xmlns:a16="http://schemas.microsoft.com/office/drawing/2014/main" id="{72A32997-F273-441B-99D8-18E91D30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28950"/>
            <a:ext cx="952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5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9" name="t-420-354-B">
            <a:extLst xmlns:a="http://schemas.openxmlformats.org/drawingml/2006/main">
              <a:ext uri="{FF2B5EF4-FFF2-40B4-BE49-F238E27FC236}">
                <a16:creationId xmlns:a16="http://schemas.microsoft.com/office/drawing/2014/main" id="{1E639DB2-0105-40CB-B19B-7EB44AF8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71850"/>
            <a:ext cx="381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defRPr>
            </a:pPr>
            <a:r>
              <a:t>B</a:t>
            </a:r>
          </a:p>
        </p:txBody>
      </p:sp>
      <p:sp>
        <p:nvSpPr>
          <p:cNvPr id="10" name="t-66-478-Different ty">
            <a:extLst xmlns:a="http://schemas.openxmlformats.org/drawingml/2006/main">
              <a:ext uri="{FF2B5EF4-FFF2-40B4-BE49-F238E27FC236}">
                <a16:creationId xmlns:a16="http://schemas.microsoft.com/office/drawing/2014/main" id="{1B5F52A3-5C91-49AC-87DF-745B2BF9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52950"/>
            <a:ext cx="4305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Different type, same layout</a:t>
            </a:r>
          </a:p>
        </p:txBody>
      </p:sp>
      <p:sp>
        <p:nvSpPr>
          <p:cNvPr id="11" name="isolated-682-202">
            <a:extLst xmlns:a="http://schemas.openxmlformats.org/drawingml/2006/main">
              <a:ext uri="{FF2B5EF4-FFF2-40B4-BE49-F238E27FC236}">
                <a16:creationId xmlns:a16="http://schemas.microsoft.com/office/drawing/2014/main" id="{A8C69B27-B7A6-4C10-85D4-AD1F9F37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24050"/>
            <a:ext cx="52959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EF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12" name="t-706-226-TYPE-ISOLATE">
            <a:extLst xmlns:a="http://schemas.openxmlformats.org/drawingml/2006/main">
              <a:ext uri="{FF2B5EF4-FFF2-40B4-BE49-F238E27FC236}">
                <a16:creationId xmlns:a16="http://schemas.microsoft.com/office/drawing/2014/main" id="{D09A6DA7-2B22-4C9E-9BF6-F7F794E2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52650"/>
            <a:ext cx="4838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803D"/>
                </a:solidFill>
                <a:latin typeface="Helvetica Neue"/>
                <a:ea typeface="Helvetica Neue"/>
                <a:cs typeface="Helvetica Neue"/>
              </a:defRPr>
            </a:pPr>
            <a:r>
              <a:t>TYPE-ISOLATED ORDINARY REUSE</a:t>
            </a:r>
          </a:p>
        </p:txBody>
      </p:sp>
      <p:sp>
        <p:nvSpPr>
          <p:cNvPr id="13" name="slot-742-318">
            <a:extLst xmlns:a="http://schemas.openxmlformats.org/drawingml/2006/main">
              <a:ext uri="{FF2B5EF4-FFF2-40B4-BE49-F238E27FC236}">
                <a16:creationId xmlns:a16="http://schemas.microsoft.com/office/drawing/2014/main" id="{A54F4D14-C7F4-415F-8FBA-DCAD60CC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28950"/>
            <a:ext cx="1333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14" name="t-760-354-A slot">
            <a:extLst xmlns:a="http://schemas.openxmlformats.org/drawingml/2006/main">
              <a:ext uri="{FF2B5EF4-FFF2-40B4-BE49-F238E27FC236}">
                <a16:creationId xmlns:a16="http://schemas.microsoft.com/office/drawing/2014/main" id="{5B6ADD21-1E86-4B56-A7C4-0164E1C6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71850"/>
            <a:ext cx="990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5803D"/>
                </a:solidFill>
                <a:latin typeface="Helvetica Neue"/>
                <a:ea typeface="Helvetica Neue"/>
                <a:cs typeface="Helvetica Neue"/>
              </a:defRPr>
            </a:pPr>
            <a:r>
              <a:t>A slot</a:t>
            </a:r>
          </a:p>
        </p:txBody>
      </p:sp>
      <p:sp>
        <p:nvSpPr>
          <p:cNvPr id="15" name="blocked-904-365">
            <a:extLst xmlns:a="http://schemas.openxmlformats.org/drawingml/2006/main">
              <a:ext uri="{FF2B5EF4-FFF2-40B4-BE49-F238E27FC236}">
                <a16:creationId xmlns:a16="http://schemas.microsoft.com/office/drawing/2014/main" id="{ABDCFFC2-3601-4414-BE05-A18E1D30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476625"/>
            <a:ext cx="7620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16" name="b-1006-318">
            <a:extLst xmlns:a="http://schemas.openxmlformats.org/drawingml/2006/main">
              <a:ext uri="{FF2B5EF4-FFF2-40B4-BE49-F238E27FC236}">
                <a16:creationId xmlns:a16="http://schemas.microsoft.com/office/drawing/2014/main" id="{ED363561-3510-41E5-9403-D3B98872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028950"/>
            <a:ext cx="8763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17" name="t-1032-354-B">
            <a:extLst xmlns:a="http://schemas.openxmlformats.org/drawingml/2006/main">
              <a:ext uri="{FF2B5EF4-FFF2-40B4-BE49-F238E27FC236}">
                <a16:creationId xmlns:a16="http://schemas.microsoft.com/office/drawing/2014/main" id="{09EF6EB3-93A1-461D-99A2-179DC83F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371850"/>
            <a:ext cx="381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B</a:t>
            </a:r>
          </a:p>
        </p:txBody>
      </p:sp>
      <p:sp>
        <p:nvSpPr>
          <p:cNvPr id="18" name="t-1104-354-blocked">
            <a:extLst xmlns:a="http://schemas.openxmlformats.org/drawingml/2006/main">
              <a:ext uri="{FF2B5EF4-FFF2-40B4-BE49-F238E27FC236}">
                <a16:creationId xmlns:a16="http://schemas.microsoft.com/office/drawing/2014/main" id="{77044361-9C38-4BD9-9609-ED2A5175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371850"/>
            <a:ext cx="95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blocked</a:t>
            </a:r>
          </a:p>
        </p:txBody>
      </p:sp>
      <p:sp>
        <p:nvSpPr>
          <p:cNvPr id="19" name="t-706-478-A can reclai">
            <a:extLst xmlns:a="http://schemas.openxmlformats.org/drawingml/2006/main">
              <a:ext uri="{FF2B5EF4-FFF2-40B4-BE49-F238E27FC236}">
                <a16:creationId xmlns:a16="http://schemas.microsoft.com/office/drawing/2014/main" id="{2F7F7538-FB65-4053-B381-9BE6877F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552950"/>
            <a:ext cx="4838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57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A can reclaim its own identity class; B cannot take A's slot.</a:t>
            </a:r>
          </a:p>
        </p:txBody>
      </p:sp>
      <p:sp>
        <p:nvSpPr>
          <p:cNvPr id="20" name="t-42-582-Guarantee re">
            <a:extLst xmlns:a="http://schemas.openxmlformats.org/drawingml/2006/main">
              <a:ext uri="{FF2B5EF4-FFF2-40B4-BE49-F238E27FC236}">
                <a16:creationId xmlns:a16="http://schemas.microsoft.com/office/drawing/2014/main" id="{EDD517E6-0281-4090-8EBD-CBB699B29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43550"/>
            <a:ext cx="11391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Guarantee requires covered requests, distinct trusted exact identities, and the ordinary cache path.</a:t>
            </a:r>
          </a:p>
        </p:txBody>
      </p:sp>
      <p:sp>
        <p:nvSpPr>
          <p:cNvPr id="21" name="t-42-30-H2 • TYPE IS">
            <a:extLst xmlns:a="http://schemas.openxmlformats.org/drawingml/2006/main">
              <a:ext uri="{FF2B5EF4-FFF2-40B4-BE49-F238E27FC236}">
                <a16:creationId xmlns:a16="http://schemas.microsoft.com/office/drawing/2014/main" id="{BA9F6750-E09D-49F2-910F-6D17EA13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762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H2 • TYPE ISOLATION</a:t>
            </a:r>
          </a:p>
        </p:txBody>
      </p:sp>
      <p:sp>
        <p:nvSpPr>
          <p:cNvPr id="22" name="t-42-58-Distinct tru">
            <a:extLst xmlns:a="http://schemas.openxmlformats.org/drawingml/2006/main">
              <a:ext uri="{FF2B5EF4-FFF2-40B4-BE49-F238E27FC236}">
                <a16:creationId xmlns:a16="http://schemas.microsoft.com/office/drawing/2014/main" id="{9788B20E-E43F-4639-9E2D-69D33C9CB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Distinct trusted allocator-visible identities separate ordinary cross-class reuse.</a:t>
            </a:r>
          </a:p>
        </p:txBody>
      </p:sp>
      <p:cxnSp>
        <p:nvCxnSpPr>
          <p:cNvPr id="48" name="footer-rule-42-674"/>
          <p:cNvCxnSpPr/>
          <p:nvPr/>
        </p:nvCxnSpPr>
        <p:spPr>
          <a:xfrm xmlns:a="http://schemas.openxmlformats.org/drawingml/2006/main">
            <a:off x="400050" y="641985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4" name="t-42-681-H2 • TYPE IS">
            <a:extLst xmlns:a="http://schemas.openxmlformats.org/drawingml/2006/main">
              <a:ext uri="{FF2B5EF4-FFF2-40B4-BE49-F238E27FC236}">
                <a16:creationId xmlns:a16="http://schemas.microsoft.com/office/drawing/2014/main" id="{F43B6F0E-0244-438E-A38D-0C8ED0B5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4095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H2 • TYPE ISOLATION</a:t>
            </a:r>
          </a:p>
        </p:txBody>
      </p:sp>
      <p:sp>
        <p:nvSpPr>
          <p:cNvPr id="25" name="t-1190-681-17">
            <a:extLst xmlns:a="http://schemas.openxmlformats.org/drawingml/2006/main">
              <a:ext uri="{FF2B5EF4-FFF2-40B4-BE49-F238E27FC236}">
                <a16:creationId xmlns:a16="http://schemas.microsoft.com/office/drawing/2014/main" id="{5A02074C-10AC-4D91-9430-679A36553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32520548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x-axis-220-534"/>
          <p:cNvCxnSpPr/>
          <p:nvPr/>
        </p:nvCxnSpPr>
        <p:spPr>
          <a:xfrm xmlns:a="http://schemas.openxmlformats.org/drawingml/2006/main">
            <a:off x="2095500" y="5086350"/>
            <a:ext cx="885825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cxnSp>
        <p:nvCxnSpPr>
          <p:cNvPr id="24" name="y-axis-220-234"/>
          <p:cNvCxnSpPr/>
          <p:nvPr/>
        </p:nvCxnSpPr>
        <p:spPr>
          <a:xfrm xmlns:a="http://schemas.openxmlformats.org/drawingml/2006/main">
            <a:off x="2095500" y="2228850"/>
            <a:ext cx="9525" cy="28575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sp>
        <p:nvSpPr>
          <p:cNvPr id="3" name="t-925-560-reuse delay">
            <a:extLst xmlns:a="http://schemas.openxmlformats.org/drawingml/2006/main">
              <a:ext uri="{FF2B5EF4-FFF2-40B4-BE49-F238E27FC236}">
                <a16:creationId xmlns:a16="http://schemas.microsoft.com/office/drawing/2014/main" id="{AF06CC78-19B8-476E-893E-4047FFE3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334000"/>
            <a:ext cx="21431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reuse delay →</a:t>
            </a:r>
          </a:p>
        </p:txBody>
      </p:sp>
      <p:sp>
        <p:nvSpPr>
          <p:cNvPr id="4" name="t-42-202-identity res">
            <a:extLst xmlns:a="http://schemas.openxmlformats.org/drawingml/2006/main">
              <a:ext uri="{FF2B5EF4-FFF2-40B4-BE49-F238E27FC236}">
                <a16:creationId xmlns:a16="http://schemas.microsoft.com/office/drawing/2014/main" id="{907DC959-A478-47D4-BDC0-F407B6CA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171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identity restriction →</a:t>
            </a:r>
          </a:p>
        </p:txBody>
      </p:sp>
      <p:sp>
        <p:nvSpPr>
          <p:cNvPr id="5" name="quad-255-380">
            <a:extLst xmlns:a="http://schemas.openxmlformats.org/drawingml/2006/main">
              <a:ext uri="{FF2B5EF4-FFF2-40B4-BE49-F238E27FC236}">
                <a16:creationId xmlns:a16="http://schemas.microsoft.com/office/drawing/2014/main" id="{EB66F703-1E1C-4181-A68E-4A96DB73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619500"/>
            <a:ext cx="2762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t-275-400-CONVENTIONAL">
            <a:extLst xmlns:a="http://schemas.openxmlformats.org/drawingml/2006/main">
              <a:ext uri="{FF2B5EF4-FFF2-40B4-BE49-F238E27FC236}">
                <a16:creationId xmlns:a16="http://schemas.microsoft.com/office/drawing/2014/main" id="{13A99080-0480-4EA7-8F7E-A2A1A020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810000"/>
            <a:ext cx="238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CONVENTIONAL</a:t>
            </a:r>
          </a:p>
        </p:txBody>
      </p:sp>
      <p:sp>
        <p:nvSpPr>
          <p:cNvPr id="7" name="t-275-446-immediate •">
            <a:extLst xmlns:a="http://schemas.openxmlformats.org/drawingml/2006/main">
              <a:ext uri="{FF2B5EF4-FFF2-40B4-BE49-F238E27FC236}">
                <a16:creationId xmlns:a16="http://schemas.microsoft.com/office/drawing/2014/main" id="{80E0D2C5-9BCA-43EC-953B-A28421B63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248150"/>
            <a:ext cx="2381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immediate • any identity</a:t>
            </a:r>
          </a:p>
        </p:txBody>
      </p:sp>
      <p:sp>
        <p:nvSpPr>
          <p:cNvPr id="8" name="quad-825-380">
            <a:extLst xmlns:a="http://schemas.openxmlformats.org/drawingml/2006/main">
              <a:ext uri="{FF2B5EF4-FFF2-40B4-BE49-F238E27FC236}">
                <a16:creationId xmlns:a16="http://schemas.microsoft.com/office/drawing/2014/main" id="{474C4F45-2AA8-46E2-A1F2-6CF04341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619500"/>
            <a:ext cx="2762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5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9" name="t-845-400-QUARANTINE">
            <a:extLst xmlns:a="http://schemas.openxmlformats.org/drawingml/2006/main">
              <a:ext uri="{FF2B5EF4-FFF2-40B4-BE49-F238E27FC236}">
                <a16:creationId xmlns:a16="http://schemas.microsoft.com/office/drawing/2014/main" id="{8BEDF017-CA65-4C5B-BC23-E5DA9BF1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810000"/>
            <a:ext cx="238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defRPr>
            </a:pPr>
            <a:r>
              <a:t>QUARANTINE</a:t>
            </a:r>
          </a:p>
        </p:txBody>
      </p:sp>
      <p:sp>
        <p:nvSpPr>
          <p:cNvPr id="10" name="t-845-446-delayed • an">
            <a:extLst xmlns:a="http://schemas.openxmlformats.org/drawingml/2006/main">
              <a:ext uri="{FF2B5EF4-FFF2-40B4-BE49-F238E27FC236}">
                <a16:creationId xmlns:a16="http://schemas.microsoft.com/office/drawing/2014/main" id="{4A4DE30B-8541-4F95-9E6B-CF6B6074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248150"/>
            <a:ext cx="2381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delayed • any identity</a:t>
            </a:r>
          </a:p>
        </p:txBody>
      </p:sp>
      <p:sp>
        <p:nvSpPr>
          <p:cNvPr id="11" name="quad-255-238">
            <a:extLst xmlns:a="http://schemas.openxmlformats.org/drawingml/2006/main">
              <a:ext uri="{FF2B5EF4-FFF2-40B4-BE49-F238E27FC236}">
                <a16:creationId xmlns:a16="http://schemas.microsoft.com/office/drawing/2014/main" id="{C1CA7DDB-8361-41D3-8ED0-732CF643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266950"/>
            <a:ext cx="2762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EF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12" name="t-275-258-TYPE ISOLATI">
            <a:extLst xmlns:a="http://schemas.openxmlformats.org/drawingml/2006/main">
              <a:ext uri="{FF2B5EF4-FFF2-40B4-BE49-F238E27FC236}">
                <a16:creationId xmlns:a16="http://schemas.microsoft.com/office/drawing/2014/main" id="{F81A4FF4-95C3-4F40-9820-7AB7804AC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457450"/>
            <a:ext cx="238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803D"/>
                </a:solidFill>
                <a:latin typeface="Helvetica Neue"/>
                <a:ea typeface="Helvetica Neue"/>
                <a:cs typeface="Helvetica Neue"/>
              </a:defRPr>
            </a:pPr>
            <a:r>
              <a:t>TYPE ISOLATION</a:t>
            </a:r>
          </a:p>
        </p:txBody>
      </p:sp>
      <p:sp>
        <p:nvSpPr>
          <p:cNvPr id="13" name="t-275-304-immediate •">
            <a:extLst xmlns:a="http://schemas.openxmlformats.org/drawingml/2006/main">
              <a:ext uri="{FF2B5EF4-FFF2-40B4-BE49-F238E27FC236}">
                <a16:creationId xmlns:a16="http://schemas.microsoft.com/office/drawing/2014/main" id="{35D307CD-FFC0-4FEE-865F-B709E688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895600"/>
            <a:ext cx="2381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immediate • same identity</a:t>
            </a:r>
          </a:p>
        </p:txBody>
      </p:sp>
      <p:sp>
        <p:nvSpPr>
          <p:cNvPr id="14" name="quad-825-238">
            <a:extLst xmlns:a="http://schemas.openxmlformats.org/drawingml/2006/main">
              <a:ext uri="{FF2B5EF4-FFF2-40B4-BE49-F238E27FC236}">
                <a16:creationId xmlns:a16="http://schemas.microsoft.com/office/drawing/2014/main" id="{3D84C8B6-2352-4229-977A-80551E5B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66950"/>
            <a:ext cx="2762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5" name="t-845-258-COMBINED">
            <a:extLst xmlns:a="http://schemas.openxmlformats.org/drawingml/2006/main">
              <a:ext uri="{FF2B5EF4-FFF2-40B4-BE49-F238E27FC236}">
                <a16:creationId xmlns:a16="http://schemas.microsoft.com/office/drawing/2014/main" id="{5094A248-B703-468F-B66D-EC9F6CA3D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457450"/>
            <a:ext cx="238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COMBINED</a:t>
            </a:r>
          </a:p>
        </p:txBody>
      </p:sp>
      <p:sp>
        <p:nvSpPr>
          <p:cNvPr id="16" name="t-845-304-delayed • sa">
            <a:extLst xmlns:a="http://schemas.openxmlformats.org/drawingml/2006/main">
              <a:ext uri="{FF2B5EF4-FFF2-40B4-BE49-F238E27FC236}">
                <a16:creationId xmlns:a16="http://schemas.microsoft.com/office/drawing/2014/main" id="{C2A1B8E4-7CD7-4915-8838-9E23B9978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895600"/>
            <a:ext cx="2381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delayed • same identity</a:t>
            </a:r>
          </a:p>
        </p:txBody>
      </p:sp>
      <p:sp>
        <p:nvSpPr>
          <p:cNvPr id="17" name="t-42-594-They can com">
            <a:extLst xmlns:a="http://schemas.openxmlformats.org/drawingml/2006/main">
              <a:ext uri="{FF2B5EF4-FFF2-40B4-BE49-F238E27FC236}">
                <a16:creationId xmlns:a16="http://schemas.microsoft.com/office/drawing/2014/main" id="{F077A02E-5183-4658-8A49-2B444477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57850"/>
            <a:ext cx="11391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They can compose; neither is a universal temporal-safety proof.</a:t>
            </a:r>
          </a:p>
        </p:txBody>
      </p:sp>
      <p:sp>
        <p:nvSpPr>
          <p:cNvPr id="18" name="t-42-30-H2 • MECHANI">
            <a:extLst xmlns:a="http://schemas.openxmlformats.org/drawingml/2006/main">
              <a:ext uri="{FF2B5EF4-FFF2-40B4-BE49-F238E27FC236}">
                <a16:creationId xmlns:a16="http://schemas.microsoft.com/office/drawing/2014/main" id="{429DA3C8-1DE0-4988-9201-0D081ACE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762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H2 • MECHANISM COMPARISON</a:t>
            </a:r>
          </a:p>
        </p:txBody>
      </p:sp>
      <p:sp>
        <p:nvSpPr>
          <p:cNvPr id="19" name="t-42-58-Type isolati">
            <a:extLst xmlns:a="http://schemas.openxmlformats.org/drawingml/2006/main">
              <a:ext uri="{FF2B5EF4-FFF2-40B4-BE49-F238E27FC236}">
                <a16:creationId xmlns:a16="http://schemas.microsoft.com/office/drawing/2014/main" id="{0A912454-039A-4E85-874A-E9C63C4E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Type isolation and quarantine defend different exploitation steps.</a:t>
            </a:r>
          </a:p>
        </p:txBody>
      </p:sp>
      <p:cxnSp>
        <p:nvCxnSpPr>
          <p:cNvPr id="42" name="footer-rule-42-674"/>
          <p:cNvCxnSpPr/>
          <p:nvPr/>
        </p:nvCxnSpPr>
        <p:spPr>
          <a:xfrm xmlns:a="http://schemas.openxmlformats.org/drawingml/2006/main">
            <a:off x="400050" y="641985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1" name="t-42-681-H2 • MECHANI">
            <a:extLst xmlns:a="http://schemas.openxmlformats.org/drawingml/2006/main">
              <a:ext uri="{FF2B5EF4-FFF2-40B4-BE49-F238E27FC236}">
                <a16:creationId xmlns:a16="http://schemas.microsoft.com/office/drawing/2014/main" id="{7B699D36-581D-4387-A1CE-0A196C46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4095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H2 • MECHANISM COMPARISON</a:t>
            </a:r>
          </a:p>
        </p:txBody>
      </p:sp>
      <p:sp>
        <p:nvSpPr>
          <p:cNvPr id="22" name="t-1190-681-18">
            <a:extLst xmlns:a="http://schemas.openxmlformats.org/drawingml/2006/main">
              <a:ext uri="{FF2B5EF4-FFF2-40B4-BE49-F238E27FC236}">
                <a16:creationId xmlns:a16="http://schemas.microsoft.com/office/drawing/2014/main" id="{9BA3DBCD-FB68-48E2-9279-0E345CC49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44336949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-42-194-lookup key =">
            <a:extLst xmlns:a="http://schemas.openxmlformats.org/drawingml/2006/main">
              <a:ext uri="{FF2B5EF4-FFF2-40B4-BE49-F238E27FC236}">
                <a16:creationId xmlns:a16="http://schemas.microsoft.com/office/drawing/2014/main" id="{16BC422A-C999-43A3-B57D-3F53260D6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47850"/>
            <a:ext cx="113919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827"/>
                </a:solidFill>
                <a:latin typeface="Menlo"/>
                <a:ea typeface="Menlo"/>
                <a:cs typeface="Menlo"/>
              </a:defRPr>
            </a:pPr>
            <a:r>
              <a:t>lookup key = H(type_id, module_id, policy, lifetime, placement)</a:t>
            </a:r>
          </a:p>
        </p:txBody>
      </p:sp>
      <p:sp>
        <p:nvSpPr>
          <p:cNvPr id="2" name="key-piece-42-300">
            <a:extLst xmlns:a="http://schemas.openxmlformats.org/drawingml/2006/main">
              <a:ext uri="{FF2B5EF4-FFF2-40B4-BE49-F238E27FC236}">
                <a16:creationId xmlns:a16="http://schemas.microsoft.com/office/drawing/2014/main" id="{6C3E8ADD-63BC-445C-9963-235A729F4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20478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" name="t-58-322-type_id">
            <a:extLst xmlns:a="http://schemas.openxmlformats.org/drawingml/2006/main">
              <a:ext uri="{FF2B5EF4-FFF2-40B4-BE49-F238E27FC236}">
                <a16:creationId xmlns:a16="http://schemas.microsoft.com/office/drawing/2014/main" id="{C119F948-A1A5-4411-B22C-8FD427C0C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67050"/>
            <a:ext cx="17430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  <a:latin typeface="Menlo"/>
                <a:ea typeface="Menlo"/>
                <a:cs typeface="Menlo"/>
              </a:defRPr>
            </a:pPr>
            <a:r>
              <a:t>type_id</a:t>
            </a:r>
          </a:p>
        </p:txBody>
      </p:sp>
      <p:sp>
        <p:nvSpPr>
          <p:cNvPr id="4" name="t-58-372-compiler-der">
            <a:extLst xmlns:a="http://schemas.openxmlformats.org/drawingml/2006/main">
              <a:ext uri="{FF2B5EF4-FFF2-40B4-BE49-F238E27FC236}">
                <a16:creationId xmlns:a16="http://schemas.microsoft.com/office/drawing/2014/main" id="{BD2CF46E-73C6-4FCA-B172-77884189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17430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compiler-derived object owner</a:t>
            </a:r>
          </a:p>
        </p:txBody>
      </p:sp>
      <p:sp>
        <p:nvSpPr>
          <p:cNvPr id="5" name="key-piece-281.2-300">
            <a:extLst xmlns:a="http://schemas.openxmlformats.org/drawingml/2006/main">
              <a:ext uri="{FF2B5EF4-FFF2-40B4-BE49-F238E27FC236}">
                <a16:creationId xmlns:a16="http://schemas.microsoft.com/office/drawing/2014/main" id="{DCABA0FD-3E4C-4289-A314-F4C28E0C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8430" y="2857500"/>
            <a:ext cx="20478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6" name="t-297.2-322-module_id">
            <a:extLst xmlns:a="http://schemas.openxmlformats.org/drawingml/2006/main">
              <a:ext uri="{FF2B5EF4-FFF2-40B4-BE49-F238E27FC236}">
                <a16:creationId xmlns:a16="http://schemas.microsoft.com/office/drawing/2014/main" id="{E8D1434E-AE5A-41DA-B224-27500B7B4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0830" y="3067050"/>
            <a:ext cx="17430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803D"/>
                </a:solidFill>
                <a:latin typeface="Menlo"/>
                <a:ea typeface="Menlo"/>
                <a:cs typeface="Menlo"/>
              </a:defRPr>
            </a:pPr>
            <a:r>
              <a:t>module_id</a:t>
            </a:r>
          </a:p>
        </p:txBody>
      </p:sp>
      <p:sp>
        <p:nvSpPr>
          <p:cNvPr id="7" name="t-297.2-372-crate/module">
            <a:extLst xmlns:a="http://schemas.openxmlformats.org/drawingml/2006/main">
              <a:ext uri="{FF2B5EF4-FFF2-40B4-BE49-F238E27FC236}">
                <a16:creationId xmlns:a16="http://schemas.microsoft.com/office/drawing/2014/main" id="{48711C61-432F-405C-B20A-B3BBB63B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0830" y="3543300"/>
            <a:ext cx="17430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crate/module isolation</a:t>
            </a:r>
          </a:p>
        </p:txBody>
      </p:sp>
      <p:sp>
        <p:nvSpPr>
          <p:cNvPr id="8" name="key-piece-520.4-300">
            <a:extLst xmlns:a="http://schemas.openxmlformats.org/drawingml/2006/main">
              <a:ext uri="{FF2B5EF4-FFF2-40B4-BE49-F238E27FC236}">
                <a16:creationId xmlns:a16="http://schemas.microsoft.com/office/drawing/2014/main" id="{0A50A910-7259-4C1F-8A8C-386DB7AD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810" y="2857500"/>
            <a:ext cx="20478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9" name="t-536.4-322-policy">
            <a:extLst xmlns:a="http://schemas.openxmlformats.org/drawingml/2006/main">
              <a:ext uri="{FF2B5EF4-FFF2-40B4-BE49-F238E27FC236}">
                <a16:creationId xmlns:a16="http://schemas.microsoft.com/office/drawing/2014/main" id="{17A3EF2C-7E27-4F11-A75E-915D70B5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9210" y="3067050"/>
            <a:ext cx="17430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45309"/>
                </a:solidFill>
                <a:latin typeface="Menlo"/>
                <a:ea typeface="Menlo"/>
                <a:cs typeface="Menlo"/>
              </a:defRPr>
            </a:pPr>
            <a:r>
              <a:t>policy</a:t>
            </a:r>
          </a:p>
        </p:txBody>
      </p:sp>
      <p:sp>
        <p:nvSpPr>
          <p:cNvPr id="10" name="t-536.4-372-semantic rou">
            <a:extLst xmlns:a="http://schemas.openxmlformats.org/drawingml/2006/main">
              <a:ext uri="{FF2B5EF4-FFF2-40B4-BE49-F238E27FC236}">
                <a16:creationId xmlns:a16="http://schemas.microsoft.com/office/drawing/2014/main" id="{7E6DC85E-AB77-411A-8EDF-118BC942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9210" y="3543300"/>
            <a:ext cx="17430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semantic routing class</a:t>
            </a:r>
          </a:p>
        </p:txBody>
      </p:sp>
      <p:sp>
        <p:nvSpPr>
          <p:cNvPr id="11" name="key-piece-759.5999999999999-300">
            <a:extLst xmlns:a="http://schemas.openxmlformats.org/drawingml/2006/main">
              <a:ext uri="{FF2B5EF4-FFF2-40B4-BE49-F238E27FC236}">
                <a16:creationId xmlns:a16="http://schemas.microsoft.com/office/drawing/2014/main" id="{754738F0-9C0F-4234-A0BA-4310CBB6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5190" y="2857500"/>
            <a:ext cx="20478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7E22CE"/>
            </a:solidFill>
            <a:prstDash val="solid"/>
          </a:ln>
        </p:spPr>
      </p:sp>
      <p:sp>
        <p:nvSpPr>
          <p:cNvPr id="12" name="t-775.5999999999999-322-lifetime">
            <a:extLst xmlns:a="http://schemas.openxmlformats.org/drawingml/2006/main">
              <a:ext uri="{FF2B5EF4-FFF2-40B4-BE49-F238E27FC236}">
                <a16:creationId xmlns:a16="http://schemas.microsoft.com/office/drawing/2014/main" id="{87F618C3-B9B3-4BA0-91E9-7B9386BB2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7590" y="3067050"/>
            <a:ext cx="17430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E22CE"/>
                </a:solidFill>
                <a:latin typeface="Menlo"/>
                <a:ea typeface="Menlo"/>
                <a:cs typeface="Menlo"/>
              </a:defRPr>
            </a:pPr>
            <a:r>
              <a:t>lifetime</a:t>
            </a:r>
          </a:p>
        </p:txBody>
      </p:sp>
      <p:sp>
        <p:nvSpPr>
          <p:cNvPr id="13" name="t-775.5999999999999-372-cache separa">
            <a:extLst xmlns:a="http://schemas.openxmlformats.org/drawingml/2006/main">
              <a:ext uri="{FF2B5EF4-FFF2-40B4-BE49-F238E27FC236}">
                <a16:creationId xmlns:a16="http://schemas.microsoft.com/office/drawing/2014/main" id="{62061C21-B452-4F2F-9B6A-D1FE741E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7590" y="3543300"/>
            <a:ext cx="17430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cache separation hint</a:t>
            </a:r>
          </a:p>
        </p:txBody>
      </p:sp>
      <p:sp>
        <p:nvSpPr>
          <p:cNvPr id="14" name="key-piece-998.8-300">
            <a:extLst xmlns:a="http://schemas.openxmlformats.org/drawingml/2006/main">
              <a:ext uri="{FF2B5EF4-FFF2-40B4-BE49-F238E27FC236}">
                <a16:creationId xmlns:a16="http://schemas.microsoft.com/office/drawing/2014/main" id="{22D662F9-0CC8-46E4-BA6D-0E90755D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3570" y="2857500"/>
            <a:ext cx="20478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15" name="t-1014.8-322-placement">
            <a:extLst xmlns:a="http://schemas.openxmlformats.org/drawingml/2006/main">
              <a:ext uri="{FF2B5EF4-FFF2-40B4-BE49-F238E27FC236}">
                <a16:creationId xmlns:a16="http://schemas.microsoft.com/office/drawing/2014/main" id="{C17AF9BB-B443-4C28-9DF7-B3C6F01D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5970" y="3067050"/>
            <a:ext cx="17430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42318"/>
                </a:solidFill>
                <a:latin typeface="Menlo"/>
                <a:ea typeface="Menlo"/>
                <a:cs typeface="Menlo"/>
              </a:defRPr>
            </a:pPr>
            <a:r>
              <a:t>placement</a:t>
            </a:r>
          </a:p>
        </p:txBody>
      </p:sp>
      <p:sp>
        <p:nvSpPr>
          <p:cNvPr id="16" name="t-1014.8-372-placement se">
            <a:extLst xmlns:a="http://schemas.openxmlformats.org/drawingml/2006/main">
              <a:ext uri="{FF2B5EF4-FFF2-40B4-BE49-F238E27FC236}">
                <a16:creationId xmlns:a16="http://schemas.microsoft.com/office/drawing/2014/main" id="{7BFFB8BF-85B1-4161-A8E8-CD984FB1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5970" y="3543300"/>
            <a:ext cx="17430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placement separation hint</a:t>
            </a:r>
          </a:p>
        </p:txBody>
      </p:sp>
      <p:sp>
        <p:nvSpPr>
          <p:cNvPr id="17" name="exact-check-42-500">
            <a:extLst xmlns:a="http://schemas.openxmlformats.org/drawingml/2006/main">
              <a:ext uri="{FF2B5EF4-FFF2-40B4-BE49-F238E27FC236}">
                <a16:creationId xmlns:a16="http://schemas.microsoft.com/office/drawing/2014/main" id="{1EE9DC38-D233-49D8-8E57-AFCBD62C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1391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8" name="t-66-524-The hash sel">
            <a:extLst xmlns:a="http://schemas.openxmlformats.org/drawingml/2006/main">
              <a:ext uri="{FF2B5EF4-FFF2-40B4-BE49-F238E27FC236}">
                <a16:creationId xmlns:a16="http://schemas.microsoft.com/office/drawing/2014/main" id="{4D4EE8E8-9BB9-4CD6-8F74-CD044829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91100"/>
            <a:ext cx="10934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The hash selects a bounded probe window; reuse still requires exact allocator-visible identity equality. Callsite is deliberately excluded from the reuse key.</a:t>
            </a:r>
          </a:p>
        </p:txBody>
      </p:sp>
      <p:sp>
        <p:nvSpPr>
          <p:cNvPr id="19" name="t-42-30-H2 • IDENTIT">
            <a:extLst xmlns:a="http://schemas.openxmlformats.org/drawingml/2006/main">
              <a:ext uri="{FF2B5EF4-FFF2-40B4-BE49-F238E27FC236}">
                <a16:creationId xmlns:a16="http://schemas.microsoft.com/office/drawing/2014/main" id="{2D826662-99D9-4FB4-9BCD-E7FEBE6E2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762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H2 • IDENTITY</a:t>
            </a:r>
          </a:p>
        </p:txBody>
      </p:sp>
      <p:sp>
        <p:nvSpPr>
          <p:cNvPr id="20" name="t-42-58-The runtime">
            <a:extLst xmlns:a="http://schemas.openxmlformats.org/drawingml/2006/main">
              <a:ext uri="{FF2B5EF4-FFF2-40B4-BE49-F238E27FC236}">
                <a16:creationId xmlns:a16="http://schemas.microsoft.com/office/drawing/2014/main" id="{14C536D1-C10B-44F7-BF66-F1CDC2D5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runtime uses a hashed semantic identity whose trust and stability are part of the contract.</a:t>
            </a:r>
          </a:p>
        </p:txBody>
      </p:sp>
      <p:cxnSp>
        <p:nvCxnSpPr>
          <p:cNvPr id="44" name="footer-rule-42-674"/>
          <p:cNvCxnSpPr/>
          <p:nvPr/>
        </p:nvCxnSpPr>
        <p:spPr>
          <a:xfrm xmlns:a="http://schemas.openxmlformats.org/drawingml/2006/main">
            <a:off x="400050" y="641985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2" name="t-42-681-H2 • IDENTIT">
            <a:extLst xmlns:a="http://schemas.openxmlformats.org/drawingml/2006/main">
              <a:ext uri="{FF2B5EF4-FFF2-40B4-BE49-F238E27FC236}">
                <a16:creationId xmlns:a16="http://schemas.microsoft.com/office/drawing/2014/main" id="{78913534-DAA2-48E8-A962-1BFB3D31B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4095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H2 • IDENTITY</a:t>
            </a:r>
          </a:p>
        </p:txBody>
      </p:sp>
      <p:sp>
        <p:nvSpPr>
          <p:cNvPr id="23" name="t-1190-681-19">
            <a:extLst xmlns:a="http://schemas.openxmlformats.org/drawingml/2006/main">
              <a:ext uri="{FF2B5EF4-FFF2-40B4-BE49-F238E27FC236}">
                <a16:creationId xmlns:a16="http://schemas.microsoft.com/office/drawing/2014/main" id="{40D72773-B181-41C7-83C9-DC7F342BB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88406511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abel-block-42-206">
            <a:extLst xmlns:a="http://schemas.openxmlformats.org/drawingml/2006/main">
              <a:ext uri="{FF2B5EF4-FFF2-40B4-BE49-F238E27FC236}">
                <a16:creationId xmlns:a16="http://schemas.microsoft.com/office/drawing/2014/main" id="{140F9BD9-305B-43B1-A547-3287190F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34290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EF"/>
          </a:solidFill>
          <a:ln xmlns:a="http://schemas.openxmlformats.org/drawingml/2006/main" w="0">
            <a:solidFill>
              <a:srgbClr val="E9F7EF"/>
            </a:solidFill>
            <a:prstDash val="solid"/>
          </a:ln>
        </p:spPr>
      </p:sp>
      <p:sp>
        <p:nvSpPr>
          <p:cNvPr id="2" name="accent-42-206">
            <a:extLst xmlns:a="http://schemas.openxmlformats.org/drawingml/2006/main">
              <a:ext uri="{FF2B5EF4-FFF2-40B4-BE49-F238E27FC236}">
                <a16:creationId xmlns:a16="http://schemas.microsoft.com/office/drawing/2014/main" id="{5AE82169-E0EE-412E-AAB4-F479F58D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762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3" name="t-66-224-BENEFIT">
            <a:extLst xmlns:a="http://schemas.openxmlformats.org/drawingml/2006/main">
              <a:ext uri="{FF2B5EF4-FFF2-40B4-BE49-F238E27FC236}">
                <a16:creationId xmlns:a16="http://schemas.microsoft.com/office/drawing/2014/main" id="{22C62E9E-8315-4DAE-87B2-68D404E5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3028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803D"/>
                </a:solidFill>
                <a:latin typeface="Helvetica Neue"/>
                <a:ea typeface="Helvetica Neue"/>
                <a:cs typeface="Helvetica Neue"/>
              </a:defRPr>
            </a:pPr>
            <a:r>
              <a:t>BENEFIT</a:t>
            </a:r>
          </a:p>
        </p:txBody>
      </p:sp>
      <p:sp>
        <p:nvSpPr>
          <p:cNvPr id="4" name="t-66-261-Same-identit">
            <a:extLst xmlns:a="http://schemas.openxmlformats.org/drawingml/2006/main">
              <a:ext uri="{FF2B5EF4-FFF2-40B4-BE49-F238E27FC236}">
                <a16:creationId xmlns:a16="http://schemas.microsoft.com/office/drawing/2014/main" id="{5F59F5E0-DE8B-4467-ACAC-514EEA8D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86025"/>
            <a:ext cx="3028950" cy="2400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Same-identity reuse stays hot while ordinary cross-class reuse is separated.</a:t>
            </a:r>
          </a:p>
        </p:txBody>
      </p:sp>
      <p:sp>
        <p:nvSpPr>
          <p:cNvPr id="5" name="label-block-460-206">
            <a:extLst xmlns:a="http://schemas.openxmlformats.org/drawingml/2006/main">
              <a:ext uri="{FF2B5EF4-FFF2-40B4-BE49-F238E27FC236}">
                <a16:creationId xmlns:a16="http://schemas.microsoft.com/office/drawing/2014/main" id="{F1D1C4B0-24A3-4D93-B1E1-1E6D35ECA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62150"/>
            <a:ext cx="34290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0">
            <a:solidFill>
              <a:srgbClr val="FDECEC"/>
            </a:solidFill>
            <a:prstDash val="solid"/>
          </a:ln>
        </p:spPr>
      </p:sp>
      <p:sp>
        <p:nvSpPr>
          <p:cNvPr id="6" name="accent-460-206">
            <a:extLst xmlns:a="http://schemas.openxmlformats.org/drawingml/2006/main">
              <a:ext uri="{FF2B5EF4-FFF2-40B4-BE49-F238E27FC236}">
                <a16:creationId xmlns:a16="http://schemas.microsoft.com/office/drawing/2014/main" id="{3EA3C8B8-B095-464B-8D68-F49440F9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62150"/>
            <a:ext cx="762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7" name="t-484-224-COST">
            <a:extLst xmlns:a="http://schemas.openxmlformats.org/drawingml/2006/main">
              <a:ext uri="{FF2B5EF4-FFF2-40B4-BE49-F238E27FC236}">
                <a16:creationId xmlns:a16="http://schemas.microsoft.com/office/drawing/2014/main" id="{C199047A-3B0C-4C42-949B-8B1714DC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33600"/>
            <a:ext cx="3028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COST</a:t>
            </a:r>
          </a:p>
        </p:txBody>
      </p:sp>
      <p:sp>
        <p:nvSpPr>
          <p:cNvPr id="8" name="t-484-261-More identit">
            <a:extLst xmlns:a="http://schemas.openxmlformats.org/drawingml/2006/main">
              <a:ext uri="{FF2B5EF4-FFF2-40B4-BE49-F238E27FC236}">
                <a16:creationId xmlns:a16="http://schemas.microsoft.com/office/drawing/2014/main" id="{E8DAD4AA-F278-4B1B-8558-8784AF1B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86025"/>
            <a:ext cx="3028950" cy="2400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More identity classes can retain slots, raise fragmentation, and increase workload-sensitive RSS.</a:t>
            </a:r>
          </a:p>
        </p:txBody>
      </p:sp>
      <p:sp>
        <p:nvSpPr>
          <p:cNvPr id="9" name="label-block-878-206">
            <a:extLst xmlns:a="http://schemas.openxmlformats.org/drawingml/2006/main">
              <a:ext uri="{FF2B5EF4-FFF2-40B4-BE49-F238E27FC236}">
                <a16:creationId xmlns:a16="http://schemas.microsoft.com/office/drawing/2014/main" id="{C3785470-8875-4F25-9244-856F2FE2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62150"/>
            <a:ext cx="34290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F"/>
          </a:solidFill>
          <a:ln xmlns:a="http://schemas.openxmlformats.org/drawingml/2006/main" w="0">
            <a:solidFill>
              <a:srgbClr val="E8F3FF"/>
            </a:solidFill>
            <a:prstDash val="solid"/>
          </a:ln>
        </p:spPr>
      </p:sp>
      <p:sp>
        <p:nvSpPr>
          <p:cNvPr id="10" name="accent-878-206">
            <a:extLst xmlns:a="http://schemas.openxmlformats.org/drawingml/2006/main">
              <a:ext uri="{FF2B5EF4-FFF2-40B4-BE49-F238E27FC236}">
                <a16:creationId xmlns:a16="http://schemas.microsoft.com/office/drawing/2014/main" id="{D16B7E0F-3A4A-40EE-A8C6-7D0A31C2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62150"/>
            <a:ext cx="762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t-902-224-CONTROLS">
            <a:extLst xmlns:a="http://schemas.openxmlformats.org/drawingml/2006/main">
              <a:ext uri="{FF2B5EF4-FFF2-40B4-BE49-F238E27FC236}">
                <a16:creationId xmlns:a16="http://schemas.microsoft.com/office/drawing/2014/main" id="{2EFA8976-4645-4D0F-9338-C2371756D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33600"/>
            <a:ext cx="3028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CONTROLS</a:t>
            </a:r>
          </a:p>
        </p:txBody>
      </p:sp>
      <p:sp>
        <p:nvSpPr>
          <p:cNvPr id="12" name="t-902-261-512 KiB reta">
            <a:extLst xmlns:a="http://schemas.openxmlformats.org/drawingml/2006/main">
              <a:ext uri="{FF2B5EF4-FFF2-40B4-BE49-F238E27FC236}">
                <a16:creationId xmlns:a16="http://schemas.microsoft.com/office/drawing/2014/main" id="{C63E1E33-B133-4AAC-9769-FBA26BE1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86025"/>
            <a:ext cx="3028950" cy="2400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512 KiB retained-byte cap, O(1) healthy accounting, bounded rebuild, drain and empty-slab controls.</a:t>
            </a:r>
          </a:p>
        </p:txBody>
      </p:sp>
      <p:sp>
        <p:nvSpPr>
          <p:cNvPr id="13" name="diag-note-42-560">
            <a:extLst xmlns:a="http://schemas.openxmlformats.org/drawingml/2006/main">
              <a:ext uri="{FF2B5EF4-FFF2-40B4-BE49-F238E27FC236}">
                <a16:creationId xmlns:a16="http://schemas.microsoft.com/office/drawing/2014/main" id="{8E9854DE-DB78-4FB1-A7E0-F162502B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0"/>
            <a:ext cx="11391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5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14" name="t-66-575-One same-con">
            <a:extLst xmlns:a="http://schemas.openxmlformats.org/drawingml/2006/main">
              <a:ext uri="{FF2B5EF4-FFF2-40B4-BE49-F238E27FC236}">
                <a16:creationId xmlns:a16="http://schemas.microsoft.com/office/drawing/2014/main" id="{64075576-BFC4-45A0-A7A4-F9379AE4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76875"/>
            <a:ext cx="10934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defRPr>
            </a:pPr>
            <a:r>
              <a:t>One same-condition micro diagnostic moved in the intended direction; no stable percentage or general-app claim is made.</a:t>
            </a:r>
          </a:p>
        </p:txBody>
      </p:sp>
      <p:sp>
        <p:nvSpPr>
          <p:cNvPr id="15" name="t-42-30-H2 • COST">
            <a:extLst xmlns:a="http://schemas.openxmlformats.org/drawingml/2006/main">
              <a:ext uri="{FF2B5EF4-FFF2-40B4-BE49-F238E27FC236}">
                <a16:creationId xmlns:a16="http://schemas.microsoft.com/office/drawing/2014/main" id="{36CD8E5A-9AAA-4D63-8F9D-BFC64FEC6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762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H2 • COST</a:t>
            </a:r>
          </a:p>
        </p:txBody>
      </p:sp>
      <p:sp>
        <p:nvSpPr>
          <p:cNvPr id="16" name="t-42-58-Per-type cac">
            <a:extLst xmlns:a="http://schemas.openxmlformats.org/drawingml/2006/main">
              <a:ext uri="{FF2B5EF4-FFF2-40B4-BE49-F238E27FC236}">
                <a16:creationId xmlns:a16="http://schemas.microsoft.com/office/drawing/2014/main" id="{1951EB83-7024-4801-B98B-80C062EA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Per-type caching trades reuse separation for retention and fragmentation.</a:t>
            </a:r>
          </a:p>
        </p:txBody>
      </p:sp>
      <p:sp>
        <p:nvSpPr>
          <p:cNvPr id="17" name="badge-930-28">
            <a:extLst xmlns:a="http://schemas.openxmlformats.org/drawingml/2006/main">
              <a:ext uri="{FF2B5EF4-FFF2-40B4-BE49-F238E27FC236}">
                <a16:creationId xmlns:a16="http://schemas.microsoft.com/office/drawing/2014/main" id="{6B5568B1-393A-4738-B2CA-986A8095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6700"/>
            <a:ext cx="2095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6E5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18" name="t-942-33-DIAGNOSTIC O">
            <a:extLst xmlns:a="http://schemas.openxmlformats.org/drawingml/2006/main">
              <a:ext uri="{FF2B5EF4-FFF2-40B4-BE49-F238E27FC236}">
                <a16:creationId xmlns:a16="http://schemas.microsoft.com/office/drawing/2014/main" id="{FD0A1A92-3C17-4803-9A32-60F3724C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14325"/>
            <a:ext cx="1866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defRPr>
            </a:pPr>
            <a:r>
              <a:t>DIAGNOSTIC ONLY</a:t>
            </a:r>
          </a:p>
        </p:txBody>
      </p:sp>
      <p:cxnSp>
        <p:nvCxnSpPr>
          <p:cNvPr id="40" name="footer-rule-42-674"/>
          <p:cNvCxnSpPr/>
          <p:nvPr/>
        </p:nvCxnSpPr>
        <p:spPr>
          <a:xfrm xmlns:a="http://schemas.openxmlformats.org/drawingml/2006/main">
            <a:off x="400050" y="641985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0" name="t-42-681-H2 • COST">
            <a:extLst xmlns:a="http://schemas.openxmlformats.org/drawingml/2006/main">
              <a:ext uri="{FF2B5EF4-FFF2-40B4-BE49-F238E27FC236}">
                <a16:creationId xmlns:a16="http://schemas.microsoft.com/office/drawing/2014/main" id="{3AB0F40E-0F16-4644-BB6E-CCE922F8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4095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H2 • COST</a:t>
            </a:r>
          </a:p>
        </p:txBody>
      </p:sp>
      <p:sp>
        <p:nvSpPr>
          <p:cNvPr id="21" name="t-1190-681-20">
            <a:extLst xmlns:a="http://schemas.openxmlformats.org/drawingml/2006/main">
              <a:ext uri="{FF2B5EF4-FFF2-40B4-BE49-F238E27FC236}">
                <a16:creationId xmlns:a16="http://schemas.microsoft.com/office/drawing/2014/main" id="{2B841BE9-2945-41CB-9F7E-4CBD4E5D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85442792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2-support-42-192">
            <a:extLst xmlns:a="http://schemas.openxmlformats.org/drawingml/2006/main">
              <a:ext uri="{FF2B5EF4-FFF2-40B4-BE49-F238E27FC236}">
                <a16:creationId xmlns:a16="http://schemas.microsoft.com/office/drawing/2014/main" id="{90E19C37-3C0C-4903-A427-EB55F3CA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28800"/>
            <a:ext cx="546735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EF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2" name="t-66-216-SUPPORTS">
            <a:extLst xmlns:a="http://schemas.openxmlformats.org/drawingml/2006/main">
              <a:ext uri="{FF2B5EF4-FFF2-40B4-BE49-F238E27FC236}">
                <a16:creationId xmlns:a16="http://schemas.microsoft.com/office/drawing/2014/main" id="{2446E039-D39D-4053-B4C9-3E379951C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57400"/>
            <a:ext cx="5010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803D"/>
                </a:solidFill>
                <a:latin typeface="Helvetica Neue"/>
                <a:ea typeface="Helvetica Neue"/>
                <a:cs typeface="Helvetica Neue"/>
              </a:defRPr>
            </a:pPr>
            <a:r>
              <a:t>SUPPORTS</a:t>
            </a:r>
          </a:p>
        </p:txBody>
      </p:sp>
      <p:sp>
        <p:nvSpPr>
          <p:cNvPr id="3" name="t-66-268-• distinct t">
            <a:extLst xmlns:a="http://schemas.openxmlformats.org/drawingml/2006/main">
              <a:ext uri="{FF2B5EF4-FFF2-40B4-BE49-F238E27FC236}">
                <a16:creationId xmlns:a16="http://schemas.microsoft.com/office/drawing/2014/main" id="{1AFB20F5-311E-4F37-8CAF-5BEF7D84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52700"/>
            <a:ext cx="501015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• distinct trusted identities change ordinary reuse
• wrong-type non-reuse and same-type exact reuse
• inline and linked lookup-key collision checks
• bounded probe-exhaustion fail-closed regression
• ownership-transfer and delayed-free lifecycle tests</a:t>
            </a:r>
          </a:p>
        </p:txBody>
      </p:sp>
      <p:sp>
        <p:nvSpPr>
          <p:cNvPr id="4" name="h2-limit-664-192">
            <a:extLst xmlns:a="http://schemas.openxmlformats.org/drawingml/2006/main">
              <a:ext uri="{FF2B5EF4-FFF2-40B4-BE49-F238E27FC236}">
                <a16:creationId xmlns:a16="http://schemas.microsoft.com/office/drawing/2014/main" id="{F0341C40-74FC-46C1-A620-88C17AA5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28800"/>
            <a:ext cx="546735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5" name="t-688-216-DOES NOT EST">
            <a:extLst xmlns:a="http://schemas.openxmlformats.org/drawingml/2006/main">
              <a:ext uri="{FF2B5EF4-FFF2-40B4-BE49-F238E27FC236}">
                <a16:creationId xmlns:a16="http://schemas.microsoft.com/office/drawing/2014/main" id="{F4F8F848-989E-442D-808D-9A7E621B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57400"/>
            <a:ext cx="5010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DOES NOT ESTABLISH</a:t>
            </a:r>
          </a:p>
        </p:txBody>
      </p:sp>
      <p:sp>
        <p:nvSpPr>
          <p:cNvPr id="6" name="t-688-268-• prevention">
            <a:extLst xmlns:a="http://schemas.openxmlformats.org/drawingml/2006/main">
              <a:ext uri="{FF2B5EF4-FFF2-40B4-BE49-F238E27FC236}">
                <a16:creationId xmlns:a16="http://schemas.microsoft.com/office/drawing/2014/main" id="{71ECBD93-17D5-4F70-A6A2-52BAFE3E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52700"/>
            <a:ext cx="501015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• prevention of all UAF or type confusion
• same-type protection
• spoofed or identical metadata resistance
• compiler type-ID collision resistance
• universal performance or memory optimality</a:t>
            </a:r>
          </a:p>
        </p:txBody>
      </p:sp>
      <p:sp>
        <p:nvSpPr>
          <p:cNvPr id="7" name="t-42-584-Security evi">
            <a:extLst xmlns:a="http://schemas.openxmlformats.org/drawingml/2006/main">
              <a:ext uri="{FF2B5EF4-FFF2-40B4-BE49-F238E27FC236}">
                <a16:creationId xmlns:a16="http://schemas.microsoft.com/office/drawing/2014/main" id="{363994C7-6FBF-427C-B373-325C15C8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62600"/>
            <a:ext cx="11391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Security evidence is path- and threat-model-specific.</a:t>
            </a:r>
          </a:p>
        </p:txBody>
      </p:sp>
      <p:sp>
        <p:nvSpPr>
          <p:cNvPr id="8" name="t-42-30-H2 • JUDGMEN">
            <a:extLst xmlns:a="http://schemas.openxmlformats.org/drawingml/2006/main">
              <a:ext uri="{FF2B5EF4-FFF2-40B4-BE49-F238E27FC236}">
                <a16:creationId xmlns:a16="http://schemas.microsoft.com/office/drawing/2014/main" id="{32390B02-C635-4ECB-84D0-C5357B799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762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H2 • JUDGMENT</a:t>
            </a:r>
          </a:p>
        </p:txBody>
      </p:sp>
      <p:sp>
        <p:nvSpPr>
          <p:cNvPr id="9" name="t-42-58-H2 supports">
            <a:extLst xmlns:a="http://schemas.openxmlformats.org/drawingml/2006/main">
              <a:ext uri="{FF2B5EF4-FFF2-40B4-BE49-F238E27FC236}">
                <a16:creationId xmlns:a16="http://schemas.microsoft.com/office/drawing/2014/main" id="{4A59A972-4348-4CCE-88F5-E4A43332B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H2 supports policy feasibility, not universal security or optimality.</a:t>
            </a:r>
          </a:p>
        </p:txBody>
      </p:sp>
      <p:sp>
        <p:nvSpPr>
          <p:cNvPr id="10" name="badge-930-28">
            <a:extLst xmlns:a="http://schemas.openxmlformats.org/drawingml/2006/main">
              <a:ext uri="{FF2B5EF4-FFF2-40B4-BE49-F238E27FC236}">
                <a16:creationId xmlns:a16="http://schemas.microsoft.com/office/drawing/2014/main" id="{0B9A1941-3663-413E-9359-4F76CBDC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6700"/>
            <a:ext cx="2781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7EF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11" name="t-942-33-CURRENT FUNC">
            <a:extLst xmlns:a="http://schemas.openxmlformats.org/drawingml/2006/main">
              <a:ext uri="{FF2B5EF4-FFF2-40B4-BE49-F238E27FC236}">
                <a16:creationId xmlns:a16="http://schemas.microsoft.com/office/drawing/2014/main" id="{8954F28E-23E6-454D-94F8-3FD8E5B0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14325"/>
            <a:ext cx="2552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803D"/>
                </a:solidFill>
                <a:latin typeface="Helvetica Neue"/>
                <a:ea typeface="Helvetica Neue"/>
                <a:cs typeface="Helvetica Neue"/>
              </a:defRPr>
            </a:pPr>
            <a:r>
              <a:t>CURRENT FUNCTIONAL REGRESSIONS</a:t>
            </a:r>
          </a:p>
        </p:txBody>
      </p:sp>
      <p:cxnSp>
        <p:nvCxnSpPr>
          <p:cNvPr id="26" name="footer-rule-42-674"/>
          <p:cNvCxnSpPr/>
          <p:nvPr/>
        </p:nvCxnSpPr>
        <p:spPr>
          <a:xfrm xmlns:a="http://schemas.openxmlformats.org/drawingml/2006/main">
            <a:off x="400050" y="641985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3" name="t-42-681-H2 • JUDGMEN">
            <a:extLst xmlns:a="http://schemas.openxmlformats.org/drawingml/2006/main">
              <a:ext uri="{FF2B5EF4-FFF2-40B4-BE49-F238E27FC236}">
                <a16:creationId xmlns:a16="http://schemas.microsoft.com/office/drawing/2014/main" id="{91375A62-54B8-49DB-80BF-425E4F9C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4095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H2 • JUDGMENT</a:t>
            </a:r>
          </a:p>
        </p:txBody>
      </p:sp>
      <p:sp>
        <p:nvSpPr>
          <p:cNvPr id="14" name="t-1190-681-21">
            <a:extLst xmlns:a="http://schemas.openxmlformats.org/drawingml/2006/main">
              <a:ext uri="{FF2B5EF4-FFF2-40B4-BE49-F238E27FC236}">
                <a16:creationId xmlns:a16="http://schemas.microsoft.com/office/drawing/2014/main" id="{D04CDECE-3B79-43C4-BD6F-ACD653E4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35546037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etarget1-340-365">
            <a:extLst xmlns:a="http://schemas.openxmlformats.org/drawingml/2006/main">
              <a:ext uri="{FF2B5EF4-FFF2-40B4-BE49-F238E27FC236}">
                <a16:creationId xmlns:a16="http://schemas.microsoft.com/office/drawing/2014/main" id="{2A447293-B1B2-4A1A-9A9D-88AEB906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76625"/>
            <a:ext cx="704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" name="retarget2-635-365">
            <a:extLst xmlns:a="http://schemas.openxmlformats.org/drawingml/2006/main">
              <a:ext uri="{FF2B5EF4-FFF2-40B4-BE49-F238E27FC236}">
                <a16:creationId xmlns:a16="http://schemas.microsoft.com/office/drawing/2014/main" id="{AF63051B-E606-4AA5-B9E8-7AC48DEC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476625"/>
            <a:ext cx="704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retarget3-930-365">
            <a:extLst xmlns:a="http://schemas.openxmlformats.org/drawingml/2006/main">
              <a:ext uri="{FF2B5EF4-FFF2-40B4-BE49-F238E27FC236}">
                <a16:creationId xmlns:a16="http://schemas.microsoft.com/office/drawing/2014/main" id="{2CB33F92-DA3E-43E7-B40F-C9276D871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76625"/>
            <a:ext cx="704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retarget-node-42-238">
            <a:extLst xmlns:a="http://schemas.openxmlformats.org/drawingml/2006/main">
              <a:ext uri="{FF2B5EF4-FFF2-40B4-BE49-F238E27FC236}">
                <a16:creationId xmlns:a16="http://schemas.microsoft.com/office/drawing/2014/main" id="{C6BCB3C7-9331-440B-94A0-BA4D062D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8384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EF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5" name="t-66-260-POLICY">
            <a:extLst xmlns:a="http://schemas.openxmlformats.org/drawingml/2006/main">
              <a:ext uri="{FF2B5EF4-FFF2-40B4-BE49-F238E27FC236}">
                <a16:creationId xmlns:a16="http://schemas.microsoft.com/office/drawing/2014/main" id="{2631C98F-6A85-451F-9BE2-B0FBC066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0"/>
            <a:ext cx="2381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803D"/>
                </a:solidFill>
                <a:latin typeface="Helvetica Neue"/>
                <a:ea typeface="Helvetica Neue"/>
                <a:cs typeface="Helvetica Neue"/>
              </a:defRPr>
            </a:pPr>
            <a:r>
              <a:t>POLICY</a:t>
            </a:r>
          </a:p>
        </p:txBody>
      </p:sp>
      <p:sp>
        <p:nvSpPr>
          <p:cNvPr id="6" name="t-66-318-semantic ide">
            <a:extLst xmlns:a="http://schemas.openxmlformats.org/drawingml/2006/main">
              <a:ext uri="{FF2B5EF4-FFF2-40B4-BE49-F238E27FC236}">
                <a16:creationId xmlns:a16="http://schemas.microsoft.com/office/drawing/2014/main" id="{C0BD8325-30BD-46C1-9E8B-4D8A385D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28950"/>
            <a:ext cx="23812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semantic identity
type isolation
PAC / metadata policy</a:t>
            </a:r>
          </a:p>
        </p:txBody>
      </p:sp>
      <p:sp>
        <p:nvSpPr>
          <p:cNvPr id="7" name="retarget-node-414-238">
            <a:extLst xmlns:a="http://schemas.openxmlformats.org/drawingml/2006/main">
              <a:ext uri="{FF2B5EF4-FFF2-40B4-BE49-F238E27FC236}">
                <a16:creationId xmlns:a16="http://schemas.microsoft.com/office/drawing/2014/main" id="{9346E06E-16BE-456A-AF60-22ECE4FD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266950"/>
            <a:ext cx="21050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" name="t-438-260-CACHE / ZONE">
            <a:extLst xmlns:a="http://schemas.openxmlformats.org/drawingml/2006/main">
              <a:ext uri="{FF2B5EF4-FFF2-40B4-BE49-F238E27FC236}">
                <a16:creationId xmlns:a16="http://schemas.microsoft.com/office/drawing/2014/main" id="{A7DB92C3-9ADD-4F82-BA16-CE37D3F0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476500"/>
            <a:ext cx="164782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CACHE / ZONE</a:t>
            </a:r>
          </a:p>
        </p:txBody>
      </p:sp>
      <p:sp>
        <p:nvSpPr>
          <p:cNvPr id="9" name="t-438-318-fast path&#10;ow">
            <a:extLst xmlns:a="http://schemas.openxmlformats.org/drawingml/2006/main">
              <a:ext uri="{FF2B5EF4-FFF2-40B4-BE49-F238E27FC236}">
                <a16:creationId xmlns:a16="http://schemas.microsoft.com/office/drawing/2014/main" id="{A99C83A9-DD40-4D17-9F85-7F59C3B5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28950"/>
            <a:ext cx="164782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fast path
ownership
size classes</a:t>
            </a:r>
          </a:p>
        </p:txBody>
      </p:sp>
      <p:sp>
        <p:nvSpPr>
          <p:cNvPr id="10" name="retarget-node-709-238">
            <a:extLst xmlns:a="http://schemas.openxmlformats.org/drawingml/2006/main">
              <a:ext uri="{FF2B5EF4-FFF2-40B4-BE49-F238E27FC236}">
                <a16:creationId xmlns:a16="http://schemas.microsoft.com/office/drawing/2014/main" id="{18250B04-6A91-4856-9592-68AB2EE7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266950"/>
            <a:ext cx="21050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t-733-260-BACKEND">
            <a:extLst xmlns:a="http://schemas.openxmlformats.org/drawingml/2006/main">
              <a:ext uri="{FF2B5EF4-FFF2-40B4-BE49-F238E27FC236}">
                <a16:creationId xmlns:a16="http://schemas.microsoft.com/office/drawing/2014/main" id="{3CD97F7D-5015-4DF8-B130-0151D257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476500"/>
            <a:ext cx="164782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BACKEND</a:t>
            </a:r>
          </a:p>
        </p:txBody>
      </p:sp>
      <p:sp>
        <p:nvSpPr>
          <p:cNvPr id="12" name="t-733-318-slab&#10;bitmap">
            <a:extLst xmlns:a="http://schemas.openxmlformats.org/drawingml/2006/main">
              <a:ext uri="{FF2B5EF4-FFF2-40B4-BE49-F238E27FC236}">
                <a16:creationId xmlns:a16="http://schemas.microsoft.com/office/drawing/2014/main" id="{9956821D-D732-4B96-AB90-1BB921FE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028950"/>
            <a:ext cx="164782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slab
bitmap / freelist
metadata layout</a:t>
            </a:r>
          </a:p>
        </p:txBody>
      </p:sp>
      <p:sp>
        <p:nvSpPr>
          <p:cNvPr id="13" name="retarget-node-1004-238">
            <a:extLst xmlns:a="http://schemas.openxmlformats.org/drawingml/2006/main">
              <a:ext uri="{FF2B5EF4-FFF2-40B4-BE49-F238E27FC236}">
                <a16:creationId xmlns:a16="http://schemas.microsoft.com/office/drawing/2014/main" id="{7347C081-D694-4D9C-ABE7-DB4AD21A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266950"/>
            <a:ext cx="22288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5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14" name="t-1028-260-PAL">
            <a:extLst xmlns:a="http://schemas.openxmlformats.org/drawingml/2006/main">
              <a:ext uri="{FF2B5EF4-FFF2-40B4-BE49-F238E27FC236}">
                <a16:creationId xmlns:a16="http://schemas.microsoft.com/office/drawing/2014/main" id="{6C1F359A-0323-4221-8F3C-0A45836E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476500"/>
            <a:ext cx="1771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defRPr>
            </a:pPr>
            <a:r>
              <a:t>PAL</a:t>
            </a:r>
          </a:p>
        </p:txBody>
      </p:sp>
      <p:sp>
        <p:nvSpPr>
          <p:cNvPr id="15" name="t-1028-318-memory acqui">
            <a:extLst xmlns:a="http://schemas.openxmlformats.org/drawingml/2006/main">
              <a:ext uri="{FF2B5EF4-FFF2-40B4-BE49-F238E27FC236}">
                <a16:creationId xmlns:a16="http://schemas.microsoft.com/office/drawing/2014/main" id="{6EEB50CB-52C4-4F3B-A02E-CD22D7C9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028950"/>
            <a:ext cx="17716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memory acquisition
TLS/FLS
synchronization</a:t>
            </a:r>
          </a:p>
        </p:txBody>
      </p:sp>
      <p:sp>
        <p:nvSpPr>
          <p:cNvPr id="16" name="t-102-520-REUSED">
            <a:extLst xmlns:a="http://schemas.openxmlformats.org/drawingml/2006/main">
              <a:ext uri="{FF2B5EF4-FFF2-40B4-BE49-F238E27FC236}">
                <a16:creationId xmlns:a16="http://schemas.microsoft.com/office/drawing/2014/main" id="{189EDE91-61F2-44C4-8D7D-FB127181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53000"/>
            <a:ext cx="1695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803D"/>
                </a:solidFill>
                <a:latin typeface="Helvetica Neue"/>
                <a:ea typeface="Helvetica Neue"/>
                <a:cs typeface="Helvetica Neue"/>
              </a:defRPr>
            </a:pPr>
            <a:r>
              <a:t>REUSED</a:t>
            </a:r>
          </a:p>
        </p:txBody>
      </p:sp>
      <p:sp>
        <p:nvSpPr>
          <p:cNvPr id="17" name="t-435-520-mostly reuse">
            <a:extLst xmlns:a="http://schemas.openxmlformats.org/drawingml/2006/main">
              <a:ext uri="{FF2B5EF4-FFF2-40B4-BE49-F238E27FC236}">
                <a16:creationId xmlns:a16="http://schemas.microsoft.com/office/drawing/2014/main" id="{1B545FA5-3F67-4178-835F-C9A2D236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953000"/>
            <a:ext cx="1695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mostly reused</a:t>
            </a:r>
          </a:p>
        </p:txBody>
      </p:sp>
      <p:sp>
        <p:nvSpPr>
          <p:cNvPr id="18" name="t-731-520-selected">
            <a:extLst xmlns:a="http://schemas.openxmlformats.org/drawingml/2006/main">
              <a:ext uri="{FF2B5EF4-FFF2-40B4-BE49-F238E27FC236}">
                <a16:creationId xmlns:a16="http://schemas.microsoft.com/office/drawing/2014/main" id="{41C76141-1CB8-427F-A67C-E5D80730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953000"/>
            <a:ext cx="1695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selected</a:t>
            </a:r>
          </a:p>
        </p:txBody>
      </p:sp>
      <p:sp>
        <p:nvSpPr>
          <p:cNvPr id="19" name="t-1032-520-ADAPTED">
            <a:extLst xmlns:a="http://schemas.openxmlformats.org/drawingml/2006/main">
              <a:ext uri="{FF2B5EF4-FFF2-40B4-BE49-F238E27FC236}">
                <a16:creationId xmlns:a16="http://schemas.microsoft.com/office/drawing/2014/main" id="{022E7918-3D93-4D3D-B500-B165DB359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953000"/>
            <a:ext cx="1695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defRPr>
            </a:pPr>
            <a:r>
              <a:t>ADAPTED</a:t>
            </a:r>
          </a:p>
        </p:txBody>
      </p:sp>
      <p:sp>
        <p:nvSpPr>
          <p:cNvPr id="20" name="t-42-30-H3 • ARCHITE">
            <a:extLst xmlns:a="http://schemas.openxmlformats.org/drawingml/2006/main">
              <a:ext uri="{FF2B5EF4-FFF2-40B4-BE49-F238E27FC236}">
                <a16:creationId xmlns:a16="http://schemas.microsoft.com/office/drawing/2014/main" id="{8941646F-DD5B-446A-9C89-87B7DF23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762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H3 • ARCHITECTURE</a:t>
            </a:r>
          </a:p>
        </p:txBody>
      </p:sp>
      <p:sp>
        <p:nvSpPr>
          <p:cNvPr id="21" name="t-42-58-Retargetabil">
            <a:extLst xmlns:a="http://schemas.openxmlformats.org/drawingml/2006/main">
              <a:ext uri="{FF2B5EF4-FFF2-40B4-BE49-F238E27FC236}">
                <a16:creationId xmlns:a16="http://schemas.microsoft.com/office/drawing/2014/main" id="{F544AB40-400B-4972-90F6-1CFCC081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Retargetability comes from stable boundaries, not from feature flags alone.</a:t>
            </a:r>
          </a:p>
        </p:txBody>
      </p:sp>
      <p:cxnSp>
        <p:nvCxnSpPr>
          <p:cNvPr id="46" name="footer-rule-42-674"/>
          <p:cNvCxnSpPr/>
          <p:nvPr/>
        </p:nvCxnSpPr>
        <p:spPr>
          <a:xfrm xmlns:a="http://schemas.openxmlformats.org/drawingml/2006/main">
            <a:off x="400050" y="641985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3" name="t-42-681-H3 • ARCHITE">
            <a:extLst xmlns:a="http://schemas.openxmlformats.org/drawingml/2006/main">
              <a:ext uri="{FF2B5EF4-FFF2-40B4-BE49-F238E27FC236}">
                <a16:creationId xmlns:a16="http://schemas.microsoft.com/office/drawing/2014/main" id="{184A1303-7E2A-43DF-8690-28922890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4095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H3 • ARCHITECTURE</a:t>
            </a:r>
          </a:p>
        </p:txBody>
      </p:sp>
      <p:sp>
        <p:nvSpPr>
          <p:cNvPr id="24" name="t-1190-681-22">
            <a:extLst xmlns:a="http://schemas.openxmlformats.org/drawingml/2006/main">
              <a:ext uri="{FF2B5EF4-FFF2-40B4-BE49-F238E27FC236}">
                <a16:creationId xmlns:a16="http://schemas.microsoft.com/office/drawing/2014/main" id="{9B15D961-1ADC-4B98-AC29-00FEB8C3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68374929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osted-42-186">
            <a:extLst xmlns:a="http://schemas.openxmlformats.org/drawingml/2006/main">
              <a:ext uri="{FF2B5EF4-FFF2-40B4-BE49-F238E27FC236}">
                <a16:creationId xmlns:a16="http://schemas.microsoft.com/office/drawing/2014/main" id="{D1483619-7A2F-4DFC-A678-6CEB7432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71650"/>
            <a:ext cx="54673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" name="t-66-210-HOSTED USERS">
            <a:extLst xmlns:a="http://schemas.openxmlformats.org/drawingml/2006/main">
              <a:ext uri="{FF2B5EF4-FFF2-40B4-BE49-F238E27FC236}">
                <a16:creationId xmlns:a16="http://schemas.microsoft.com/office/drawing/2014/main" id="{0C6F6911-9A9B-4644-9AA0-10411B10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5010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HOSTED USERSPACE</a:t>
            </a:r>
          </a:p>
        </p:txBody>
      </p:sp>
      <p:sp>
        <p:nvSpPr>
          <p:cNvPr id="3" name="t-66-276-mmap / Virtu">
            <a:extLst xmlns:a="http://schemas.openxmlformats.org/drawingml/2006/main">
              <a:ext uri="{FF2B5EF4-FFF2-40B4-BE49-F238E27FC236}">
                <a16:creationId xmlns:a16="http://schemas.microsoft.com/office/drawing/2014/main" id="{BA65B039-A2BC-4957-B8AF-FE6A8C87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28900"/>
            <a:ext cx="5010150" cy="1695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mmap / VirtualAlloc
OS TLS or FLS
dynamic heap growth
process teardown and retained-cache drain</a:t>
            </a:r>
          </a:p>
        </p:txBody>
      </p:sp>
      <p:sp>
        <p:nvSpPr>
          <p:cNvPr id="4" name="t-66-490-Linux • macO">
            <a:extLst xmlns:a="http://schemas.openxmlformats.org/drawingml/2006/main">
              <a:ext uri="{FF2B5EF4-FFF2-40B4-BE49-F238E27FC236}">
                <a16:creationId xmlns:a16="http://schemas.microsoft.com/office/drawing/2014/main" id="{B859A638-BDFE-41A0-A727-93619CC0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67250"/>
            <a:ext cx="5010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Linux • macOS • Windows</a:t>
            </a:r>
          </a:p>
        </p:txBody>
      </p:sp>
      <p:sp>
        <p:nvSpPr>
          <p:cNvPr id="5" name="constrained-664-186">
            <a:extLst xmlns:a="http://schemas.openxmlformats.org/drawingml/2006/main">
              <a:ext uri="{FF2B5EF4-FFF2-40B4-BE49-F238E27FC236}">
                <a16:creationId xmlns:a16="http://schemas.microsoft.com/office/drawing/2014/main" id="{8E715F88-1061-4E9C-A9EB-27F23E4B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71650"/>
            <a:ext cx="54673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5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6" name="t-688-210-KERNEL / CON">
            <a:extLst xmlns:a="http://schemas.openxmlformats.org/drawingml/2006/main">
              <a:ext uri="{FF2B5EF4-FFF2-40B4-BE49-F238E27FC236}">
                <a16:creationId xmlns:a16="http://schemas.microsoft.com/office/drawing/2014/main" id="{1FC6E47C-77DA-4C3E-B809-223A95C0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00250"/>
            <a:ext cx="5010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defRPr>
            </a:pPr>
            <a:r>
              <a:t>KERNEL / CONSTRAINED</a:t>
            </a:r>
          </a:p>
        </p:txBody>
      </p:sp>
      <p:sp>
        <p:nvSpPr>
          <p:cNvPr id="7" name="t-688-276-fixed heap p">
            <a:extLst xmlns:a="http://schemas.openxmlformats.org/drawingml/2006/main">
              <a:ext uri="{FF2B5EF4-FFF2-40B4-BE49-F238E27FC236}">
                <a16:creationId xmlns:a16="http://schemas.microsoft.com/office/drawing/2014/main" id="{13870188-B172-412F-A03E-5EDC6936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28900"/>
            <a:ext cx="5010150" cy="1695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fixed heap publication
explicit initialization
no_std final link
panic / boot integration</a:t>
            </a:r>
          </a:p>
        </p:txBody>
      </p:sp>
      <p:sp>
        <p:nvSpPr>
          <p:cNvPr id="8" name="t-688-490-Redox • Rust">
            <a:extLst xmlns:a="http://schemas.openxmlformats.org/drawingml/2006/main">
              <a:ext uri="{FF2B5EF4-FFF2-40B4-BE49-F238E27FC236}">
                <a16:creationId xmlns:a16="http://schemas.microsoft.com/office/drawing/2014/main" id="{83B4DF3B-11E0-4486-AAFF-9416EF7B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67250"/>
            <a:ext cx="5010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defRPr>
            </a:pPr>
            <a:r>
              <a:t>Redox • Rust-for-Linux • BlogOS</a:t>
            </a:r>
          </a:p>
        </p:txBody>
      </p:sp>
      <p:sp>
        <p:nvSpPr>
          <p:cNvPr id="9" name="t-42-590-Retargeting">
            <a:extLst xmlns:a="http://schemas.openxmlformats.org/drawingml/2006/main">
              <a:ext uri="{FF2B5EF4-FFF2-40B4-BE49-F238E27FC236}">
                <a16:creationId xmlns:a16="http://schemas.microsoft.com/office/drawing/2014/main" id="{FA530BA1-53F0-42B7-A6BF-AEADE452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1391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Retargeting still requires a correct adapter; it is not zero-porting.</a:t>
            </a:r>
          </a:p>
        </p:txBody>
      </p:sp>
      <p:sp>
        <p:nvSpPr>
          <p:cNvPr id="10" name="t-42-30-H3 • DEPLOYM">
            <a:extLst xmlns:a="http://schemas.openxmlformats.org/drawingml/2006/main">
              <a:ext uri="{FF2B5EF4-FFF2-40B4-BE49-F238E27FC236}">
                <a16:creationId xmlns:a16="http://schemas.microsoft.com/office/drawing/2014/main" id="{814DB9C0-6897-416F-A204-8E3D2235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762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H3 • DEPLOYMENT</a:t>
            </a:r>
          </a:p>
        </p:txBody>
      </p:sp>
      <p:sp>
        <p:nvSpPr>
          <p:cNvPr id="11" name="t-42-58-Hosted and c">
            <a:extLst xmlns:a="http://schemas.openxmlformats.org/drawingml/2006/main">
              <a:ext uri="{FF2B5EF4-FFF2-40B4-BE49-F238E27FC236}">
                <a16:creationId xmlns:a16="http://schemas.microsoft.com/office/drawing/2014/main" id="{2AB4410D-4C35-47DA-9BD6-719B73C73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Hosted and constrained targets reuse the policy while changing memory acquisition.</a:t>
            </a:r>
          </a:p>
        </p:txBody>
      </p:sp>
      <p:cxnSp>
        <p:nvCxnSpPr>
          <p:cNvPr id="26" name="footer-rule-42-674"/>
          <p:cNvCxnSpPr/>
          <p:nvPr/>
        </p:nvCxnSpPr>
        <p:spPr>
          <a:xfrm xmlns:a="http://schemas.openxmlformats.org/drawingml/2006/main">
            <a:off x="400050" y="641985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3" name="t-42-681-H3 • DEPLOYM">
            <a:extLst xmlns:a="http://schemas.openxmlformats.org/drawingml/2006/main">
              <a:ext uri="{FF2B5EF4-FFF2-40B4-BE49-F238E27FC236}">
                <a16:creationId xmlns:a16="http://schemas.microsoft.com/office/drawing/2014/main" id="{99E95072-F89E-4FB3-B2C0-F2C57275B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4095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H3 • DEPLOYMENT</a:t>
            </a:r>
          </a:p>
        </p:txBody>
      </p:sp>
      <p:sp>
        <p:nvSpPr>
          <p:cNvPr id="14" name="t-1190-681-23">
            <a:extLst xmlns:a="http://schemas.openxmlformats.org/drawingml/2006/main">
              <a:ext uri="{FF2B5EF4-FFF2-40B4-BE49-F238E27FC236}">
                <a16:creationId xmlns:a16="http://schemas.microsoft.com/office/drawing/2014/main" id="{5011E199-A2DD-493F-9CA4-10911E1FA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87561190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head-42-170">
            <a:extLst xmlns:a="http://schemas.openxmlformats.org/drawingml/2006/main">
              <a:ext uri="{FF2B5EF4-FFF2-40B4-BE49-F238E27FC236}">
                <a16:creationId xmlns:a16="http://schemas.microsoft.com/office/drawing/2014/main" id="{6DD0C89B-8F8E-4311-A287-32C79793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139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" name="t-58-186-TARGET">
            <a:extLst xmlns:a="http://schemas.openxmlformats.org/drawingml/2006/main">
              <a:ext uri="{FF2B5EF4-FFF2-40B4-BE49-F238E27FC236}">
                <a16:creationId xmlns:a16="http://schemas.microsoft.com/office/drawing/2014/main" id="{690689F4-4492-4278-AF9C-2CED9D50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71650"/>
            <a:ext cx="16668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TARGET</a:t>
            </a:r>
          </a:p>
        </p:txBody>
      </p:sp>
      <p:sp>
        <p:nvSpPr>
          <p:cNvPr id="3" name="t-250-186-CURRENT FUNC">
            <a:extLst xmlns:a="http://schemas.openxmlformats.org/drawingml/2006/main">
              <a:ext uri="{FF2B5EF4-FFF2-40B4-BE49-F238E27FC236}">
                <a16:creationId xmlns:a16="http://schemas.microsoft.com/office/drawing/2014/main" id="{5DBE6A3D-E06B-4479-B140-D418C909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771650"/>
            <a:ext cx="5143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CURRENT FUNCTIONAL EVIDENCE</a:t>
            </a:r>
          </a:p>
        </p:txBody>
      </p:sp>
      <p:sp>
        <p:nvSpPr>
          <p:cNvPr id="4" name="t-810-186-REMAINING EX">
            <a:extLst xmlns:a="http://schemas.openxmlformats.org/drawingml/2006/main">
              <a:ext uri="{FF2B5EF4-FFF2-40B4-BE49-F238E27FC236}">
                <a16:creationId xmlns:a16="http://schemas.microsoft.com/office/drawing/2014/main" id="{6A17F0C8-4159-45E1-AAC1-A515A2FF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71650"/>
            <a:ext cx="3905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REMAINING EXTERNAL VALIDATION</a:t>
            </a:r>
          </a:p>
        </p:txBody>
      </p:sp>
      <p:sp>
        <p:nvSpPr>
          <p:cNvPr id="5" name="prow-42-220">
            <a:extLst xmlns:a="http://schemas.openxmlformats.org/drawingml/2006/main">
              <a:ext uri="{FF2B5EF4-FFF2-40B4-BE49-F238E27FC236}">
                <a16:creationId xmlns:a16="http://schemas.microsoft.com/office/drawing/2014/main" id="{A7203208-8133-4D73-92B6-EF81052B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1391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EF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6" name="t-58-242-macOS">
            <a:extLst xmlns:a="http://schemas.openxmlformats.org/drawingml/2006/main">
              <a:ext uri="{FF2B5EF4-FFF2-40B4-BE49-F238E27FC236}">
                <a16:creationId xmlns:a16="http://schemas.microsoft.com/office/drawing/2014/main" id="{7BC510B3-1C83-49CA-966F-8FA9EA66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050"/>
            <a:ext cx="166687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macOS</a:t>
            </a:r>
          </a:p>
        </p:txBody>
      </p:sp>
      <p:sp>
        <p:nvSpPr>
          <p:cNvPr id="7" name="t-250-236-hosted funct">
            <a:extLst xmlns:a="http://schemas.openxmlformats.org/drawingml/2006/main">
              <a:ext uri="{FF2B5EF4-FFF2-40B4-BE49-F238E27FC236}">
                <a16:creationId xmlns:a16="http://schemas.microsoft.com/office/drawing/2014/main" id="{977D6D0D-5410-4C34-AAA1-D80BDDF05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47900"/>
            <a:ext cx="5143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hosted functional PASS</a:t>
            </a:r>
          </a:p>
        </p:txBody>
      </p:sp>
      <p:sp>
        <p:nvSpPr>
          <p:cNvPr id="8" name="t-810-236-none for bou">
            <a:extLst xmlns:a="http://schemas.openxmlformats.org/drawingml/2006/main">
              <a:ext uri="{FF2B5EF4-FFF2-40B4-BE49-F238E27FC236}">
                <a16:creationId xmlns:a16="http://schemas.microsoft.com/office/drawing/2014/main" id="{EA52DC7F-431E-4773-ABA6-1CC6C1C5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47900"/>
            <a:ext cx="3905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none for bounded local contract</a:t>
            </a:r>
          </a:p>
        </p:txBody>
      </p:sp>
      <p:sp>
        <p:nvSpPr>
          <p:cNvPr id="9" name="prow-42-294">
            <a:extLst xmlns:a="http://schemas.openxmlformats.org/drawingml/2006/main">
              <a:ext uri="{FF2B5EF4-FFF2-40B4-BE49-F238E27FC236}">
                <a16:creationId xmlns:a16="http://schemas.microsoft.com/office/drawing/2014/main" id="{59E45258-B0D1-4D1A-82F3-D789EB803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0350"/>
            <a:ext cx="11391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EF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10" name="t-58-316-Windows">
            <a:extLst xmlns:a="http://schemas.openxmlformats.org/drawingml/2006/main">
              <a:ext uri="{FF2B5EF4-FFF2-40B4-BE49-F238E27FC236}">
                <a16:creationId xmlns:a16="http://schemas.microsoft.com/office/drawing/2014/main" id="{53FDF692-0EF3-42E7-AC79-E812D32A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09900"/>
            <a:ext cx="166687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Windows</a:t>
            </a:r>
          </a:p>
        </p:txBody>
      </p:sp>
      <p:sp>
        <p:nvSpPr>
          <p:cNvPr id="11" name="t-250-310-Wine 10 FLS">
            <a:extLst xmlns:a="http://schemas.openxmlformats.org/drawingml/2006/main">
              <a:ext uri="{FF2B5EF4-FFF2-40B4-BE49-F238E27FC236}">
                <a16:creationId xmlns:a16="http://schemas.microsoft.com/office/drawing/2014/main" id="{8E64E04C-D32F-4DEE-8C48-90EFE498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952750"/>
            <a:ext cx="5143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Wine 10 FLS lifecycle 3/3 PASS</a:t>
            </a:r>
          </a:p>
        </p:txBody>
      </p:sp>
      <p:sp>
        <p:nvSpPr>
          <p:cNvPr id="12" name="t-810-310-native-Windo">
            <a:extLst xmlns:a="http://schemas.openxmlformats.org/drawingml/2006/main">
              <a:ext uri="{FF2B5EF4-FFF2-40B4-BE49-F238E27FC236}">
                <a16:creationId xmlns:a16="http://schemas.microsoft.com/office/drawing/2014/main" id="{20703FBF-5201-44C3-93D9-E56BA955D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52750"/>
            <a:ext cx="3905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native-Windows universality / performance</a:t>
            </a:r>
          </a:p>
        </p:txBody>
      </p:sp>
      <p:sp>
        <p:nvSpPr>
          <p:cNvPr id="13" name="prow-42-368">
            <a:extLst xmlns:a="http://schemas.openxmlformats.org/drawingml/2006/main">
              <a:ext uri="{FF2B5EF4-FFF2-40B4-BE49-F238E27FC236}">
                <a16:creationId xmlns:a16="http://schemas.microsoft.com/office/drawing/2014/main" id="{77066DA8-B610-4CEA-B842-95BD7FB9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05200"/>
            <a:ext cx="11391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5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14" name="t-58-390-Redox">
            <a:extLst xmlns:a="http://schemas.openxmlformats.org/drawingml/2006/main">
              <a:ext uri="{FF2B5EF4-FFF2-40B4-BE49-F238E27FC236}">
                <a16:creationId xmlns:a16="http://schemas.microsoft.com/office/drawing/2014/main" id="{A6827F10-673A-4991-A067-426ED01A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166687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Redox</a:t>
            </a:r>
          </a:p>
        </p:txBody>
      </p:sp>
      <p:sp>
        <p:nvSpPr>
          <p:cNvPr id="15" name="t-250-384-target build">
            <a:extLst xmlns:a="http://schemas.openxmlformats.org/drawingml/2006/main">
              <a:ext uri="{FF2B5EF4-FFF2-40B4-BE49-F238E27FC236}">
                <a16:creationId xmlns:a16="http://schemas.microsoft.com/office/drawing/2014/main" id="{A829D7A0-82BC-4B08-84B1-D9E2F136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57600"/>
            <a:ext cx="5143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target build + codegen + C ABI PASS</a:t>
            </a:r>
          </a:p>
        </p:txBody>
      </p:sp>
      <p:sp>
        <p:nvSpPr>
          <p:cNvPr id="16" name="t-810-384-final link a">
            <a:extLst xmlns:a="http://schemas.openxmlformats.org/drawingml/2006/main">
              <a:ext uri="{FF2B5EF4-FFF2-40B4-BE49-F238E27FC236}">
                <a16:creationId xmlns:a16="http://schemas.microsoft.com/office/drawing/2014/main" id="{5364EF99-36AE-468A-8598-105A7EA4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57600"/>
            <a:ext cx="3905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final link and QEMU target run</a:t>
            </a:r>
          </a:p>
        </p:txBody>
      </p:sp>
      <p:sp>
        <p:nvSpPr>
          <p:cNvPr id="17" name="prow-42-442">
            <a:extLst xmlns:a="http://schemas.openxmlformats.org/drawingml/2006/main">
              <a:ext uri="{FF2B5EF4-FFF2-40B4-BE49-F238E27FC236}">
                <a16:creationId xmlns:a16="http://schemas.microsoft.com/office/drawing/2014/main" id="{5A7C743C-A9BA-4268-A20D-528B746B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10050"/>
            <a:ext cx="11391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5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18" name="t-58-464-Rust-for-Lin">
            <a:extLst xmlns:a="http://schemas.openxmlformats.org/drawingml/2006/main">
              <a:ext uri="{FF2B5EF4-FFF2-40B4-BE49-F238E27FC236}">
                <a16:creationId xmlns:a16="http://schemas.microsoft.com/office/drawing/2014/main" id="{A30F231C-C212-46D5-8573-F230DA99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19600"/>
            <a:ext cx="166687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Rust-for-Linux</a:t>
            </a:r>
          </a:p>
        </p:txBody>
      </p:sp>
      <p:sp>
        <p:nvSpPr>
          <p:cNvPr id="19" name="t-250-458-no_std final">
            <a:extLst xmlns:a="http://schemas.openxmlformats.org/drawingml/2006/main">
              <a:ext uri="{FF2B5EF4-FFF2-40B4-BE49-F238E27FC236}">
                <a16:creationId xmlns:a16="http://schemas.microsoft.com/office/drawing/2014/main" id="{970A7F4D-59B1-468B-A51C-76D1A2022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62450"/>
            <a:ext cx="5143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no_std final-link contract; 11/11 symbols</a:t>
            </a:r>
          </a:p>
        </p:txBody>
      </p:sp>
      <p:sp>
        <p:nvSpPr>
          <p:cNvPr id="20" name="t-810-458-kernel tree,">
            <a:extLst xmlns:a="http://schemas.openxmlformats.org/drawingml/2006/main">
              <a:ext uri="{FF2B5EF4-FFF2-40B4-BE49-F238E27FC236}">
                <a16:creationId xmlns:a16="http://schemas.microsoft.com/office/drawing/2014/main" id="{B0DB145D-5CB5-42E5-8836-CC5FEF4E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62450"/>
            <a:ext cx="3905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kernel tree, module load, runtime</a:t>
            </a:r>
          </a:p>
        </p:txBody>
      </p:sp>
      <p:sp>
        <p:nvSpPr>
          <p:cNvPr id="21" name="prow-42-516">
            <a:extLst xmlns:a="http://schemas.openxmlformats.org/drawingml/2006/main">
              <a:ext uri="{FF2B5EF4-FFF2-40B4-BE49-F238E27FC236}">
                <a16:creationId xmlns:a16="http://schemas.microsoft.com/office/drawing/2014/main" id="{095FF453-1D9D-43C2-A937-0E80CC63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14900"/>
            <a:ext cx="11391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5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22" name="t-58-538-BlogOS">
            <a:extLst xmlns:a="http://schemas.openxmlformats.org/drawingml/2006/main">
              <a:ext uri="{FF2B5EF4-FFF2-40B4-BE49-F238E27FC236}">
                <a16:creationId xmlns:a16="http://schemas.microsoft.com/office/drawing/2014/main" id="{FE91C347-55AC-4370-80C2-2CF24DCF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24450"/>
            <a:ext cx="166687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BlogOS</a:t>
            </a:r>
          </a:p>
        </p:txBody>
      </p:sp>
      <p:sp>
        <p:nvSpPr>
          <p:cNvPr id="23" name="t-250-532-fixed-heap g">
            <a:extLst xmlns:a="http://schemas.openxmlformats.org/drawingml/2006/main">
              <a:ext uri="{FF2B5EF4-FFF2-40B4-BE49-F238E27FC236}">
                <a16:creationId xmlns:a16="http://schemas.microsoft.com/office/drawing/2014/main" id="{2AE6DA1B-88DA-435D-B996-E16013B1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67300"/>
            <a:ext cx="5143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fixed-heap global allocator final-link PASS</a:t>
            </a:r>
          </a:p>
        </p:txBody>
      </p:sp>
      <p:sp>
        <p:nvSpPr>
          <p:cNvPr id="24" name="t-810-532-boot image a">
            <a:extLst xmlns:a="http://schemas.openxmlformats.org/drawingml/2006/main">
              <a:ext uri="{FF2B5EF4-FFF2-40B4-BE49-F238E27FC236}">
                <a16:creationId xmlns:a16="http://schemas.microsoft.com/office/drawing/2014/main" id="{1DA4A211-9011-4307-B4CE-AE2CE8D4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067300"/>
            <a:ext cx="3905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boot image and QEMU runtime</a:t>
            </a:r>
          </a:p>
        </p:txBody>
      </p:sp>
      <p:sp>
        <p:nvSpPr>
          <p:cNvPr id="25" name="t-42-608-Paper-report">
            <a:extLst xmlns:a="http://schemas.openxmlformats.org/drawingml/2006/main">
              <a:ext uri="{FF2B5EF4-FFF2-40B4-BE49-F238E27FC236}">
                <a16:creationId xmlns:a16="http://schemas.microsoft.com/office/drawing/2014/main" id="{6EE418F7-5610-41EB-AC78-0EE68C1CB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91200"/>
            <a:ext cx="11391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Paper-reported retargeting is historical; missing external assets are not allocator functional failures.</a:t>
            </a:r>
          </a:p>
        </p:txBody>
      </p:sp>
      <p:sp>
        <p:nvSpPr>
          <p:cNvPr id="26" name="t-42-30-H3 • PLATFOR">
            <a:extLst xmlns:a="http://schemas.openxmlformats.org/drawingml/2006/main">
              <a:ext uri="{FF2B5EF4-FFF2-40B4-BE49-F238E27FC236}">
                <a16:creationId xmlns:a16="http://schemas.microsoft.com/office/drawing/2014/main" id="{CD0DB5A4-CAFC-47C2-A78C-301F5050D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762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H3 • PLATFORM EVIDENCE</a:t>
            </a:r>
          </a:p>
        </p:txBody>
      </p:sp>
      <p:sp>
        <p:nvSpPr>
          <p:cNvPr id="27" name="t-42-58-The paper re">
            <a:extLst xmlns:a="http://schemas.openxmlformats.org/drawingml/2006/main">
              <a:ext uri="{FF2B5EF4-FFF2-40B4-BE49-F238E27FC236}">
                <a16:creationId xmlns:a16="http://schemas.microsoft.com/office/drawing/2014/main" id="{EBC7710A-5440-4685-89EA-0C379A1F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paper reported five environments; current functional readiness and external validation remain separate.</a:t>
            </a:r>
          </a:p>
        </p:txBody>
      </p:sp>
      <p:sp>
        <p:nvSpPr>
          <p:cNvPr id="28" name="badge-930-28">
            <a:extLst xmlns:a="http://schemas.openxmlformats.org/drawingml/2006/main">
              <a:ext uri="{FF2B5EF4-FFF2-40B4-BE49-F238E27FC236}">
                <a16:creationId xmlns:a16="http://schemas.microsoft.com/office/drawing/2014/main" id="{C40C165A-2F56-45E7-80C0-C6160984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6700"/>
            <a:ext cx="2266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5B6470"/>
            </a:solidFill>
            <a:prstDash val="solid"/>
          </a:ln>
        </p:spPr>
      </p:sp>
      <p:sp>
        <p:nvSpPr>
          <p:cNvPr id="29" name="t-942-33-MIXED EVIDEN">
            <a:extLst xmlns:a="http://schemas.openxmlformats.org/drawingml/2006/main">
              <a:ext uri="{FF2B5EF4-FFF2-40B4-BE49-F238E27FC236}">
                <a16:creationId xmlns:a16="http://schemas.microsoft.com/office/drawing/2014/main" id="{C6918ED3-0AF2-47B0-9D53-894F13F97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14325"/>
            <a:ext cx="2038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MIXED EVIDENCE TIERS</a:t>
            </a:r>
          </a:p>
        </p:txBody>
      </p:sp>
      <p:cxnSp>
        <p:nvCxnSpPr>
          <p:cNvPr id="62" name="footer-rule-42-674"/>
          <p:cNvCxnSpPr/>
          <p:nvPr/>
        </p:nvCxnSpPr>
        <p:spPr>
          <a:xfrm xmlns:a="http://schemas.openxmlformats.org/drawingml/2006/main">
            <a:off x="400050" y="641985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1" name="t-42-681-H3 • PLATFOR">
            <a:extLst xmlns:a="http://schemas.openxmlformats.org/drawingml/2006/main">
              <a:ext uri="{FF2B5EF4-FFF2-40B4-BE49-F238E27FC236}">
                <a16:creationId xmlns:a16="http://schemas.microsoft.com/office/drawing/2014/main" id="{144AA88B-C07D-416D-89B0-14A5EB3D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4095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H3 • PLATFORM EVIDENCE</a:t>
            </a:r>
          </a:p>
        </p:txBody>
      </p:sp>
      <p:sp>
        <p:nvSpPr>
          <p:cNvPr id="32" name="t-1190-681-24">
            <a:extLst xmlns:a="http://schemas.openxmlformats.org/drawingml/2006/main">
              <a:ext uri="{FF2B5EF4-FFF2-40B4-BE49-F238E27FC236}">
                <a16:creationId xmlns:a16="http://schemas.microsoft.com/office/drawing/2014/main" id="{F7EC703A-172F-437A-8C42-18B2727F4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72224420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val-head-42-174">
            <a:extLst xmlns:a="http://schemas.openxmlformats.org/drawingml/2006/main">
              <a:ext uri="{FF2B5EF4-FFF2-40B4-BE49-F238E27FC236}">
                <a16:creationId xmlns:a16="http://schemas.microsoft.com/office/drawing/2014/main" id="{4E327C4F-729E-40AA-A4F0-4E2F88268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" name="t-58-191-QUESTION">
            <a:extLst xmlns:a="http://schemas.openxmlformats.org/drawingml/2006/main">
              <a:ext uri="{FF2B5EF4-FFF2-40B4-BE49-F238E27FC236}">
                <a16:creationId xmlns:a16="http://schemas.microsoft.com/office/drawing/2014/main" id="{6706DDCA-1C74-4581-81C2-B8CF5A4F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19275"/>
            <a:ext cx="2238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QUESTION</a:t>
            </a:r>
          </a:p>
        </p:txBody>
      </p:sp>
      <p:sp>
        <p:nvSpPr>
          <p:cNvPr id="3" name="t-310-191-MEASUREMENT">
            <a:extLst xmlns:a="http://schemas.openxmlformats.org/drawingml/2006/main">
              <a:ext uri="{FF2B5EF4-FFF2-40B4-BE49-F238E27FC236}">
                <a16:creationId xmlns:a16="http://schemas.microsoft.com/office/drawing/2014/main" id="{942267CD-C17C-4958-82F3-678F95DB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19275"/>
            <a:ext cx="3143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MEASUREMENT</a:t>
            </a:r>
          </a:p>
        </p:txBody>
      </p:sp>
      <p:sp>
        <p:nvSpPr>
          <p:cNvPr id="4" name="t-660-191-BASELINE / T">
            <a:extLst xmlns:a="http://schemas.openxmlformats.org/drawingml/2006/main">
              <a:ext uri="{FF2B5EF4-FFF2-40B4-BE49-F238E27FC236}">
                <a16:creationId xmlns:a16="http://schemas.microsoft.com/office/drawing/2014/main" id="{65D3B043-DC3F-4D84-AFFA-EE687DE2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19275"/>
            <a:ext cx="2857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BASELINE / THREAT</a:t>
            </a:r>
          </a:p>
        </p:txBody>
      </p:sp>
      <p:sp>
        <p:nvSpPr>
          <p:cNvPr id="5" name="t-980-191-CURRENT STAT">
            <a:extLst xmlns:a="http://schemas.openxmlformats.org/drawingml/2006/main">
              <a:ext uri="{FF2B5EF4-FFF2-40B4-BE49-F238E27FC236}">
                <a16:creationId xmlns:a16="http://schemas.microsoft.com/office/drawing/2014/main" id="{F4CD85E7-ABD5-46BE-A11D-644895D1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19275"/>
            <a:ext cx="2286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CURRENT STATUS</a:t>
            </a:r>
          </a:p>
        </p:txBody>
      </p:sp>
      <p:sp>
        <p:nvSpPr>
          <p:cNvPr id="6" name="eval-row-42-228">
            <a:extLst xmlns:a="http://schemas.openxmlformats.org/drawingml/2006/main">
              <a:ext uri="{FF2B5EF4-FFF2-40B4-BE49-F238E27FC236}">
                <a16:creationId xmlns:a16="http://schemas.microsoft.com/office/drawing/2014/main" id="{DFF6F3F6-85F7-4D82-B6C6-B18EBBBD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11391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t-58-254-Feasibility">
            <a:extLst xmlns:a="http://schemas.openxmlformats.org/drawingml/2006/main">
              <a:ext uri="{FF2B5EF4-FFF2-40B4-BE49-F238E27FC236}">
                <a16:creationId xmlns:a16="http://schemas.microsoft.com/office/drawing/2014/main" id="{8EA2F233-1CE2-4716-B38C-7A00966E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22383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Feasibility</a:t>
            </a:r>
          </a:p>
        </p:txBody>
      </p:sp>
      <p:sp>
        <p:nvSpPr>
          <p:cNvPr id="8" name="t-310-246-actual rewri">
            <a:extLst xmlns:a="http://schemas.openxmlformats.org/drawingml/2006/main">
              <a:ext uri="{FF2B5EF4-FFF2-40B4-BE49-F238E27FC236}">
                <a16:creationId xmlns:a16="http://schemas.microsoft.com/office/drawing/2014/main" id="{0A578036-E949-4DA8-B018-2659DDE7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43150"/>
            <a:ext cx="3143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actual rewrite + runtime lifecycle</a:t>
            </a:r>
          </a:p>
        </p:txBody>
      </p:sp>
      <p:sp>
        <p:nvSpPr>
          <p:cNvPr id="9" name="t-660-246-supported pa">
            <a:extLst xmlns:a="http://schemas.openxmlformats.org/drawingml/2006/main">
              <a:ext uri="{FF2B5EF4-FFF2-40B4-BE49-F238E27FC236}">
                <a16:creationId xmlns:a16="http://schemas.microsoft.com/office/drawing/2014/main" id="{1B7EF04A-3978-475B-98F7-C9FFF9B0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2857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supported path vs fallback</a:t>
            </a:r>
          </a:p>
        </p:txBody>
      </p:sp>
      <p:sp>
        <p:nvSpPr>
          <p:cNvPr id="10" name="t-980-246-source-bound">
            <a:extLst xmlns:a="http://schemas.openxmlformats.org/drawingml/2006/main">
              <a:ext uri="{FF2B5EF4-FFF2-40B4-BE49-F238E27FC236}">
                <a16:creationId xmlns:a16="http://schemas.microsoft.com/office/drawing/2014/main" id="{66600D41-1A54-484B-9E45-9B23E6BC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43150"/>
            <a:ext cx="2286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source-bound functional</a:t>
            </a:r>
          </a:p>
        </p:txBody>
      </p:sp>
      <p:sp>
        <p:nvSpPr>
          <p:cNvPr id="11" name="eval-row-42-316">
            <a:extLst xmlns:a="http://schemas.openxmlformats.org/drawingml/2006/main">
              <a:ext uri="{FF2B5EF4-FFF2-40B4-BE49-F238E27FC236}">
                <a16:creationId xmlns:a16="http://schemas.microsoft.com/office/drawing/2014/main" id="{6F137535-82DC-412E-B441-52D40176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9900"/>
            <a:ext cx="11391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t-58-342-Cost">
            <a:extLst xmlns:a="http://schemas.openxmlformats.org/drawingml/2006/main">
              <a:ext uri="{FF2B5EF4-FFF2-40B4-BE49-F238E27FC236}">
                <a16:creationId xmlns:a16="http://schemas.microsoft.com/office/drawing/2014/main" id="{86FD8E51-39BD-4460-886E-EC8EE53D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57550"/>
            <a:ext cx="22383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Cost</a:t>
            </a:r>
          </a:p>
        </p:txBody>
      </p:sp>
      <p:sp>
        <p:nvSpPr>
          <p:cNvPr id="13" name="t-310-334-time + memor">
            <a:extLst xmlns:a="http://schemas.openxmlformats.org/drawingml/2006/main">
              <a:ext uri="{FF2B5EF4-FFF2-40B4-BE49-F238E27FC236}">
                <a16:creationId xmlns:a16="http://schemas.microsoft.com/office/drawing/2014/main" id="{FDA8803A-42A7-4BE0-8A60-EDBAC56F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81350"/>
            <a:ext cx="3143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time + memory per affected workload</a:t>
            </a:r>
          </a:p>
        </p:txBody>
      </p:sp>
      <p:sp>
        <p:nvSpPr>
          <p:cNvPr id="14" name="t-660-334-same build /">
            <a:extLst xmlns:a="http://schemas.openxmlformats.org/drawingml/2006/main">
              <a:ext uri="{FF2B5EF4-FFF2-40B4-BE49-F238E27FC236}">
                <a16:creationId xmlns:a16="http://schemas.microsoft.com/office/drawing/2014/main" id="{CBBDA633-C6B4-42A0-8E32-89503512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81350"/>
            <a:ext cx="2857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same build / host / input</a:t>
            </a:r>
          </a:p>
        </p:txBody>
      </p:sp>
      <p:sp>
        <p:nvSpPr>
          <p:cNvPr id="15" name="t-980-334-diagnostic o">
            <a:extLst xmlns:a="http://schemas.openxmlformats.org/drawingml/2006/main">
              <a:ext uri="{FF2B5EF4-FFF2-40B4-BE49-F238E27FC236}">
                <a16:creationId xmlns:a16="http://schemas.microsoft.com/office/drawing/2014/main" id="{ECAE6638-4313-4A13-B2B4-B71B0940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81350"/>
            <a:ext cx="2286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diagnostic only</a:t>
            </a:r>
          </a:p>
        </p:txBody>
      </p:sp>
      <p:sp>
        <p:nvSpPr>
          <p:cNvPr id="16" name="eval-row-42-404">
            <a:extLst xmlns:a="http://schemas.openxmlformats.org/drawingml/2006/main">
              <a:ext uri="{FF2B5EF4-FFF2-40B4-BE49-F238E27FC236}">
                <a16:creationId xmlns:a16="http://schemas.microsoft.com/office/drawing/2014/main" id="{35CA05DB-BD1E-44F0-BA5D-34F29B9A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48100"/>
            <a:ext cx="11391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t-58-430-Coverage">
            <a:extLst xmlns:a="http://schemas.openxmlformats.org/drawingml/2006/main">
              <a:ext uri="{FF2B5EF4-FFF2-40B4-BE49-F238E27FC236}">
                <a16:creationId xmlns:a16="http://schemas.microsoft.com/office/drawing/2014/main" id="{E8BAEC85-DD1A-428A-BE27-2223CB4B9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22383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Coverage</a:t>
            </a:r>
          </a:p>
        </p:txBody>
      </p:sp>
      <p:sp>
        <p:nvSpPr>
          <p:cNvPr id="18" name="t-310-422-objects/site">
            <a:extLst xmlns:a="http://schemas.openxmlformats.org/drawingml/2006/main">
              <a:ext uri="{FF2B5EF4-FFF2-40B4-BE49-F238E27FC236}">
                <a16:creationId xmlns:a16="http://schemas.microsoft.com/office/drawing/2014/main" id="{0D8EE6E3-5C41-406F-9DEA-705B25BF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19550"/>
            <a:ext cx="3143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objects/sites with trusted semantics</a:t>
            </a:r>
          </a:p>
        </p:txBody>
      </p:sp>
      <p:sp>
        <p:nvSpPr>
          <p:cNvPr id="19" name="t-660-422-explicit den">
            <a:extLst xmlns:a="http://schemas.openxmlformats.org/drawingml/2006/main">
              <a:ext uri="{FF2B5EF4-FFF2-40B4-BE49-F238E27FC236}">
                <a16:creationId xmlns:a16="http://schemas.microsoft.com/office/drawing/2014/main" id="{E298D082-3952-46B1-830D-389F37AE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19550"/>
            <a:ext cx="2857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explicit denominator</a:t>
            </a:r>
          </a:p>
        </p:txBody>
      </p:sp>
      <p:sp>
        <p:nvSpPr>
          <p:cNvPr id="20" name="t-980-422-historical p">
            <a:extLst xmlns:a="http://schemas.openxmlformats.org/drawingml/2006/main">
              <a:ext uri="{FF2B5EF4-FFF2-40B4-BE49-F238E27FC236}">
                <a16:creationId xmlns:a16="http://schemas.microsoft.com/office/drawing/2014/main" id="{252424C1-297C-4454-87F6-A1BC7111D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19550"/>
            <a:ext cx="2286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historical paper only</a:t>
            </a:r>
          </a:p>
        </p:txBody>
      </p:sp>
      <p:sp>
        <p:nvSpPr>
          <p:cNvPr id="21" name="eval-row-42-492">
            <a:extLst xmlns:a="http://schemas.openxmlformats.org/drawingml/2006/main">
              <a:ext uri="{FF2B5EF4-FFF2-40B4-BE49-F238E27FC236}">
                <a16:creationId xmlns:a16="http://schemas.microsoft.com/office/drawing/2014/main" id="{AC68C787-9592-4635-9EA3-78FC65C8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86300"/>
            <a:ext cx="11391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t-58-518-Retargeting">
            <a:extLst xmlns:a="http://schemas.openxmlformats.org/drawingml/2006/main">
              <a:ext uri="{FF2B5EF4-FFF2-40B4-BE49-F238E27FC236}">
                <a16:creationId xmlns:a16="http://schemas.microsoft.com/office/drawing/2014/main" id="{4C9D3E21-044F-494D-960F-7518573E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33950"/>
            <a:ext cx="22383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Retargeting</a:t>
            </a:r>
          </a:p>
        </p:txBody>
      </p:sp>
      <p:sp>
        <p:nvSpPr>
          <p:cNvPr id="23" name="t-310-510-build/link/r">
            <a:extLst xmlns:a="http://schemas.openxmlformats.org/drawingml/2006/main">
              <a:ext uri="{FF2B5EF4-FFF2-40B4-BE49-F238E27FC236}">
                <a16:creationId xmlns:a16="http://schemas.microsoft.com/office/drawing/2014/main" id="{FF1CB804-4F77-4A37-B478-08B6BAE4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57750"/>
            <a:ext cx="3143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build/link/runtime per target</a:t>
            </a:r>
          </a:p>
        </p:txBody>
      </p:sp>
      <p:sp>
        <p:nvSpPr>
          <p:cNvPr id="24" name="t-660-510-adapter and">
            <a:extLst xmlns:a="http://schemas.openxmlformats.org/drawingml/2006/main">
              <a:ext uri="{FF2B5EF4-FFF2-40B4-BE49-F238E27FC236}">
                <a16:creationId xmlns:a16="http://schemas.microsoft.com/office/drawing/2014/main" id="{5A37CAEA-84CA-41AA-8F1A-0D75C7D4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57750"/>
            <a:ext cx="2857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adapter and external assets</a:t>
            </a:r>
          </a:p>
        </p:txBody>
      </p:sp>
      <p:sp>
        <p:nvSpPr>
          <p:cNvPr id="25" name="t-980-510-mixed functi">
            <a:extLst xmlns:a="http://schemas.openxmlformats.org/drawingml/2006/main">
              <a:ext uri="{FF2B5EF4-FFF2-40B4-BE49-F238E27FC236}">
                <a16:creationId xmlns:a16="http://schemas.microsoft.com/office/drawing/2014/main" id="{06565FA8-B1CC-4248-A556-CE7CE76A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57750"/>
            <a:ext cx="2286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mixed functional</a:t>
            </a:r>
          </a:p>
        </p:txBody>
      </p:sp>
      <p:sp>
        <p:nvSpPr>
          <p:cNvPr id="26" name="method-note-42-598">
            <a:extLst xmlns:a="http://schemas.openxmlformats.org/drawingml/2006/main">
              <a:ext uri="{FF2B5EF4-FFF2-40B4-BE49-F238E27FC236}">
                <a16:creationId xmlns:a16="http://schemas.microsoft.com/office/drawing/2014/main" id="{92F5C751-9122-4163-ADA5-D690551E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95950"/>
            <a:ext cx="11391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5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27" name="t-58-610-Original pap">
            <a:extLst xmlns:a="http://schemas.openxmlformats.org/drawingml/2006/main">
              <a:ext uri="{FF2B5EF4-FFF2-40B4-BE49-F238E27FC236}">
                <a16:creationId xmlns:a16="http://schemas.microsoft.com/office/drawing/2014/main" id="{545D94D6-CFAA-4903-972E-2910E085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0"/>
            <a:ext cx="11087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defRPr>
            </a:pPr>
            <a:r>
              <a:t>Original paper method: nightly-2021-08-04; 6 runs; geometric mean of last 5; UniAlloc normalized to 1; no separate uncertainty analysis.</a:t>
            </a:r>
          </a:p>
        </p:txBody>
      </p:sp>
      <p:sp>
        <p:nvSpPr>
          <p:cNvPr id="28" name="t-42-30-EVALUATION D">
            <a:extLst xmlns:a="http://schemas.openxmlformats.org/drawingml/2006/main">
              <a:ext uri="{FF2B5EF4-FFF2-40B4-BE49-F238E27FC236}">
                <a16:creationId xmlns:a16="http://schemas.microsoft.com/office/drawing/2014/main" id="{FE90F8BD-421F-419E-8012-D9E34839C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762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EVALUATION DESIGN</a:t>
            </a:r>
          </a:p>
        </p:txBody>
      </p:sp>
      <p:sp>
        <p:nvSpPr>
          <p:cNvPr id="29" name="t-42-58-The evaluati">
            <a:extLst xmlns:a="http://schemas.openxmlformats.org/drawingml/2006/main">
              <a:ext uri="{FF2B5EF4-FFF2-40B4-BE49-F238E27FC236}">
                <a16:creationId xmlns:a16="http://schemas.microsoft.com/office/drawing/2014/main" id="{51DF7A0E-84D4-440F-905E-1D1EFFD7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evaluation asks feasibility, cost, coverage, and retargeting as separate questions.</a:t>
            </a:r>
          </a:p>
        </p:txBody>
      </p:sp>
      <p:sp>
        <p:nvSpPr>
          <p:cNvPr id="30" name="badge-930-28">
            <a:extLst xmlns:a="http://schemas.openxmlformats.org/drawingml/2006/main">
              <a:ext uri="{FF2B5EF4-FFF2-40B4-BE49-F238E27FC236}">
                <a16:creationId xmlns:a16="http://schemas.microsoft.com/office/drawing/2014/main" id="{323D8F97-7C51-4E02-8DC6-DDC01AC1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6700"/>
            <a:ext cx="3105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1" name="t-942-33-HISTORICAL M">
            <a:extLst xmlns:a="http://schemas.openxmlformats.org/drawingml/2006/main">
              <a:ext uri="{FF2B5EF4-FFF2-40B4-BE49-F238E27FC236}">
                <a16:creationId xmlns:a16="http://schemas.microsoft.com/office/drawing/2014/main" id="{E4D0C515-E974-4816-91E8-B5D64A01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14325"/>
            <a:ext cx="2876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HISTORICAL METHOD + CURRENT STATUS</a:t>
            </a:r>
          </a:p>
        </p:txBody>
      </p:sp>
      <p:cxnSp>
        <p:nvCxnSpPr>
          <p:cNvPr id="66" name="footer-rule-42-674"/>
          <p:cNvCxnSpPr/>
          <p:nvPr/>
        </p:nvCxnSpPr>
        <p:spPr>
          <a:xfrm xmlns:a="http://schemas.openxmlformats.org/drawingml/2006/main">
            <a:off x="400050" y="641985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3" name="t-42-681-EVALUATION D">
            <a:extLst xmlns:a="http://schemas.openxmlformats.org/drawingml/2006/main">
              <a:ext uri="{FF2B5EF4-FFF2-40B4-BE49-F238E27FC236}">
                <a16:creationId xmlns:a16="http://schemas.microsoft.com/office/drawing/2014/main" id="{6BD58789-FA39-4285-A839-703F2048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4095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EVALUATION DESIGN</a:t>
            </a:r>
          </a:p>
        </p:txBody>
      </p:sp>
      <p:sp>
        <p:nvSpPr>
          <p:cNvPr id="34" name="t-1190-681-25">
            <a:extLst xmlns:a="http://schemas.openxmlformats.org/drawingml/2006/main">
              <a:ext uri="{FF2B5EF4-FFF2-40B4-BE49-F238E27FC236}">
                <a16:creationId xmlns:a16="http://schemas.microsoft.com/office/drawing/2014/main" id="{10CAAE43-1FB2-4EBB-90B7-BDE750D5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45689575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istoric-stat-42-188">
            <a:extLst xmlns:a="http://schemas.openxmlformats.org/drawingml/2006/main">
              <a:ext uri="{FF2B5EF4-FFF2-40B4-BE49-F238E27FC236}">
                <a16:creationId xmlns:a16="http://schemas.microsoft.com/office/drawing/2014/main" id="{799D308B-D737-41E0-A1D2-200496F9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42862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" name="t-66-238-&lt; 2%">
            <a:extLst xmlns:a="http://schemas.openxmlformats.org/drawingml/2006/main">
              <a:ext uri="{FF2B5EF4-FFF2-40B4-BE49-F238E27FC236}">
                <a16:creationId xmlns:a16="http://schemas.microsoft.com/office/drawing/2014/main" id="{7F3E5D73-E424-457A-9945-7EB305A6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38290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&lt; 2%</a:t>
            </a:r>
          </a:p>
        </p:txBody>
      </p:sp>
      <p:sp>
        <p:nvSpPr>
          <p:cNvPr id="3" name="t-82-350-average diff">
            <a:extLst xmlns:a="http://schemas.openxmlformats.org/drawingml/2006/main">
              <a:ext uri="{FF2B5EF4-FFF2-40B4-BE49-F238E27FC236}">
                <a16:creationId xmlns:a16="http://schemas.microsoft.com/office/drawing/2014/main" id="{77BB7972-F78C-4C73-B993-F3675728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3524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average difference in the paper's tested aggregate</a:t>
            </a:r>
          </a:p>
        </p:txBody>
      </p:sp>
      <p:sp>
        <p:nvSpPr>
          <p:cNvPr id="4" name="t-82-438-UniAlloc opt">
            <a:extLst xmlns:a="http://schemas.openxmlformats.org/drawingml/2006/main">
              <a:ext uri="{FF2B5EF4-FFF2-40B4-BE49-F238E27FC236}">
                <a16:creationId xmlns:a16="http://schemas.microsoft.com/office/drawing/2014/main" id="{E877280E-C0E5-4F6C-A4F6-CD8F9748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3524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UniAlloc optional features off
6 comparison allocators
nightly-2021-08-04</a:t>
            </a:r>
          </a:p>
        </p:txBody>
      </p:sp>
      <p:sp>
        <p:nvSpPr>
          <p:cNvPr id="5" name="memory-540-188">
            <a:extLst xmlns:a="http://schemas.openxmlformats.org/drawingml/2006/main">
              <a:ext uri="{FF2B5EF4-FFF2-40B4-BE49-F238E27FC236}">
                <a16:creationId xmlns:a16="http://schemas.microsoft.com/office/drawing/2014/main" id="{E555DC6D-4471-466C-A615-557D865B3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90700"/>
            <a:ext cx="66484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t-566-214-MEMORY RESUL">
            <a:extLst xmlns:a="http://schemas.openxmlformats.org/drawingml/2006/main">
              <a:ext uri="{FF2B5EF4-FFF2-40B4-BE49-F238E27FC236}">
                <a16:creationId xmlns:a16="http://schemas.microsoft.com/office/drawing/2014/main" id="{5FF83677-A396-4A6A-82D4-541A9786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038350"/>
            <a:ext cx="6153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MEMORY RESULT WAS WORKLOAD-DEPENDENT</a:t>
            </a:r>
          </a:p>
        </p:txBody>
      </p:sp>
      <p:sp>
        <p:nvSpPr>
          <p:cNvPr id="7" name="t-566-276-Most tested">
            <a:extLst xmlns:a="http://schemas.openxmlformats.org/drawingml/2006/main">
              <a:ext uri="{FF2B5EF4-FFF2-40B4-BE49-F238E27FC236}">
                <a16:creationId xmlns:a16="http://schemas.microsoft.com/office/drawing/2014/main" id="{F3D8F5D6-E6E4-4B32-A678-7506CA5E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628900"/>
            <a:ext cx="615315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Most tested workloads: comparable maximum memory
Collections and Rust-Redis: higher peak memory because per-type free slots were retained for future reuse</a:t>
            </a:r>
          </a:p>
        </p:txBody>
      </p:sp>
      <p:sp>
        <p:nvSpPr>
          <p:cNvPr id="8" name="t-566-472-The paper di">
            <a:extLst xmlns:a="http://schemas.openxmlformats.org/drawingml/2006/main">
              <a:ext uri="{FF2B5EF4-FFF2-40B4-BE49-F238E27FC236}">
                <a16:creationId xmlns:a16="http://schemas.microsoft.com/office/drawing/2014/main" id="{5EA90524-4D65-426D-8420-EE590B59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495800"/>
            <a:ext cx="61531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141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The paper did not report a confidence interval or significance analysis for the aggregate.</a:t>
            </a:r>
          </a:p>
        </p:txBody>
      </p:sp>
      <p:sp>
        <p:nvSpPr>
          <p:cNvPr id="9" name="historical-footer-42-566">
            <a:extLst xmlns:a="http://schemas.openxmlformats.org/drawingml/2006/main">
              <a:ext uri="{FF2B5EF4-FFF2-40B4-BE49-F238E27FC236}">
                <a16:creationId xmlns:a16="http://schemas.microsoft.com/office/drawing/2014/main" id="{5CB9C398-3E6B-4E65-ACE2-4D4F7161A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1391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t-66-582-Historical r">
            <a:extLst xmlns:a="http://schemas.openxmlformats.org/drawingml/2006/main">
              <a:ext uri="{FF2B5EF4-FFF2-40B4-BE49-F238E27FC236}">
                <a16:creationId xmlns:a16="http://schemas.microsoft.com/office/drawing/2014/main" id="{7C0BA7B1-7259-4486-843E-EB504D8A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43550"/>
            <a:ext cx="10934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Historical reference only—not a current-source claim-grade reproduction.</a:t>
            </a:r>
          </a:p>
        </p:txBody>
      </p:sp>
      <p:sp>
        <p:nvSpPr>
          <p:cNvPr id="11" name="t-42-30-HISTORICAL R">
            <a:extLst xmlns:a="http://schemas.openxmlformats.org/drawingml/2006/main">
              <a:ext uri="{FF2B5EF4-FFF2-40B4-BE49-F238E27FC236}">
                <a16:creationId xmlns:a16="http://schemas.microsoft.com/office/drawing/2014/main" id="{23AB3F92-11E3-42AF-8EDA-13001D5B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762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HISTORICAL RESULTS</a:t>
            </a:r>
          </a:p>
        </p:txBody>
      </p:sp>
      <p:sp>
        <p:nvSpPr>
          <p:cNvPr id="12" name="t-42-58-Historically">
            <a:extLst xmlns:a="http://schemas.openxmlformats.org/drawingml/2006/main">
              <a:ext uri="{FF2B5EF4-FFF2-40B4-BE49-F238E27FC236}">
                <a16:creationId xmlns:a16="http://schemas.microsoft.com/office/drawing/2014/main" id="{645558B6-4821-438F-BE78-F031BD27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Historically, UniAlloc averaged under 2% difference in the tested aggregate; memory retention varied by workload.</a:t>
            </a:r>
          </a:p>
        </p:txBody>
      </p:sp>
      <p:sp>
        <p:nvSpPr>
          <p:cNvPr id="13" name="badge-930-28">
            <a:extLst xmlns:a="http://schemas.openxmlformats.org/drawingml/2006/main">
              <a:ext uri="{FF2B5EF4-FFF2-40B4-BE49-F238E27FC236}">
                <a16:creationId xmlns:a16="http://schemas.microsoft.com/office/drawing/2014/main" id="{A895F3E9-94A8-4E96-A637-71C885B2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6700"/>
            <a:ext cx="2724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4" name="t-942-33-PAPER-REPORT">
            <a:extLst xmlns:a="http://schemas.openxmlformats.org/drawingml/2006/main">
              <a:ext uri="{FF2B5EF4-FFF2-40B4-BE49-F238E27FC236}">
                <a16:creationId xmlns:a16="http://schemas.microsoft.com/office/drawing/2014/main" id="{85A21E8A-7F90-4107-B8B1-833B7C33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14325"/>
            <a:ext cx="2495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PAPER-REPORTED HISTORICAL</a:t>
            </a:r>
          </a:p>
        </p:txBody>
      </p:sp>
      <p:cxnSp>
        <p:nvCxnSpPr>
          <p:cNvPr id="33" name="footer-rule-42-674"/>
          <p:cNvCxnSpPr/>
          <p:nvPr/>
        </p:nvCxnSpPr>
        <p:spPr>
          <a:xfrm xmlns:a="http://schemas.openxmlformats.org/drawingml/2006/main">
            <a:off x="400050" y="641985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6" name="t-42-681-HISTORICAL R">
            <a:extLst xmlns:a="http://schemas.openxmlformats.org/drawingml/2006/main">
              <a:ext uri="{FF2B5EF4-FFF2-40B4-BE49-F238E27FC236}">
                <a16:creationId xmlns:a16="http://schemas.microsoft.com/office/drawing/2014/main" id="{04F26779-E847-4B39-8EBA-A96193BD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4095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HISTORICAL RESULTS</a:t>
            </a:r>
          </a:p>
        </p:txBody>
      </p:sp>
      <p:sp>
        <p:nvSpPr>
          <p:cNvPr id="17" name="t-1190-681-26">
            <a:extLst xmlns:a="http://schemas.openxmlformats.org/drawingml/2006/main">
              <a:ext uri="{FF2B5EF4-FFF2-40B4-BE49-F238E27FC236}">
                <a16:creationId xmlns:a16="http://schemas.microsoft.com/office/drawing/2014/main" id="{6FAF53C5-9834-443A-9771-CD2EAD8A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26</a:t>
            </a:r>
          </a:p>
        </p:txBody>
      </p:sp>
      <p:sp>
        <p:nvSpPr>
          <p:cNvPr id="18" name="t-480-681-rust-alloc-p">
            <a:extLst xmlns:a="http://schemas.openxmlformats.org/drawingml/2006/main">
              <a:ext uri="{FF2B5EF4-FFF2-40B4-BE49-F238E27FC236}">
                <a16:creationId xmlns:a16="http://schemas.microsoft.com/office/drawing/2014/main" id="{AB2EFFE4-E17A-4BC9-A6B2-05A537FAF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86525"/>
            <a:ext cx="6477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rust-alloc-paper/eval.tex • original setup</a:t>
            </a:r>
          </a:p>
        </p:txBody>
      </p:sp>
    </p:spTree>
    <p:extLst>
      <p:ext uri="{BB962C8B-B14F-4D97-AF65-F5344CB8AC3E}">
        <p14:creationId xmlns:p14="http://schemas.microsoft.com/office/powerpoint/2010/main" val="15343627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ist-stat-42-202">
            <a:extLst xmlns:a="http://schemas.openxmlformats.org/drawingml/2006/main">
              <a:ext uri="{FF2B5EF4-FFF2-40B4-BE49-F238E27FC236}">
                <a16:creationId xmlns:a16="http://schemas.microsoft.com/office/drawing/2014/main" id="{5186BB9B-74DB-4715-B657-4B512948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533400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" name="t-66-248-5–14%">
            <a:extLst xmlns:a="http://schemas.openxmlformats.org/drawingml/2006/main">
              <a:ext uri="{FF2B5EF4-FFF2-40B4-BE49-F238E27FC236}">
                <a16:creationId xmlns:a16="http://schemas.microsoft.com/office/drawing/2014/main" id="{46276A0D-4214-4BF5-A3BC-6B24F046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62200"/>
            <a:ext cx="48768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5–14%</a:t>
            </a:r>
          </a:p>
        </p:txBody>
      </p:sp>
      <p:sp>
        <p:nvSpPr>
          <p:cNvPr id="3" name="t-66-348-type-isolati">
            <a:extLst xmlns:a="http://schemas.openxmlformats.org/drawingml/2006/main">
              <a:ext uri="{FF2B5EF4-FFF2-40B4-BE49-F238E27FC236}">
                <a16:creationId xmlns:a16="http://schemas.microsoft.com/office/drawing/2014/main" id="{A7F4FF57-AA7C-4AF9-9F0A-B6E96356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14700"/>
            <a:ext cx="48768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type-isolation slowdown</a:t>
            </a:r>
          </a:p>
        </p:txBody>
      </p:sp>
      <p:sp>
        <p:nvSpPr>
          <p:cNvPr id="4" name="t-90-414-relative to">
            <a:extLst xmlns:a="http://schemas.openxmlformats.org/drawingml/2006/main">
              <a:ext uri="{FF2B5EF4-FFF2-40B4-BE49-F238E27FC236}">
                <a16:creationId xmlns:a16="http://schemas.microsoft.com/office/drawing/2014/main" id="{01C073AF-DCBC-4BF8-9AAB-E3360699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43350"/>
            <a:ext cx="44196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relative to allocators with optional security features disabled</a:t>
            </a:r>
          </a:p>
        </p:txBody>
      </p:sp>
      <p:sp>
        <p:nvSpPr>
          <p:cNvPr id="5" name="hist-stat-678-202">
            <a:extLst xmlns:a="http://schemas.openxmlformats.org/drawingml/2006/main">
              <a:ext uri="{FF2B5EF4-FFF2-40B4-BE49-F238E27FC236}">
                <a16:creationId xmlns:a16="http://schemas.microsoft.com/office/drawing/2014/main" id="{09BE9EAA-5F19-4830-ADA9-F9458DCD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24050"/>
            <a:ext cx="533400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" name="t-702-248-72.17%">
            <a:extLst xmlns:a="http://schemas.openxmlformats.org/drawingml/2006/main">
              <a:ext uri="{FF2B5EF4-FFF2-40B4-BE49-F238E27FC236}">
                <a16:creationId xmlns:a16="http://schemas.microsoft.com/office/drawing/2014/main" id="{9B12D723-58F5-4119-9FF1-163FECEB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62200"/>
            <a:ext cx="48768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72.17%</a:t>
            </a:r>
          </a:p>
        </p:txBody>
      </p:sp>
      <p:sp>
        <p:nvSpPr>
          <p:cNvPr id="7" name="t-702-348-object cover">
            <a:extLst xmlns:a="http://schemas.openxmlformats.org/drawingml/2006/main">
              <a:ext uri="{FF2B5EF4-FFF2-40B4-BE49-F238E27FC236}">
                <a16:creationId xmlns:a16="http://schemas.microsoft.com/office/drawing/2014/main" id="{2798B569-6DAE-44B0-B623-8F701FA4F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314700"/>
            <a:ext cx="48768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object coverage</a:t>
            </a:r>
          </a:p>
        </p:txBody>
      </p:sp>
      <p:sp>
        <p:nvSpPr>
          <p:cNvPr id="8" name="t-726-414-in the origi">
            <a:extLst xmlns:a="http://schemas.openxmlformats.org/drawingml/2006/main">
              <a:ext uri="{FF2B5EF4-FFF2-40B4-BE49-F238E27FC236}">
                <a16:creationId xmlns:a16="http://schemas.microsoft.com/office/drawing/2014/main" id="{9C2D2E1A-4584-428F-A9AE-C5B495EB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943350"/>
            <a:ext cx="44196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in the original std alloc benchmark setup; remaining sites used the size-based path</a:t>
            </a:r>
          </a:p>
        </p:txBody>
      </p:sp>
      <p:sp>
        <p:nvSpPr>
          <p:cNvPr id="9" name="hist-bound-42-558">
            <a:extLst xmlns:a="http://schemas.openxmlformats.org/drawingml/2006/main">
              <a:ext uri="{FF2B5EF4-FFF2-40B4-BE49-F238E27FC236}">
                <a16:creationId xmlns:a16="http://schemas.microsoft.com/office/drawing/2014/main" id="{ADDF5B41-AA65-451A-AE18-3FFC0CD0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14950"/>
            <a:ext cx="11391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t-66-575-These values">
            <a:extLst xmlns:a="http://schemas.openxmlformats.org/drawingml/2006/main">
              <a:ext uri="{FF2B5EF4-FFF2-40B4-BE49-F238E27FC236}">
                <a16:creationId xmlns:a16="http://schemas.microsoft.com/office/drawing/2014/main" id="{8412FED8-922E-4C52-8FDE-41E07636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76875"/>
            <a:ext cx="10934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These values are historical reference results. They are not rebound to the current G002 source or reduced smoke runs.</a:t>
            </a:r>
          </a:p>
        </p:txBody>
      </p:sp>
      <p:sp>
        <p:nvSpPr>
          <p:cNvPr id="11" name="t-42-30-HISTORICAL R">
            <a:extLst xmlns:a="http://schemas.openxmlformats.org/drawingml/2006/main">
              <a:ext uri="{FF2B5EF4-FFF2-40B4-BE49-F238E27FC236}">
                <a16:creationId xmlns:a16="http://schemas.microsoft.com/office/drawing/2014/main" id="{5254166D-ADBD-47D2-B77B-AD1C0E22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762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HISTORICAL RESULTS</a:t>
            </a:r>
          </a:p>
        </p:txBody>
      </p:sp>
      <p:sp>
        <p:nvSpPr>
          <p:cNvPr id="12" name="t-42-58-The paper re">
            <a:extLst xmlns:a="http://schemas.openxmlformats.org/drawingml/2006/main">
              <a:ext uri="{FF2B5EF4-FFF2-40B4-BE49-F238E27FC236}">
                <a16:creationId xmlns:a16="http://schemas.microsoft.com/office/drawing/2014/main" id="{064147D4-B36E-4160-9EFC-C5BBCCE8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paper reported 5–14% type-isolation slowdown and 72.17% object coverage under its original setup.</a:t>
            </a:r>
          </a:p>
        </p:txBody>
      </p:sp>
      <p:sp>
        <p:nvSpPr>
          <p:cNvPr id="13" name="badge-930-28">
            <a:extLst xmlns:a="http://schemas.openxmlformats.org/drawingml/2006/main">
              <a:ext uri="{FF2B5EF4-FFF2-40B4-BE49-F238E27FC236}">
                <a16:creationId xmlns:a16="http://schemas.microsoft.com/office/drawing/2014/main" id="{083844BF-E9D8-40DE-A984-AB447A37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6700"/>
            <a:ext cx="2724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4" name="t-942-33-PAPER-REPORT">
            <a:extLst xmlns:a="http://schemas.openxmlformats.org/drawingml/2006/main">
              <a:ext uri="{FF2B5EF4-FFF2-40B4-BE49-F238E27FC236}">
                <a16:creationId xmlns:a16="http://schemas.microsoft.com/office/drawing/2014/main" id="{E02D9AA7-BF62-4EC8-8EB4-21E89B8E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14325"/>
            <a:ext cx="2495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PAPER-REPORTED HISTORICAL</a:t>
            </a:r>
          </a:p>
        </p:txBody>
      </p:sp>
      <p:cxnSp>
        <p:nvCxnSpPr>
          <p:cNvPr id="33" name="footer-rule-42-674"/>
          <p:cNvCxnSpPr/>
          <p:nvPr/>
        </p:nvCxnSpPr>
        <p:spPr>
          <a:xfrm xmlns:a="http://schemas.openxmlformats.org/drawingml/2006/main">
            <a:off x="400050" y="641985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6" name="t-42-681-HISTORICAL R">
            <a:extLst xmlns:a="http://schemas.openxmlformats.org/drawingml/2006/main">
              <a:ext uri="{FF2B5EF4-FFF2-40B4-BE49-F238E27FC236}">
                <a16:creationId xmlns:a16="http://schemas.microsoft.com/office/drawing/2014/main" id="{B30EEE6F-105A-4B74-BEEB-32FADFBC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4095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HISTORICAL RESULTS</a:t>
            </a:r>
          </a:p>
        </p:txBody>
      </p:sp>
      <p:sp>
        <p:nvSpPr>
          <p:cNvPr id="17" name="t-1190-681-27">
            <a:extLst xmlns:a="http://schemas.openxmlformats.org/drawingml/2006/main">
              <a:ext uri="{FF2B5EF4-FFF2-40B4-BE49-F238E27FC236}">
                <a16:creationId xmlns:a16="http://schemas.microsoft.com/office/drawing/2014/main" id="{DAED0BDE-6235-4916-A238-255A1E3D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27</a:t>
            </a:r>
          </a:p>
        </p:txBody>
      </p:sp>
      <p:sp>
        <p:nvSpPr>
          <p:cNvPr id="18" name="t-480-681-rust-alloc-p">
            <a:extLst xmlns:a="http://schemas.openxmlformats.org/drawingml/2006/main">
              <a:ext uri="{FF2B5EF4-FFF2-40B4-BE49-F238E27FC236}">
                <a16:creationId xmlns:a16="http://schemas.microsoft.com/office/drawing/2014/main" id="{882A06AF-C99A-48F5-A470-E93D2A78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86525"/>
            <a:ext cx="6477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rust-alloc-paper/eval.tex • original toolchain/method</a:t>
            </a:r>
          </a:p>
        </p:txBody>
      </p:sp>
    </p:spTree>
    <p:extLst>
      <p:ext uri="{BB962C8B-B14F-4D97-AF65-F5344CB8AC3E}">
        <p14:creationId xmlns:p14="http://schemas.microsoft.com/office/powerpoint/2010/main" val="59943500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adder-42-176">
            <a:extLst xmlns:a="http://schemas.openxmlformats.org/drawingml/2006/main">
              <a:ext uri="{FF2B5EF4-FFF2-40B4-BE49-F238E27FC236}">
                <a16:creationId xmlns:a16="http://schemas.microsoft.com/office/drawing/2014/main" id="{E1CC35B6-AF00-47D2-8881-4603F41A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13919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" name="t-58-196-1">
            <a:extLst xmlns:a="http://schemas.openxmlformats.org/drawingml/2006/main">
              <a:ext uri="{FF2B5EF4-FFF2-40B4-BE49-F238E27FC236}">
                <a16:creationId xmlns:a16="http://schemas.microsoft.com/office/drawing/2014/main" id="{4E769D27-AE62-4312-A498-87D51BA40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495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  <p:sp>
        <p:nvSpPr>
          <p:cNvPr id="3" name="t-128-191-PAPER-REPORT">
            <a:extLst xmlns:a="http://schemas.openxmlformats.org/drawingml/2006/main">
              <a:ext uri="{FF2B5EF4-FFF2-40B4-BE49-F238E27FC236}">
                <a16:creationId xmlns:a16="http://schemas.microsoft.com/office/drawing/2014/main" id="{6A941994-D68C-4461-BB23-7BBDF992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819275"/>
            <a:ext cx="3619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PAPER-REPORTED HISTORICAL</a:t>
            </a:r>
          </a:p>
        </p:txBody>
      </p:sp>
      <p:sp>
        <p:nvSpPr>
          <p:cNvPr id="4" name="t-520-191-Original pro">
            <a:extLst xmlns:a="http://schemas.openxmlformats.org/drawingml/2006/main">
              <a:ext uri="{FF2B5EF4-FFF2-40B4-BE49-F238E27FC236}">
                <a16:creationId xmlns:a16="http://schemas.microsoft.com/office/drawing/2014/main" id="{8B9394C8-845B-44E7-B597-6593AFD83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19275"/>
            <a:ext cx="65722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Original prototype results under original toolchain; reference only.</a:t>
            </a:r>
          </a:p>
        </p:txBody>
      </p:sp>
      <p:sp>
        <p:nvSpPr>
          <p:cNvPr id="5" name="ladder-42-272">
            <a:extLst xmlns:a="http://schemas.openxmlformats.org/drawingml/2006/main">
              <a:ext uri="{FF2B5EF4-FFF2-40B4-BE49-F238E27FC236}">
                <a16:creationId xmlns:a16="http://schemas.microsoft.com/office/drawing/2014/main" id="{D353DF1E-7365-4509-8BB6-421C695A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90800"/>
            <a:ext cx="113919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EF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6" name="t-58-292-2">
            <a:extLst xmlns:a="http://schemas.openxmlformats.org/drawingml/2006/main">
              <a:ext uri="{FF2B5EF4-FFF2-40B4-BE49-F238E27FC236}">
                <a16:creationId xmlns:a16="http://schemas.microsoft.com/office/drawing/2014/main" id="{A5C68053-F100-4660-A89C-2640A7A73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495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5803D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7" name="t-128-287-CURRENT IMPL">
            <a:extLst xmlns:a="http://schemas.openxmlformats.org/drawingml/2006/main">
              <a:ext uri="{FF2B5EF4-FFF2-40B4-BE49-F238E27FC236}">
                <a16:creationId xmlns:a16="http://schemas.microsoft.com/office/drawing/2014/main" id="{9FAAE17F-D15E-49D6-B565-89FAFFF7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33675"/>
            <a:ext cx="3619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803D"/>
                </a:solidFill>
                <a:latin typeface="Helvetica Neue"/>
                <a:ea typeface="Helvetica Neue"/>
                <a:cs typeface="Helvetica Neue"/>
              </a:defRPr>
            </a:pPr>
            <a:r>
              <a:t>CURRENT IMPLEMENTATION / PROBE</a:t>
            </a:r>
          </a:p>
        </p:txBody>
      </p:sp>
      <p:sp>
        <p:nvSpPr>
          <p:cNvPr id="8" name="t-520-287-Bounded curr">
            <a:extLst xmlns:a="http://schemas.openxmlformats.org/drawingml/2006/main">
              <a:ext uri="{FF2B5EF4-FFF2-40B4-BE49-F238E27FC236}">
                <a16:creationId xmlns:a16="http://schemas.microsoft.com/office/drawing/2014/main" id="{FB500819-9760-4D88-81D4-733154C1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33675"/>
            <a:ext cx="65722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Bounded current mechanisms build or run; not complete paper claims.</a:t>
            </a:r>
          </a:p>
        </p:txBody>
      </p:sp>
      <p:sp>
        <p:nvSpPr>
          <p:cNvPr id="9" name="ladder-42-368">
            <a:extLst xmlns:a="http://schemas.openxmlformats.org/drawingml/2006/main">
              <a:ext uri="{FF2B5EF4-FFF2-40B4-BE49-F238E27FC236}">
                <a16:creationId xmlns:a16="http://schemas.microsoft.com/office/drawing/2014/main" id="{EB5A675B-C041-445A-9499-3A65A6FA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05200"/>
            <a:ext cx="113919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7E22CE"/>
            </a:solidFill>
            <a:prstDash val="solid"/>
          </a:ln>
        </p:spPr>
      </p:sp>
      <p:sp>
        <p:nvSpPr>
          <p:cNvPr id="10" name="t-58-388-3">
            <a:extLst xmlns:a="http://schemas.openxmlformats.org/drawingml/2006/main">
              <a:ext uri="{FF2B5EF4-FFF2-40B4-BE49-F238E27FC236}">
                <a16:creationId xmlns:a16="http://schemas.microsoft.com/office/drawing/2014/main" id="{A94B8B91-3BF5-4A04-A3A1-5C696CF6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95700"/>
            <a:ext cx="495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7E22CE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11" name="t-128-383-HISTORICAL P">
            <a:extLst xmlns:a="http://schemas.openxmlformats.org/drawingml/2006/main">
              <a:ext uri="{FF2B5EF4-FFF2-40B4-BE49-F238E27FC236}">
                <a16:creationId xmlns:a16="http://schemas.microsoft.com/office/drawing/2014/main" id="{4A064D67-AEDB-4519-9EEE-741A230BD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48075"/>
            <a:ext cx="3619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E22CE"/>
                </a:solidFill>
                <a:latin typeface="Helvetica Neue"/>
                <a:ea typeface="Helvetica Neue"/>
                <a:cs typeface="Helvetica Neue"/>
              </a:defRPr>
            </a:pPr>
            <a:r>
              <a:t>HISTORICAL PARTIAL RECORDS</a:t>
            </a:r>
          </a:p>
        </p:txBody>
      </p:sp>
      <p:sp>
        <p:nvSpPr>
          <p:cNvPr id="12" name="t-520-383-20/1008 acce">
            <a:extLst xmlns:a="http://schemas.openxmlformats.org/drawingml/2006/main">
              <a:ext uri="{FF2B5EF4-FFF2-40B4-BE49-F238E27FC236}">
                <a16:creationId xmlns:a16="http://schemas.microsoft.com/office/drawing/2014/main" id="{FE69AD1C-4131-41D6-AEE9-F48B4F91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48075"/>
            <a:ext cx="65722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20/1008 accepted; 0/168 complete cells; diagnostic only.</a:t>
            </a:r>
          </a:p>
        </p:txBody>
      </p:sp>
      <p:sp>
        <p:nvSpPr>
          <p:cNvPr id="13" name="ladder-42-464">
            <a:extLst xmlns:a="http://schemas.openxmlformats.org/drawingml/2006/main">
              <a:ext uri="{FF2B5EF4-FFF2-40B4-BE49-F238E27FC236}">
                <a16:creationId xmlns:a16="http://schemas.microsoft.com/office/drawing/2014/main" id="{D967A2F0-A0AD-4464-B27F-705C701C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19600"/>
            <a:ext cx="113919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5B6470"/>
            </a:solidFill>
            <a:prstDash val="solid"/>
          </a:ln>
        </p:spPr>
      </p:sp>
      <p:sp>
        <p:nvSpPr>
          <p:cNvPr id="14" name="t-58-484-4">
            <a:extLst xmlns:a="http://schemas.openxmlformats.org/drawingml/2006/main">
              <a:ext uri="{FF2B5EF4-FFF2-40B4-BE49-F238E27FC236}">
                <a16:creationId xmlns:a16="http://schemas.microsoft.com/office/drawing/2014/main" id="{D424B30D-3902-4ABB-A779-66B126B5F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10100"/>
            <a:ext cx="495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15" name="t-128-479-CURRENT PAPE">
            <a:extLst xmlns:a="http://schemas.openxmlformats.org/drawingml/2006/main">
              <a:ext uri="{FF2B5EF4-FFF2-40B4-BE49-F238E27FC236}">
                <a16:creationId xmlns:a16="http://schemas.microsoft.com/office/drawing/2014/main" id="{39205769-2D9A-4F76-9D59-F473D59F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62475"/>
            <a:ext cx="3619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CURRENT PAPER PERFORMANCE</a:t>
            </a:r>
          </a:p>
        </p:txBody>
      </p:sp>
      <p:sp>
        <p:nvSpPr>
          <p:cNvPr id="16" name="t-520-479-Explicitly d">
            <a:extLst xmlns:a="http://schemas.openxmlformats.org/drawingml/2006/main">
              <a:ext uri="{FF2B5EF4-FFF2-40B4-BE49-F238E27FC236}">
                <a16:creationId xmlns:a16="http://schemas.microsoft.com/office/drawing/2014/main" id="{77986371-DC18-4ED1-BA7A-3D0B2BB0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62475"/>
            <a:ext cx="65722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Explicitly deferred by scope change; neither pass nor fail.</a:t>
            </a:r>
          </a:p>
        </p:txBody>
      </p:sp>
      <p:sp>
        <p:nvSpPr>
          <p:cNvPr id="17" name="scope-change-42-580">
            <a:extLst xmlns:a="http://schemas.openxmlformats.org/drawingml/2006/main">
              <a:ext uri="{FF2B5EF4-FFF2-40B4-BE49-F238E27FC236}">
                <a16:creationId xmlns:a16="http://schemas.microsoft.com/office/drawing/2014/main" id="{25FDA5B9-319B-4E21-842C-EA6E0538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11391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18" name="t-66-594-G001 perform">
            <a:extLst xmlns:a="http://schemas.openxmlformats.org/drawingml/2006/main">
              <a:ext uri="{FF2B5EF4-FFF2-40B4-BE49-F238E27FC236}">
                <a16:creationId xmlns:a16="http://schemas.microsoft.com/office/drawing/2014/main" id="{A1F2EEC8-1A68-4883-8311-4FAA30D66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57850"/>
            <a:ext cx="10934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280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G001 performance campaign: superseded, not complete. Active G002: implementation-first correctness, integration, platforms, and targeted optimization.</a:t>
            </a:r>
          </a:p>
        </p:txBody>
      </p:sp>
      <p:sp>
        <p:nvSpPr>
          <p:cNvPr id="19" name="t-42-30-EVIDENCE BOU">
            <a:extLst xmlns:a="http://schemas.openxmlformats.org/drawingml/2006/main">
              <a:ext uri="{FF2B5EF4-FFF2-40B4-BE49-F238E27FC236}">
                <a16:creationId xmlns:a16="http://schemas.microsoft.com/office/drawing/2014/main" id="{BE8CE153-036F-4D01-864F-F05035C7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762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EVIDENCE BOUNDARY</a:t>
            </a:r>
          </a:p>
        </p:txBody>
      </p:sp>
      <p:sp>
        <p:nvSpPr>
          <p:cNvPr id="20" name="t-42-58-Current func">
            <a:extLst xmlns:a="http://schemas.openxmlformats.org/drawingml/2006/main">
              <a:ext uri="{FF2B5EF4-FFF2-40B4-BE49-F238E27FC236}">
                <a16:creationId xmlns:a16="http://schemas.microsoft.com/office/drawing/2014/main" id="{0603436A-FA7D-4466-90CA-0F7F6B57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Current functional evidence is source-bound; full paper-performance reproduction is intentionally deferred.</a:t>
            </a:r>
          </a:p>
        </p:txBody>
      </p:sp>
      <p:sp>
        <p:nvSpPr>
          <p:cNvPr id="21" name="badge-930-28">
            <a:extLst xmlns:a="http://schemas.openxmlformats.org/drawingml/2006/main">
              <a:ext uri="{FF2B5EF4-FFF2-40B4-BE49-F238E27FC236}">
                <a16:creationId xmlns:a16="http://schemas.microsoft.com/office/drawing/2014/main" id="{B09CC8E0-D6E7-4FCD-A403-E173D1788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6700"/>
            <a:ext cx="25146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5B6470"/>
            </a:solidFill>
            <a:prstDash val="solid"/>
          </a:ln>
        </p:spPr>
      </p:sp>
      <p:sp>
        <p:nvSpPr>
          <p:cNvPr id="22" name="t-942-33-DEFERRED ≠ P">
            <a:extLst xmlns:a="http://schemas.openxmlformats.org/drawingml/2006/main">
              <a:ext uri="{FF2B5EF4-FFF2-40B4-BE49-F238E27FC236}">
                <a16:creationId xmlns:a16="http://schemas.microsoft.com/office/drawing/2014/main" id="{C79FDFE0-41C9-4C2B-B52B-59DCBC31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14325"/>
            <a:ext cx="2286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DEFERRED ≠ PASS OR FAIL</a:t>
            </a:r>
          </a:p>
        </p:txBody>
      </p:sp>
      <p:cxnSp>
        <p:nvCxnSpPr>
          <p:cNvPr id="49" name="footer-rule-42-674"/>
          <p:cNvCxnSpPr/>
          <p:nvPr/>
        </p:nvCxnSpPr>
        <p:spPr>
          <a:xfrm xmlns:a="http://schemas.openxmlformats.org/drawingml/2006/main">
            <a:off x="400050" y="641985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4" name="t-42-681-EVIDENCE BOU">
            <a:extLst xmlns:a="http://schemas.openxmlformats.org/drawingml/2006/main">
              <a:ext uri="{FF2B5EF4-FFF2-40B4-BE49-F238E27FC236}">
                <a16:creationId xmlns:a16="http://schemas.microsoft.com/office/drawing/2014/main" id="{50C1486C-BAC4-43FD-A7D6-A18B65F8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4095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EVIDENCE BOUNDARY</a:t>
            </a:r>
          </a:p>
        </p:txBody>
      </p:sp>
      <p:sp>
        <p:nvSpPr>
          <p:cNvPr id="25" name="t-1190-681-28">
            <a:extLst xmlns:a="http://schemas.openxmlformats.org/drawingml/2006/main">
              <a:ext uri="{FF2B5EF4-FFF2-40B4-BE49-F238E27FC236}">
                <a16:creationId xmlns:a16="http://schemas.microsoft.com/office/drawing/2014/main" id="{5A1EEA47-B84C-43F8-824A-B6B9195D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28</a:t>
            </a:r>
          </a:p>
        </p:txBody>
      </p:sp>
      <p:sp>
        <p:nvSpPr>
          <p:cNvPr id="26" name="t-480-681-G001 stop ch">
            <a:extLst xmlns:a="http://schemas.openxmlformats.org/drawingml/2006/main">
              <a:ext uri="{FF2B5EF4-FFF2-40B4-BE49-F238E27FC236}">
                <a16:creationId xmlns:a16="http://schemas.microsoft.com/office/drawing/2014/main" id="{3970BAE0-6BB2-438A-8755-8A06B5EC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86525"/>
            <a:ext cx="6477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G001 stop checkpoint • 2026-07-12</a:t>
            </a:r>
          </a:p>
        </p:txBody>
      </p:sp>
    </p:spTree>
    <p:extLst>
      <p:ext uri="{BB962C8B-B14F-4D97-AF65-F5344CB8AC3E}">
        <p14:creationId xmlns:p14="http://schemas.microsoft.com/office/powerpoint/2010/main" val="66974338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abel-block-42-194">
            <a:extLst xmlns:a="http://schemas.openxmlformats.org/drawingml/2006/main">
              <a:ext uri="{FF2B5EF4-FFF2-40B4-BE49-F238E27FC236}">
                <a16:creationId xmlns:a16="http://schemas.microsoft.com/office/drawing/2014/main" id="{BEC62BC2-DECB-40F3-ABDC-747CB7D8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47850"/>
            <a:ext cx="11391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F"/>
          </a:solidFill>
          <a:ln xmlns:a="http://schemas.openxmlformats.org/drawingml/2006/main" w="0">
            <a:solidFill>
              <a:srgbClr val="E8F3FF"/>
            </a:solidFill>
            <a:prstDash val="solid"/>
          </a:ln>
        </p:spPr>
      </p:sp>
      <p:sp>
        <p:nvSpPr>
          <p:cNvPr id="2" name="accent-42-194">
            <a:extLst xmlns:a="http://schemas.openxmlformats.org/drawingml/2006/main">
              <a:ext uri="{FF2B5EF4-FFF2-40B4-BE49-F238E27FC236}">
                <a16:creationId xmlns:a16="http://schemas.microsoft.com/office/drawing/2014/main" id="{722D8586-C2B0-4200-A142-7B610D70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4785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" name="t-66-212-CONTRACT">
            <a:extLst xmlns:a="http://schemas.openxmlformats.org/drawingml/2006/main">
              <a:ext uri="{FF2B5EF4-FFF2-40B4-BE49-F238E27FC236}">
                <a16:creationId xmlns:a16="http://schemas.microsoft.com/office/drawing/2014/main" id="{E5F62D0C-15D0-4FF7-A7D8-E78E2B82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19300"/>
            <a:ext cx="10991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CONTRACT</a:t>
            </a:r>
          </a:p>
        </p:txBody>
      </p:sp>
      <p:sp>
        <p:nvSpPr>
          <p:cNvPr id="4" name="t-66-249-An optional">
            <a:extLst xmlns:a="http://schemas.openxmlformats.org/drawingml/2006/main">
              <a:ext uri="{FF2B5EF4-FFF2-40B4-BE49-F238E27FC236}">
                <a16:creationId xmlns:a16="http://schemas.microsoft.com/office/drawing/2014/main" id="{453C84C7-39A3-42BF-B832-3638E78B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71725"/>
            <a:ext cx="10991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7245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An optional compiler-to-runtime channel carries trusted heap-object semantics without making execution conditional on universal coverage.</a:t>
            </a:r>
          </a:p>
        </p:txBody>
      </p:sp>
      <p:sp>
        <p:nvSpPr>
          <p:cNvPr id="5" name="label-block-42-318">
            <a:extLst xmlns:a="http://schemas.openxmlformats.org/drawingml/2006/main">
              <a:ext uri="{FF2B5EF4-FFF2-40B4-BE49-F238E27FC236}">
                <a16:creationId xmlns:a16="http://schemas.microsoft.com/office/drawing/2014/main" id="{628CC919-08FE-4F8B-90D7-ABEC9DE9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28950"/>
            <a:ext cx="11391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EF"/>
          </a:solidFill>
          <a:ln xmlns:a="http://schemas.openxmlformats.org/drawingml/2006/main" w="0">
            <a:solidFill>
              <a:srgbClr val="E9F7EF"/>
            </a:solidFill>
            <a:prstDash val="solid"/>
          </a:ln>
        </p:spPr>
      </p:sp>
      <p:sp>
        <p:nvSpPr>
          <p:cNvPr id="6" name="accent-42-318">
            <a:extLst xmlns:a="http://schemas.openxmlformats.org/drawingml/2006/main">
              <a:ext uri="{FF2B5EF4-FFF2-40B4-BE49-F238E27FC236}">
                <a16:creationId xmlns:a16="http://schemas.microsoft.com/office/drawing/2014/main" id="{E835EF85-78E4-4EFF-B34A-BFF29294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2895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7" name="t-66-336-DEMONSTRATED">
            <a:extLst xmlns:a="http://schemas.openxmlformats.org/drawingml/2006/main">
              <a:ext uri="{FF2B5EF4-FFF2-40B4-BE49-F238E27FC236}">
                <a16:creationId xmlns:a16="http://schemas.microsoft.com/office/drawing/2014/main" id="{A9E46072-706D-4E0C-BE67-5D287107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0400"/>
            <a:ext cx="10991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803D"/>
                </a:solidFill>
                <a:latin typeface="Helvetica Neue"/>
                <a:ea typeface="Helvetica Neue"/>
                <a:cs typeface="Helvetica Neue"/>
              </a:defRPr>
            </a:pPr>
            <a:r>
              <a:t>DEMONSTRATED USE</a:t>
            </a:r>
          </a:p>
        </p:txBody>
      </p:sp>
      <p:sp>
        <p:nvSpPr>
          <p:cNvPr id="8" name="t-66-373-Type-isolate">
            <a:extLst xmlns:a="http://schemas.openxmlformats.org/drawingml/2006/main">
              <a:ext uri="{FF2B5EF4-FFF2-40B4-BE49-F238E27FC236}">
                <a16:creationId xmlns:a16="http://schemas.microsoft.com/office/drawing/2014/main" id="{CC919BAB-E024-4F1D-ADAC-2FC08E859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52825"/>
            <a:ext cx="10991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Type-isolated ordinary reuse shows that semantic identity can change a meaningful allocator decision.</a:t>
            </a:r>
          </a:p>
        </p:txBody>
      </p:sp>
      <p:sp>
        <p:nvSpPr>
          <p:cNvPr id="9" name="label-block-42-442">
            <a:extLst xmlns:a="http://schemas.openxmlformats.org/drawingml/2006/main">
              <a:ext uri="{FF2B5EF4-FFF2-40B4-BE49-F238E27FC236}">
                <a16:creationId xmlns:a16="http://schemas.microsoft.com/office/drawing/2014/main" id="{605464A8-216D-4617-8AFB-CBF2FB38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10050"/>
            <a:ext cx="11391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0">
            <a:solidFill>
              <a:srgbClr val="FDECEC"/>
            </a:solidFill>
            <a:prstDash val="solid"/>
          </a:ln>
        </p:spPr>
      </p:sp>
      <p:sp>
        <p:nvSpPr>
          <p:cNvPr id="10" name="accent-42-442">
            <a:extLst xmlns:a="http://schemas.openxmlformats.org/drawingml/2006/main">
              <a:ext uri="{FF2B5EF4-FFF2-40B4-BE49-F238E27FC236}">
                <a16:creationId xmlns:a16="http://schemas.microsoft.com/office/drawing/2014/main" id="{B0CF7127-DE0F-4DA2-AD2F-36BAC454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1005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11" name="t-66-460-BOUNDARY">
            <a:extLst xmlns:a="http://schemas.openxmlformats.org/drawingml/2006/main">
              <a:ext uri="{FF2B5EF4-FFF2-40B4-BE49-F238E27FC236}">
                <a16:creationId xmlns:a16="http://schemas.microsoft.com/office/drawing/2014/main" id="{71CCF7AC-F196-4752-8EC1-B5DA8A39B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0"/>
            <a:ext cx="10991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BOUNDARY</a:t>
            </a:r>
          </a:p>
        </p:txBody>
      </p:sp>
      <p:sp>
        <p:nvSpPr>
          <p:cNvPr id="12" name="t-66-497-The claim is">
            <a:extLst xmlns:a="http://schemas.openxmlformats.org/drawingml/2006/main">
              <a:ext uri="{FF2B5EF4-FFF2-40B4-BE49-F238E27FC236}">
                <a16:creationId xmlns:a16="http://schemas.microsoft.com/office/drawing/2014/main" id="{8AB572CF-C2B1-4166-A9F0-DD1D0485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33925"/>
            <a:ext cx="10991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claim is limited by metadata trust, frontend coverage, identity stability, and target-specific adapter validation.</a:t>
            </a:r>
          </a:p>
        </p:txBody>
      </p:sp>
      <p:sp>
        <p:nvSpPr>
          <p:cNvPr id="13" name="t-42-586-The contribu">
            <a:extLst xmlns:a="http://schemas.openxmlformats.org/drawingml/2006/main">
              <a:ext uri="{FF2B5EF4-FFF2-40B4-BE49-F238E27FC236}">
                <a16:creationId xmlns:a16="http://schemas.microsoft.com/office/drawing/2014/main" id="{F770A34D-4A83-4F52-BC1F-909AD332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81650"/>
            <a:ext cx="11391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The contribution is the interface and separation—not a single performance number.</a:t>
            </a:r>
          </a:p>
        </p:txBody>
      </p:sp>
      <p:sp>
        <p:nvSpPr>
          <p:cNvPr id="14" name="t-42-30-JUDGMENT">
            <a:extLst xmlns:a="http://schemas.openxmlformats.org/drawingml/2006/main">
              <a:ext uri="{FF2B5EF4-FFF2-40B4-BE49-F238E27FC236}">
                <a16:creationId xmlns:a16="http://schemas.microsoft.com/office/drawing/2014/main" id="{60AF3678-5871-4457-83D5-B5C0E1FA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762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JUDGMENT</a:t>
            </a:r>
          </a:p>
        </p:txBody>
      </p:sp>
      <p:sp>
        <p:nvSpPr>
          <p:cNvPr id="15" name="t-42-58-The scientif">
            <a:extLst xmlns:a="http://schemas.openxmlformats.org/drawingml/2006/main">
              <a:ext uri="{FF2B5EF4-FFF2-40B4-BE49-F238E27FC236}">
                <a16:creationId xmlns:a16="http://schemas.microsoft.com/office/drawing/2014/main" id="{1AE11F40-CA70-4FB9-9847-9E2FB8BF5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scientific contribution is a semantic allocation contract bounded by trust, coverage, and deployment.</a:t>
            </a:r>
          </a:p>
        </p:txBody>
      </p:sp>
      <p:cxnSp>
        <p:nvCxnSpPr>
          <p:cNvPr id="34" name="footer-rule-42-674"/>
          <p:cNvCxnSpPr/>
          <p:nvPr/>
        </p:nvCxnSpPr>
        <p:spPr>
          <a:xfrm xmlns:a="http://schemas.openxmlformats.org/drawingml/2006/main">
            <a:off x="400050" y="641985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7" name="t-42-681-JUDGMENT">
            <a:extLst xmlns:a="http://schemas.openxmlformats.org/drawingml/2006/main">
              <a:ext uri="{FF2B5EF4-FFF2-40B4-BE49-F238E27FC236}">
                <a16:creationId xmlns:a16="http://schemas.microsoft.com/office/drawing/2014/main" id="{F30084A0-A963-45C0-B1E4-5BB45B11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4095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JUDGMENT</a:t>
            </a:r>
          </a:p>
        </p:txBody>
      </p:sp>
      <p:sp>
        <p:nvSpPr>
          <p:cNvPr id="18" name="t-1190-681-29">
            <a:extLst xmlns:a="http://schemas.openxmlformats.org/drawingml/2006/main">
              <a:ext uri="{FF2B5EF4-FFF2-40B4-BE49-F238E27FC236}">
                <a16:creationId xmlns:a16="http://schemas.microsoft.com/office/drawing/2014/main" id="{8C2462BB-E2C7-4492-8E8F-E45538DBC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32322677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genda1-356-360">
            <a:extLst xmlns:a="http://schemas.openxmlformats.org/drawingml/2006/main">
              <a:ext uri="{FF2B5EF4-FFF2-40B4-BE49-F238E27FC236}">
                <a16:creationId xmlns:a16="http://schemas.microsoft.com/office/drawing/2014/main" id="{DA42AECD-CA62-4DFE-A108-DB3F26CB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429000"/>
            <a:ext cx="685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" name="agenda2-852-360">
            <a:extLst xmlns:a="http://schemas.openxmlformats.org/drawingml/2006/main">
              <a:ext uri="{FF2B5EF4-FFF2-40B4-BE49-F238E27FC236}">
                <a16:creationId xmlns:a16="http://schemas.microsoft.com/office/drawing/2014/main" id="{DB0BD205-A8CB-49E2-AB34-790EEBCC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29000"/>
            <a:ext cx="685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agenda-42-220">
            <a:extLst xmlns:a="http://schemas.openxmlformats.org/drawingml/2006/main">
              <a:ext uri="{FF2B5EF4-FFF2-40B4-BE49-F238E27FC236}">
                <a16:creationId xmlns:a16="http://schemas.microsoft.com/office/drawing/2014/main" id="{18408F97-C0AA-4CAF-9264-A42073CB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29908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" name="t-66-244-QUESTION">
            <a:extLst xmlns:a="http://schemas.openxmlformats.org/drawingml/2006/main">
              <a:ext uri="{FF2B5EF4-FFF2-40B4-BE49-F238E27FC236}">
                <a16:creationId xmlns:a16="http://schemas.microsoft.com/office/drawing/2014/main" id="{1E4191DA-26D0-44AC-960E-9D194034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2533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QUESTION</a:t>
            </a:r>
          </a:p>
        </p:txBody>
      </p:sp>
      <p:sp>
        <p:nvSpPr>
          <p:cNvPr id="5" name="t-66-300-Which identi">
            <a:extLst xmlns:a="http://schemas.openxmlformats.org/drawingml/2006/main">
              <a:ext uri="{FF2B5EF4-FFF2-40B4-BE49-F238E27FC236}">
                <a16:creationId xmlns:a16="http://schemas.microsoft.com/office/drawing/2014/main" id="{9C711936-CC57-46AE-BAF8-A0FBC8E5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0"/>
            <a:ext cx="2533650" cy="1276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3056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Which identity fields remain useful and trustworthy across versions, crates, FFI, and partial coverage?</a:t>
            </a:r>
          </a:p>
        </p:txBody>
      </p:sp>
      <p:sp>
        <p:nvSpPr>
          <p:cNvPr id="6" name="agenda-428-220">
            <a:extLst xmlns:a="http://schemas.openxmlformats.org/drawingml/2006/main">
              <a:ext uri="{FF2B5EF4-FFF2-40B4-BE49-F238E27FC236}">
                <a16:creationId xmlns:a16="http://schemas.microsoft.com/office/drawing/2014/main" id="{765424C9-4C47-48EE-A3D5-BD0464907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095500"/>
            <a:ext cx="40386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t-452-244-DISCRIMINATI">
            <a:extLst xmlns:a="http://schemas.openxmlformats.org/drawingml/2006/main">
              <a:ext uri="{FF2B5EF4-FFF2-40B4-BE49-F238E27FC236}">
                <a16:creationId xmlns:a16="http://schemas.microsoft.com/office/drawing/2014/main" id="{7A0F84AE-0C66-4B42-8C79-AC83C9576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24100"/>
            <a:ext cx="3581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DISCRIMINATING EXPERIMENTS</a:t>
            </a:r>
          </a:p>
        </p:txBody>
      </p:sp>
      <p:sp>
        <p:nvSpPr>
          <p:cNvPr id="8" name="t-452-296-• source-bou">
            <a:extLst xmlns:a="http://schemas.openxmlformats.org/drawingml/2006/main">
              <a:ext uri="{FF2B5EF4-FFF2-40B4-BE49-F238E27FC236}">
                <a16:creationId xmlns:a16="http://schemas.microsoft.com/office/drawing/2014/main" id="{49C13C9C-1B8A-4789-B65E-371A2CACE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19400"/>
            <a:ext cx="3581400" cy="1543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• source-bound cross-version matrix
• collision and spoofing corpus
• real-app partial-coverage audit
• cross-language / FFI frontend</a:t>
            </a:r>
          </a:p>
        </p:txBody>
      </p:sp>
      <p:sp>
        <p:nvSpPr>
          <p:cNvPr id="9" name="agenda-924-220">
            <a:extLst xmlns:a="http://schemas.openxmlformats.org/drawingml/2006/main">
              <a:ext uri="{FF2B5EF4-FFF2-40B4-BE49-F238E27FC236}">
                <a16:creationId xmlns:a16="http://schemas.microsoft.com/office/drawing/2014/main" id="{196EAFE9-7924-494C-81C1-9C7DE361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95500"/>
            <a:ext cx="29908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EF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10" name="t-948-244-POSSIBLE OUT">
            <a:extLst xmlns:a="http://schemas.openxmlformats.org/drawingml/2006/main">
              <a:ext uri="{FF2B5EF4-FFF2-40B4-BE49-F238E27FC236}">
                <a16:creationId xmlns:a16="http://schemas.microsoft.com/office/drawing/2014/main" id="{B4AE6A6A-E7C4-4FC7-8FDD-E1600D32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24100"/>
            <a:ext cx="2533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803D"/>
                </a:solidFill>
                <a:latin typeface="Helvetica Neue"/>
                <a:ea typeface="Helvetica Neue"/>
                <a:cs typeface="Helvetica Neue"/>
              </a:defRPr>
            </a:pPr>
            <a:r>
              <a:t>POSSIBLE OUTCOME</a:t>
            </a:r>
          </a:p>
        </p:txBody>
      </p:sp>
      <p:sp>
        <p:nvSpPr>
          <p:cNvPr id="11" name="t-948-300-A smaller st">
            <a:extLst xmlns:a="http://schemas.openxmlformats.org/drawingml/2006/main">
              <a:ext uri="{FF2B5EF4-FFF2-40B4-BE49-F238E27FC236}">
                <a16:creationId xmlns:a16="http://schemas.microsoft.com/office/drawing/2014/main" id="{A04BAAA1-30DD-4C26-8C11-51139A34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57500"/>
            <a:ext cx="2533650" cy="1276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3056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A smaller stable identity contract may preserve useful separation without requiring universal compiler coverage.</a:t>
            </a:r>
          </a:p>
        </p:txBody>
      </p:sp>
      <p:sp>
        <p:nvSpPr>
          <p:cNvPr id="12" name="t-42-570-The deferred">
            <a:extLst xmlns:a="http://schemas.openxmlformats.org/drawingml/2006/main">
              <a:ext uri="{FF2B5EF4-FFF2-40B4-BE49-F238E27FC236}">
                <a16:creationId xmlns:a16="http://schemas.microsoft.com/office/drawing/2014/main" id="{FE62DB34-BDDC-4EDA-82F4-343433EE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1391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The deferred full matrix is validation infrastructure for this question—not the contribution itself.</a:t>
            </a:r>
          </a:p>
        </p:txBody>
      </p:sp>
      <p:sp>
        <p:nvSpPr>
          <p:cNvPr id="13" name="t-42-30-RESEARCH AGE">
            <a:extLst xmlns:a="http://schemas.openxmlformats.org/drawingml/2006/main">
              <a:ext uri="{FF2B5EF4-FFF2-40B4-BE49-F238E27FC236}">
                <a16:creationId xmlns:a16="http://schemas.microsoft.com/office/drawing/2014/main" id="{897FA5D5-FAC0-4E4C-AA49-EBC0FF658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762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RESEARCH AGENDA</a:t>
            </a:r>
          </a:p>
        </p:txBody>
      </p:sp>
      <p:sp>
        <p:nvSpPr>
          <p:cNvPr id="14" name="t-42-58-Next questio">
            <a:extLst xmlns:a="http://schemas.openxmlformats.org/drawingml/2006/main">
              <a:ext uri="{FF2B5EF4-FFF2-40B4-BE49-F238E27FC236}">
                <a16:creationId xmlns:a16="http://schemas.microsoft.com/office/drawing/2014/main" id="{ADDB3E2E-C4A1-4443-A081-F0AA6222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Next question: what is the minimal stable identity contract under partial coverage and FFI?</a:t>
            </a:r>
          </a:p>
        </p:txBody>
      </p:sp>
      <p:cxnSp>
        <p:nvCxnSpPr>
          <p:cNvPr id="32" name="footer-rule-42-674"/>
          <p:cNvCxnSpPr/>
          <p:nvPr/>
        </p:nvCxnSpPr>
        <p:spPr>
          <a:xfrm xmlns:a="http://schemas.openxmlformats.org/drawingml/2006/main">
            <a:off x="400050" y="641985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6" name="t-42-681-RESEARCH AGE">
            <a:extLst xmlns:a="http://schemas.openxmlformats.org/drawingml/2006/main">
              <a:ext uri="{FF2B5EF4-FFF2-40B4-BE49-F238E27FC236}">
                <a16:creationId xmlns:a16="http://schemas.microsoft.com/office/drawing/2014/main" id="{B8190839-6216-4DEF-8F28-D74F47FC0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4095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RESEARCH AGENDA</a:t>
            </a:r>
          </a:p>
        </p:txBody>
      </p:sp>
      <p:sp>
        <p:nvSpPr>
          <p:cNvPr id="17" name="t-1190-681-30">
            <a:extLst xmlns:a="http://schemas.openxmlformats.org/drawingml/2006/main">
              <a:ext uri="{FF2B5EF4-FFF2-40B4-BE49-F238E27FC236}">
                <a16:creationId xmlns:a16="http://schemas.microsoft.com/office/drawing/2014/main" id="{1D2A64E2-5A2B-4F31-9975-4F68FC97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30818354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-42-42-UNIALLOC">
            <a:extLst xmlns:a="http://schemas.openxmlformats.org/drawingml/2006/main">
              <a:ext uri="{FF2B5EF4-FFF2-40B4-BE49-F238E27FC236}">
                <a16:creationId xmlns:a16="http://schemas.microsoft.com/office/drawing/2014/main" id="{6CE0D8F6-8420-4DB2-95F8-A5F1C172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UNIALLOC</a:t>
            </a:r>
          </a:p>
        </p:txBody>
      </p:sp>
      <p:sp>
        <p:nvSpPr>
          <p:cNvPr id="2" name="t-42-150-Preserve sem">
            <a:extLst xmlns:a="http://schemas.openxmlformats.org/drawingml/2006/main">
              <a:ext uri="{FF2B5EF4-FFF2-40B4-BE49-F238E27FC236}">
                <a16:creationId xmlns:a16="http://schemas.microsoft.com/office/drawing/2014/main" id="{C82240F8-D923-48A7-9F87-0079E837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05727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Preserve semantics, separate policy, and make evidence provenance explicit.</a:t>
            </a:r>
          </a:p>
        </p:txBody>
      </p:sp>
      <p:sp>
        <p:nvSpPr>
          <p:cNvPr id="3" name="close-42-420">
            <a:extLst xmlns:a="http://schemas.openxmlformats.org/drawingml/2006/main">
              <a:ext uri="{FF2B5EF4-FFF2-40B4-BE49-F238E27FC236}">
                <a16:creationId xmlns:a16="http://schemas.microsoft.com/office/drawing/2014/main" id="{1C9EAABE-9BD7-4C02-BFA6-AFEE563D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3333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" name="t-64-440-1">
            <a:extLst xmlns:a="http://schemas.openxmlformats.org/drawingml/2006/main">
              <a:ext uri="{FF2B5EF4-FFF2-40B4-BE49-F238E27FC236}">
                <a16:creationId xmlns:a16="http://schemas.microsoft.com/office/drawing/2014/main" id="{2346CF9E-0200-4217-91E2-1E36E677F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419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  <p:sp>
        <p:nvSpPr>
          <p:cNvPr id="5" name="t-120-440-Compiler-kno">
            <a:extLst xmlns:a="http://schemas.openxmlformats.org/drawingml/2006/main">
              <a:ext uri="{FF2B5EF4-FFF2-40B4-BE49-F238E27FC236}">
                <a16:creationId xmlns:a16="http://schemas.microsoft.com/office/drawing/2014/main" id="{C7F89277-2F19-4544-AE79-4075CBEC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91000"/>
            <a:ext cx="23622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797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Compiler-known semantics can cross the allocation boundary.</a:t>
            </a:r>
          </a:p>
        </p:txBody>
      </p:sp>
      <p:sp>
        <p:nvSpPr>
          <p:cNvPr id="6" name="close-444-420">
            <a:extLst xmlns:a="http://schemas.openxmlformats.org/drawingml/2006/main">
              <a:ext uri="{FF2B5EF4-FFF2-40B4-BE49-F238E27FC236}">
                <a16:creationId xmlns:a16="http://schemas.microsoft.com/office/drawing/2014/main" id="{6550BED8-D5B4-4900-93CC-62830593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000500"/>
            <a:ext cx="3333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EF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7" name="t-466-440-2">
            <a:extLst xmlns:a="http://schemas.openxmlformats.org/drawingml/2006/main">
              <a:ext uri="{FF2B5EF4-FFF2-40B4-BE49-F238E27FC236}">
                <a16:creationId xmlns:a16="http://schemas.microsoft.com/office/drawing/2014/main" id="{A30B1857-06F5-44EB-82D3-80FF5256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191000"/>
            <a:ext cx="419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5803D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8" name="t-522-440-Policy can r">
            <a:extLst xmlns:a="http://schemas.openxmlformats.org/drawingml/2006/main">
              <a:ext uri="{FF2B5EF4-FFF2-40B4-BE49-F238E27FC236}">
                <a16:creationId xmlns:a16="http://schemas.microsoft.com/office/drawing/2014/main" id="{966C7B6D-AD50-4B2D-8D36-56BF4252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191000"/>
            <a:ext cx="23622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997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Policy can remain independent of platform acquisition.</a:t>
            </a:r>
          </a:p>
        </p:txBody>
      </p:sp>
      <p:sp>
        <p:nvSpPr>
          <p:cNvPr id="9" name="close-846-420">
            <a:extLst xmlns:a="http://schemas.openxmlformats.org/drawingml/2006/main">
              <a:ext uri="{FF2B5EF4-FFF2-40B4-BE49-F238E27FC236}">
                <a16:creationId xmlns:a16="http://schemas.microsoft.com/office/drawing/2014/main" id="{DFD99673-7944-4DFE-81F0-282E5995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00500"/>
            <a:ext cx="3733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5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10" name="t-868-440-3">
            <a:extLst xmlns:a="http://schemas.openxmlformats.org/drawingml/2006/main">
              <a:ext uri="{FF2B5EF4-FFF2-40B4-BE49-F238E27FC236}">
                <a16:creationId xmlns:a16="http://schemas.microsoft.com/office/drawing/2014/main" id="{FE390F4E-AD55-4618-B743-C8C7530C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91000"/>
            <a:ext cx="419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11" name="t-924-440-Claims must">
            <a:extLst xmlns:a="http://schemas.openxmlformats.org/drawingml/2006/main">
              <a:ext uri="{FF2B5EF4-FFF2-40B4-BE49-F238E27FC236}">
                <a16:creationId xmlns:a16="http://schemas.microsoft.com/office/drawing/2014/main" id="{3954D0DA-D37D-4E54-B59B-2992EEAC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191000"/>
            <a:ext cx="27622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594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Claims must stay bounded by trust, coverage, and evidence tier.</a:t>
            </a:r>
          </a:p>
        </p:txBody>
      </p:sp>
      <p:sp>
        <p:nvSpPr>
          <p:cNvPr id="12" name="t-42-610-Next: the mi">
            <a:extLst xmlns:a="http://schemas.openxmlformats.org/drawingml/2006/main">
              <a:ext uri="{FF2B5EF4-FFF2-40B4-BE49-F238E27FC236}">
                <a16:creationId xmlns:a16="http://schemas.microsoft.com/office/drawing/2014/main" id="{6B475643-889A-41A1-87A9-7C42D951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391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Next: the minimal stable identity contract under partial coverage and FFI.</a:t>
            </a:r>
          </a:p>
        </p:txBody>
      </p:sp>
      <p:sp>
        <p:nvSpPr>
          <p:cNvPr id="13" name="t-1190-681-31">
            <a:extLst xmlns:a="http://schemas.openxmlformats.org/drawingml/2006/main">
              <a:ext uri="{FF2B5EF4-FFF2-40B4-BE49-F238E27FC236}">
                <a16:creationId xmlns:a16="http://schemas.microsoft.com/office/drawing/2014/main" id="{05936EAF-DEAD-4C8F-9F17-03DEEE35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8651016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2026-07-13T01:37:46.4850000Z</dcterms:created>
  <dcterms:modified xsi:type="dcterms:W3CDTF">2026-07-13T01:37:46.4850000Z</dcterms:modified>
</coreProperties>
</file>